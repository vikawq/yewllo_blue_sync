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0c92fa6e24e5d" /><Relationship Type="http://schemas.openxmlformats.org/officeDocument/2006/relationships/extended-properties" Target="/docProps/app.xml" Id="Race8ab63d7d647bd" /><Relationship Type="http://schemas.openxmlformats.org/officeDocument/2006/relationships/officeDocument" Target="/ppt/presentation.xml" Id="Rf6ebd8079b42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14fc3a18f54270"/>
  </p:sldMasterIdLst>
  <p:notesMasterIdLst>
    <p:notesMasterId xmlns:r="http://schemas.openxmlformats.org/officeDocument/2006/relationships" r:id="R5072ea9fb8274c4d"/>
  </p:notesMasterIdLst>
  <p:sldIdLst>
    <p:sldId xmlns:r="http://schemas.openxmlformats.org/officeDocument/2006/relationships" id="256" r:id="Rffba38b3013e4a80"/>
    <p:sldId xmlns:r="http://schemas.openxmlformats.org/officeDocument/2006/relationships" id="257" r:id="R76ac1049349a4b47"/>
    <p:sldId xmlns:r="http://schemas.openxmlformats.org/officeDocument/2006/relationships" id="258" r:id="R5e67867a5a5e4070"/>
    <p:sldId xmlns:r="http://schemas.openxmlformats.org/officeDocument/2006/relationships" id="259" r:id="R93b5361dced4493f"/>
    <p:sldId xmlns:r="http://schemas.openxmlformats.org/officeDocument/2006/relationships" id="260" r:id="R9f4e4df67ff34f58"/>
    <p:sldId xmlns:r="http://schemas.openxmlformats.org/officeDocument/2006/relationships" id="261" r:id="R07073e58334e4ebd"/>
    <p:sldId xmlns:r="http://schemas.openxmlformats.org/officeDocument/2006/relationships" id="262" r:id="Rf582671e866a4994"/>
    <p:sldId xmlns:r="http://schemas.openxmlformats.org/officeDocument/2006/relationships" id="263" r:id="R82aca58460a04228"/>
    <p:sldId xmlns:r="http://schemas.openxmlformats.org/officeDocument/2006/relationships" id="264" r:id="R31dc59838b7042cc"/>
    <p:sldId xmlns:r="http://schemas.openxmlformats.org/officeDocument/2006/relationships" id="265" r:id="R1b2a37a277cb449c"/>
    <p:sldId xmlns:r="http://schemas.openxmlformats.org/officeDocument/2006/relationships" id="266" r:id="R4dd8210508994f17"/>
    <p:sldId xmlns:r="http://schemas.openxmlformats.org/officeDocument/2006/relationships" id="267" r:id="R62c8b92b2ec14624"/>
    <p:sldId xmlns:r="http://schemas.openxmlformats.org/officeDocument/2006/relationships" id="268" r:id="R29b142c1c4584476"/>
    <p:sldId xmlns:r="http://schemas.openxmlformats.org/officeDocument/2006/relationships" id="269" r:id="R53c59018d37b4f86"/>
    <p:sldId xmlns:r="http://schemas.openxmlformats.org/officeDocument/2006/relationships" id="270" r:id="R26f7eeaea2a94c20"/>
    <p:sldId xmlns:r="http://schemas.openxmlformats.org/officeDocument/2006/relationships" id="271" r:id="Rb710317d3f7943ca"/>
    <p:sldId xmlns:r="http://schemas.openxmlformats.org/officeDocument/2006/relationships" id="272" r:id="R297ed966f5854103"/>
    <p:sldId xmlns:r="http://schemas.openxmlformats.org/officeDocument/2006/relationships" id="273" r:id="R0ac467e5bf664ed1"/>
    <p:sldId xmlns:r="http://schemas.openxmlformats.org/officeDocument/2006/relationships" id="274" r:id="R6134657e12e341a8"/>
    <p:sldId xmlns:r="http://schemas.openxmlformats.org/officeDocument/2006/relationships" id="275" r:id="R94ad6d240e8340f5"/>
    <p:sldId xmlns:r="http://schemas.openxmlformats.org/officeDocument/2006/relationships" id="276" r:id="Rd1763fe8aa084fe1"/>
    <p:sldId xmlns:r="http://schemas.openxmlformats.org/officeDocument/2006/relationships" id="277" r:id="R8c3bece36adc4352"/>
    <p:sldId xmlns:r="http://schemas.openxmlformats.org/officeDocument/2006/relationships" id="278" r:id="R2c143f6327df4e2e"/>
  </p:sldIdLst>
  <p:sldSz cx="10260013" cy="6480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13af7f80524d48" /><Relationship Type="http://schemas.openxmlformats.org/officeDocument/2006/relationships/slideMaster" Target="/ppt/slideMasters/slideMaster1.xml" Id="Rd814fc3a18f54270" /><Relationship Type="http://schemas.openxmlformats.org/officeDocument/2006/relationships/notesMaster" Target="/ppt/notesMasters/notesMaster1.xml" Id="R5072ea9fb8274c4d" /><Relationship Type="http://schemas.openxmlformats.org/officeDocument/2006/relationships/presProps" Target="/ppt/presProps.xml" Id="Ra0ed4d38f51d4ac6" /><Relationship Type="http://schemas.openxmlformats.org/officeDocument/2006/relationships/viewProps" Target="/ppt/viewProps.xml" Id="R511bf5eb4740471b" /><Relationship Type="http://schemas.openxmlformats.org/officeDocument/2006/relationships/tableStyles" Target="/ppt/tableStyles.xml" Id="R467dcfa2d7a34b83" /><Relationship Type="http://schemas.openxmlformats.org/officeDocument/2006/relationships/slide" Target="/ppt/slides/slide1.xml" Id="Rffba38b3013e4a80" /><Relationship Type="http://schemas.openxmlformats.org/officeDocument/2006/relationships/slide" Target="/ppt/slides/slide2.xml" Id="R76ac1049349a4b47" /><Relationship Type="http://schemas.openxmlformats.org/officeDocument/2006/relationships/slide" Target="/ppt/slides/slide3.xml" Id="R5e67867a5a5e4070" /><Relationship Type="http://schemas.openxmlformats.org/officeDocument/2006/relationships/slide" Target="/ppt/slides/slide4.xml" Id="R93b5361dced4493f" /><Relationship Type="http://schemas.openxmlformats.org/officeDocument/2006/relationships/slide" Target="/ppt/slides/slide5.xml" Id="R9f4e4df67ff34f58" /><Relationship Type="http://schemas.openxmlformats.org/officeDocument/2006/relationships/slide" Target="/ppt/slides/slide6.xml" Id="R07073e58334e4ebd" /><Relationship Type="http://schemas.openxmlformats.org/officeDocument/2006/relationships/slide" Target="/ppt/slides/slide7.xml" Id="Rf582671e866a4994" /><Relationship Type="http://schemas.openxmlformats.org/officeDocument/2006/relationships/slide" Target="/ppt/slides/slide8.xml" Id="R82aca58460a04228" /><Relationship Type="http://schemas.openxmlformats.org/officeDocument/2006/relationships/slide" Target="/ppt/slides/slide9.xml" Id="R31dc59838b7042cc" /><Relationship Type="http://schemas.openxmlformats.org/officeDocument/2006/relationships/slide" Target="/ppt/slides/slide10.xml" Id="R1b2a37a277cb449c" /><Relationship Type="http://schemas.openxmlformats.org/officeDocument/2006/relationships/slide" Target="/ppt/slides/slide11.xml" Id="R4dd8210508994f17" /><Relationship Type="http://schemas.openxmlformats.org/officeDocument/2006/relationships/slide" Target="/ppt/slides/slide12.xml" Id="R62c8b92b2ec14624" /><Relationship Type="http://schemas.openxmlformats.org/officeDocument/2006/relationships/slide" Target="/ppt/slides/slide13.xml" Id="R29b142c1c4584476" /><Relationship Type="http://schemas.openxmlformats.org/officeDocument/2006/relationships/slide" Target="/ppt/slides/slide14.xml" Id="R53c59018d37b4f86" /><Relationship Type="http://schemas.openxmlformats.org/officeDocument/2006/relationships/slide" Target="/ppt/slides/slide15.xml" Id="R26f7eeaea2a94c20" /><Relationship Type="http://schemas.openxmlformats.org/officeDocument/2006/relationships/slide" Target="/ppt/slides/slide16.xml" Id="Rb710317d3f7943ca" /><Relationship Type="http://schemas.openxmlformats.org/officeDocument/2006/relationships/slide" Target="/ppt/slides/slide17.xml" Id="R297ed966f5854103" /><Relationship Type="http://schemas.openxmlformats.org/officeDocument/2006/relationships/slide" Target="/ppt/slides/slide18.xml" Id="R0ac467e5bf664ed1" /><Relationship Type="http://schemas.openxmlformats.org/officeDocument/2006/relationships/slide" Target="/ppt/slides/slide19.xml" Id="R6134657e12e341a8" /><Relationship Type="http://schemas.openxmlformats.org/officeDocument/2006/relationships/slide" Target="/ppt/slides/slide20.xml" Id="R94ad6d240e8340f5" /><Relationship Type="http://schemas.openxmlformats.org/officeDocument/2006/relationships/slide" Target="/ppt/slides/slide21.xml" Id="Rd1763fe8aa084fe1" /><Relationship Type="http://schemas.openxmlformats.org/officeDocument/2006/relationships/slide" Target="/ppt/slides/slide22.xml" Id="R8c3bece36adc4352" /><Relationship Type="http://schemas.openxmlformats.org/officeDocument/2006/relationships/slide" Target="/ppt/slides/slide23.xml" Id="R2c143f6327df4e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2505bad6645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83c0ab7464720" /><Relationship Type="http://schemas.openxmlformats.org/officeDocument/2006/relationships/notesMaster" Target="/ppt/notesMasters/notesMaster1.xml" Id="Rcf4212021bbf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48c5bf4a524a16" /><Relationship Type="http://schemas.openxmlformats.org/officeDocument/2006/relationships/notesMaster" Target="/ppt/notesMasters/notesMaster1.xml" Id="R76f32c387083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defd153cbb4cf1" /><Relationship Type="http://schemas.openxmlformats.org/officeDocument/2006/relationships/notesMaster" Target="/ppt/notesMasters/notesMaster1.xml" Id="Refb6f6875a9e43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b6d45fc4cb4f87" /><Relationship Type="http://schemas.openxmlformats.org/officeDocument/2006/relationships/notesMaster" Target="/ppt/notesMasters/notesMaster1.xml" Id="R419a073766f142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cce6aaa1034bc7" /><Relationship Type="http://schemas.openxmlformats.org/officeDocument/2006/relationships/notesMaster" Target="/ppt/notesMasters/notesMaster1.xml" Id="R2fdafaacc9d7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c248f2dbc47b5" /><Relationship Type="http://schemas.openxmlformats.org/officeDocument/2006/relationships/notesMaster" Target="/ppt/notesMasters/notesMaster1.xml" Id="R70254038c9584a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86a557d4514748" /><Relationship Type="http://schemas.openxmlformats.org/officeDocument/2006/relationships/notesMaster" Target="/ppt/notesMasters/notesMaster1.xml" Id="Rc85360d4355540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a66097d9804a14" /><Relationship Type="http://schemas.openxmlformats.org/officeDocument/2006/relationships/notesMaster" Target="/ppt/notesMasters/notesMaster1.xml" Id="Rfdac23db94324b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913ee5a3e44ee" /><Relationship Type="http://schemas.openxmlformats.org/officeDocument/2006/relationships/notesMaster" Target="/ppt/notesMasters/notesMaster1.xml" Id="R2284fd13836841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fa6c8f3cb24095" /><Relationship Type="http://schemas.openxmlformats.org/officeDocument/2006/relationships/notesMaster" Target="/ppt/notesMasters/notesMaster1.xml" Id="Ra409d5e8d22a4a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39a3f397a84b9a" /><Relationship Type="http://schemas.openxmlformats.org/officeDocument/2006/relationships/notesMaster" Target="/ppt/notesMasters/notesMaster1.xml" Id="R7137f35dd63843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8c886121b947c0" /><Relationship Type="http://schemas.openxmlformats.org/officeDocument/2006/relationships/notesMaster" Target="/ppt/notesMasters/notesMaster1.xml" Id="Rfb314ee8309f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6a996974014ce9" /><Relationship Type="http://schemas.openxmlformats.org/officeDocument/2006/relationships/notesMaster" Target="/ppt/notesMasters/notesMaster1.xml" Id="Rc73dbc12062044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53fee64507442a" /><Relationship Type="http://schemas.openxmlformats.org/officeDocument/2006/relationships/notesMaster" Target="/ppt/notesMasters/notesMaster1.xml" Id="R37248496d37847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35a5c1f9cc4bb0" /><Relationship Type="http://schemas.openxmlformats.org/officeDocument/2006/relationships/notesMaster" Target="/ppt/notesMasters/notesMaster1.xml" Id="Rc33b50b8138746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c6a8d506fd4ce9" /><Relationship Type="http://schemas.openxmlformats.org/officeDocument/2006/relationships/notesMaster" Target="/ppt/notesMasters/notesMaster1.xml" Id="R07dfcb66cffc45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71efd46f50431d" /><Relationship Type="http://schemas.openxmlformats.org/officeDocument/2006/relationships/notesMaster" Target="/ppt/notesMasters/notesMaster1.xml" Id="R3248becdd49744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1ef487e24c4c9a" /><Relationship Type="http://schemas.openxmlformats.org/officeDocument/2006/relationships/notesMaster" Target="/ppt/notesMasters/notesMaster1.xml" Id="R87a5de7b82c149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52d7bcf1474bad" /><Relationship Type="http://schemas.openxmlformats.org/officeDocument/2006/relationships/notesMaster" Target="/ppt/notesMasters/notesMaster1.xml" Id="R34ebe0e675c54a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ab103f8b2c4d4c" /><Relationship Type="http://schemas.openxmlformats.org/officeDocument/2006/relationships/notesMaster" Target="/ppt/notesMasters/notesMaster1.xml" Id="R53816ee2943e43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973b5aa5cd48db" /><Relationship Type="http://schemas.openxmlformats.org/officeDocument/2006/relationships/notesMaster" Target="/ppt/notesMasters/notesMaster1.xml" Id="R798551868c484af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ac82f1b02e476a" /><Relationship Type="http://schemas.openxmlformats.org/officeDocument/2006/relationships/notesMaster" Target="/ppt/notesMasters/notesMaster1.xml" Id="R0401db0343304c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088ada4e594ace" /><Relationship Type="http://schemas.openxmlformats.org/officeDocument/2006/relationships/notesMaster" Target="/ppt/notesMasters/notesMaster1.xml" Id="Rf17a092b12ff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封面：阶段结论、证据范围与日期。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一页结论：方案、代表证据、反例与承诺边界。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D:\workspaces\trace\survey\dnn_performance_prediction\README.md</a:t>
            </a:r>
          </a:p>
          <a:p xmlns:a="http://schemas.openxmlformats.org/drawingml/2006/main">
            <a:r>
              <a:t>- D:\workspaces\trace\survey\dnn_performance_prediction\experiments\results\graybox_calibration\calibration_summary.csv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 seqLen、batch、并行、rank 与拓扑如何共同影响 L1/L2/L3。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D:\workspaces\trace\survey\dnn_performance_prediction\paper_notes\00_ai_infra_primer.md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面向非 AI Infra 背景解释 rank 与各类并行。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D:\workspaces\trace\survey\dnn_performance_prediction\paper_notes\00_ai_infra_primer.md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澄清 cost model 与 L1/L2/L3 全系统建模的关系，以及无目标硬件/模型代码时的证据边界。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11篇论文阅读导航，按预测任务而非年份排列。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D:\workspaces\trace\survey\dnn_performance_prediction\paper_notes\00_cross_paper_matrix.md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Daydream 与 dPRO：背景、方法、结果、口径纠错与灰盒落点。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D:\workspaces\trace\survey\dnn_performance_prediction\paper_notes\papers\01_daydream.md</a:t>
            </a:r>
          </a:p>
          <a:p xmlns:a="http://schemas.openxmlformats.org/drawingml/2006/main">
            <a:r>
              <a:t>- D:\workspaces\trace\survey\dnn_performance_prediction\paper_notes\papers\04_dpro.md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Proteus 与 Vidur：从策略/请求生成目标执行图，再接 component profile 与事件模拟。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D:\workspaces\trace\survey\dnn_performance_prediction\paper_notes\papers\05_proteus.md</a:t>
            </a:r>
          </a:p>
          <a:p xmlns:a="http://schemas.openxmlformats.org/drawingml/2006/main">
            <a:r>
              <a:t>- D:\workspaces\trace\survey\dnn_performance_prediction\paper_notes\papers\06_vidur.md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Habitat、nn-Meter、NeuSight 的 component cost 演进与边界。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D:\workspaces\trace\survey\dnn_performance_prediction\paper_notes\papers\02_habitat.md</a:t>
            </a:r>
          </a:p>
          <a:p xmlns:a="http://schemas.openxmlformats.org/drawingml/2006/main">
            <a:r>
              <a:t>- D:\workspaces\trace\survey\dnn_performance_prediction\paper_notes\papers\03_nn_meter.md</a:t>
            </a:r>
          </a:p>
          <a:p xmlns:a="http://schemas.openxmlformats.org/drawingml/2006/main">
            <a:r>
              <a:t>- D:\workspaces\trace\survey\dnn_performance_prediction\paper_notes\papers\07_neusight.md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Ansor 与 TenSet：搜索闭环、数据、ranking 语义及与 SLA 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D:\workspaces\trace\survey\dnn_performance_prediction\paper_notes\papers\10_ansor.md</a:t>
            </a:r>
          </a:p>
          <a:p xmlns:a="http://schemas.openxmlformats.org/drawingml/2006/main">
            <a:r>
              <a:t>- D:\workspaces\trace\survey\dnn_performance_prediction\paper_notes\papers\11_tenset.md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TPU learned cost model 与 TLP/MTL-TLP：图/序列表征、迁移、OOD 反例。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D:\workspaces\trace\survey\dnn_performance_prediction\paper_notes\papers\08_tpu_cost_model.md</a:t>
            </a:r>
          </a:p>
          <a:p xmlns:a="http://schemas.openxmlformats.org/drawingml/2006/main">
            <a:r>
              <a:t>- D:\workspaces\trace\survey\dnn_performance_prediction\paper_notes\papers\09_tlp_mtl_tlp.md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把11篇论文证据归纳为统一 L1/L2/L3 工程契约。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D:\workspaces\trace\survey\dnn_performance_prediction\paper_notes\00_reading_guide.md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工业 component cost 与 autotuning 的共同范式。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https://openxla.org/xla/gpu_architecture</a:t>
            </a:r>
          </a:p>
          <a:p xmlns:a="http://schemas.openxmlformats.org/drawingml/2006/main">
            <a:r>
              <a:t>- https://docs.nvidia.com/deeplearning/tensorrt/latest/inference-library/advanced.html</a:t>
            </a:r>
          </a:p>
          <a:p xmlns:a="http://schemas.openxmlformats.org/drawingml/2006/main">
            <a:r>
              <a:t>- https://triton-lang.org/main/getting-started/tutorials/03-matrix-multiplication.html</a:t>
            </a:r>
          </a:p>
          <a:p xmlns:a="http://schemas.openxmlformats.org/drawingml/2006/main">
            <a:r>
              <a:t>- https://docs.nvidia.com/cuda/cutlass/overview.html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 L0–L4 灰盒架构。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D:\workspaces\trace\survey\dnn_performance_prediction\README.md#统一灰盒架构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signature 与 profiling 可比性门禁。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C:\Users\admin\.codex\attachments\b2bc3dd2-1e11-490e-94f5-96efc192c856\pasted-text.txt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 route-aware cost routing、机制残差、分段校准、缓存与风险输出。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D:\workspaces\trace\survey\dnn_performance_prediction\phase2_archive.md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 事件、关键路径、动态训练/推理和信任合同。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D:\workspaces\trace\survey\dnn_performance_prediction\README.md#L3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合并本地证据全景与证据边界。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D:\workspaces\trace\survey\dnn_performance_prediction\experiments\README.md</a:t>
            </a:r>
          </a:p>
          <a:p xmlns:a="http://schemas.openxmlformats.org/drawingml/2006/main">
            <a:r>
              <a:t>- D:\workspaces\trace\survey\dnn_performance_prediction\README.md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Vidur 与 nn-Meter 的本地 smoke 条件、结果与边界。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D:\workspaces\trace\survey\dnn_performance_prediction\experiments\results\summary.csv</a:t>
            </a:r>
          </a:p>
          <a:p xmlns:a="http://schemas.openxmlformats.org/drawingml/2006/main">
            <a:r>
              <a:t>- D:\workspaces\trace\survey\dnn_performance_prediction\experiments\run_vidur.ps1</a:t>
            </a:r>
          </a:p>
          <a:p xmlns:a="http://schemas.openxmlformats.org/drawingml/2006/main">
            <a:r>
              <a:t>- D:\workspaces\trace\survey\dnn_performance_prediction\experiments\run_nnmeter.ps1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NeuSight artifact 对齐、公开真测 OOD 结果与 H100 反例。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D:\workspaces\trace\.research\experiments\neusight-wsl\README.md</a:t>
            </a:r>
          </a:p>
          <a:p xmlns:a="http://schemas.openxmlformats.org/drawingml/2006/main">
            <a:r>
              <a:t>- D:\workspaces\trace\survey\dnn_performance_prediction\experiments\results\graybox_calibration\zero_shot.csv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灰盒分段校准的冻结数字、反例与下一轮预注册。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D:\workspaces\trace\survey\dnn_performance_prediction\experiments\results\graybox_calibration\calibration_summary.csv</a:t>
            </a:r>
          </a:p>
          <a:p xmlns:a="http://schemas.openxmlformats.org/drawingml/2006/main">
            <a:r>
              <a:t>- D:\workspaces\trace\survey\dnn_performance_prediction\experiments\results\graybox_calibration\calibration_runs.csv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真机/仿真 profiling 的门禁、伪差异与对灰盒输入合同的帮助。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C:\Users\admin\.codex\attachments\b2bc3dd2-1e11-490e-94f5-96efc192c856\pasted-text.txt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下一阶段真实模型/目标硬件的预注册实验与 Go/No-Go 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D:\workspaces\trace\survey\dnn_performance_prediction\README.md#下一批真实数据实验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56490a9cc4d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a59f7bfed40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2d3971d284f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844bd340643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76038e1b040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829ce5fbc41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7ac2b8ef84f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b69be2bc043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40d36fdb44c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e1412c343482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4a3d1837946c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D9D46D-A3D4-426F-B0E6-29D1009200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282502" y="1060529"/>
            <a:ext cx="7695010" cy="2256061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5049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EE6FC82-B983-4C04-B7A0-71663158C3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2502" y="3403592"/>
            <a:ext cx="7695010" cy="156454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20"/>
            </a:lvl1pPr>
            <a:lvl2pPr marL="384734" indent="0" algn="ctr">
              <a:buNone/>
              <a:defRPr sz="1683"/>
            </a:lvl2pPr>
            <a:lvl3pPr marL="769468" indent="0" algn="ctr">
              <a:buNone/>
              <a:defRPr sz="1515"/>
            </a:lvl3pPr>
            <a:lvl4pPr marL="1154201" indent="0" algn="ctr">
              <a:buNone/>
              <a:defRPr sz="1346"/>
            </a:lvl4pPr>
            <a:lvl5pPr marL="1538935" indent="0" algn="ctr">
              <a:buNone/>
              <a:defRPr sz="1346"/>
            </a:lvl5pPr>
            <a:lvl6pPr marL="1923669" indent="0" algn="ctr">
              <a:buNone/>
              <a:defRPr sz="1346"/>
            </a:lvl6pPr>
            <a:lvl7pPr marL="2308403" indent="0" algn="ctr">
              <a:buNone/>
              <a:defRPr sz="1346"/>
            </a:lvl7pPr>
            <a:lvl8pPr marL="2693137" indent="0" algn="ctr">
              <a:buNone/>
              <a:defRPr sz="1346"/>
            </a:lvl8pPr>
            <a:lvl9pPr marL="3077870" indent="0" algn="ctr">
              <a:buNone/>
              <a:defRPr sz="1346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0E010D-123C-4D03-BC29-C8222B4932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B46499-8E9E-4DCF-9168-BE3568732F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493DFC-4CC7-45BD-A126-A9C9F0FAD9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7117DA-DC8D-4FF7-8A0F-791696E9F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288549-1032-4193-9E5E-4348033B0EE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5F33C9-7A6C-4698-933C-C9B8EA0AF3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649E74-0E55-4A3A-AB7C-A68FE1B7FC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F31A45-DD5E-42A4-BA30-A24E47E728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A37961-C377-4D65-96BB-34A14DCA2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0032" y="1615545"/>
            <a:ext cx="8849261" cy="269557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5049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76A251-C8EB-465F-8AD0-8FD47CFAB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0032" y="4336618"/>
            <a:ext cx="8849261" cy="14175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20">
                <a:solidFill>
                  <a:schemeClr val="tx1">
                    <a:tint val="75000"/>
                  </a:schemeClr>
                </a:solidFill>
              </a:defRPr>
            </a:lvl1pPr>
            <a:lvl2pPr marL="384734" indent="0">
              <a:buNone/>
              <a:defRPr sz="1683">
                <a:solidFill>
                  <a:schemeClr val="tx1">
                    <a:tint val="75000"/>
                  </a:schemeClr>
                </a:solidFill>
              </a:defRPr>
            </a:lvl2pPr>
            <a:lvl3pPr marL="769468" indent="0">
              <a:buNone/>
              <a:defRPr sz="1515">
                <a:solidFill>
                  <a:schemeClr val="tx1">
                    <a:tint val="75000"/>
                  </a:schemeClr>
                </a:solidFill>
              </a:defRPr>
            </a:lvl3pPr>
            <a:lvl4pPr marL="1154201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4pPr>
            <a:lvl5pPr marL="1538935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5pPr>
            <a:lvl6pPr marL="1923669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6pPr>
            <a:lvl7pPr marL="2308403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7pPr>
            <a:lvl8pPr marL="2693137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8pPr>
            <a:lvl9pPr marL="3077870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E99B64-13B7-4912-A729-5E5DF34B98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F27F93-448A-469C-AACB-55477D6C38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76DA16-9D38-4896-95C7-199A5E8CDB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20CC29-45FD-43D6-B57B-5A5777013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ECCC6C-B1CD-4069-BF1A-83BA9C907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5376" y="1725046"/>
            <a:ext cx="4360506" cy="41116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A869B4-C4C9-4B1B-9810-C881E385616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194131" y="1725046"/>
            <a:ext cx="4360506" cy="41116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DB8C11B-E1D6-4DD6-B499-CA999BA2D3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BFF9F19-7FF1-4D1A-B227-6DEB64DDAF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18B6DF6-8106-4C8A-8E68-C89BEFA3A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115261-ABA7-43DB-905A-510C195A8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6712" y="345010"/>
            <a:ext cx="8849261" cy="125253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A6D141-CD38-40D9-AF44-62B21196B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6713" y="1588543"/>
            <a:ext cx="4340466" cy="778521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20" b="1"/>
            </a:lvl1pPr>
            <a:lvl2pPr marL="384734" indent="0">
              <a:buNone/>
              <a:defRPr sz="1683" b="1"/>
            </a:lvl2pPr>
            <a:lvl3pPr marL="769468" indent="0">
              <a:buNone/>
              <a:defRPr sz="1515" b="1"/>
            </a:lvl3pPr>
            <a:lvl4pPr marL="1154201" indent="0">
              <a:buNone/>
              <a:defRPr sz="1346" b="1"/>
            </a:lvl4pPr>
            <a:lvl5pPr marL="1538935" indent="0">
              <a:buNone/>
              <a:defRPr sz="1346" b="1"/>
            </a:lvl5pPr>
            <a:lvl6pPr marL="1923669" indent="0">
              <a:buNone/>
              <a:defRPr sz="1346" b="1"/>
            </a:lvl6pPr>
            <a:lvl7pPr marL="2308403" indent="0">
              <a:buNone/>
              <a:defRPr sz="1346" b="1"/>
            </a:lvl7pPr>
            <a:lvl8pPr marL="2693137" indent="0">
              <a:buNone/>
              <a:defRPr sz="1346" b="1"/>
            </a:lvl8pPr>
            <a:lvl9pPr marL="3077870" indent="0">
              <a:buNone/>
              <a:defRPr sz="1346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534B3E-AACB-4AD7-B38B-9516372F047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06713" y="2367064"/>
            <a:ext cx="4340466" cy="34815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932B626-75C0-41F7-B33C-A247E7A3D2F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194132" y="1588543"/>
            <a:ext cx="4361842" cy="778521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20" b="1"/>
            </a:lvl1pPr>
            <a:lvl2pPr marL="384734" indent="0">
              <a:buNone/>
              <a:defRPr sz="1683" b="1"/>
            </a:lvl2pPr>
            <a:lvl3pPr marL="769468" indent="0">
              <a:buNone/>
              <a:defRPr sz="1515" b="1"/>
            </a:lvl3pPr>
            <a:lvl4pPr marL="1154201" indent="0">
              <a:buNone/>
              <a:defRPr sz="1346" b="1"/>
            </a:lvl4pPr>
            <a:lvl5pPr marL="1538935" indent="0">
              <a:buNone/>
              <a:defRPr sz="1346" b="1"/>
            </a:lvl5pPr>
            <a:lvl6pPr marL="1923669" indent="0">
              <a:buNone/>
              <a:defRPr sz="1346" b="1"/>
            </a:lvl6pPr>
            <a:lvl7pPr marL="2308403" indent="0">
              <a:buNone/>
              <a:defRPr sz="1346" b="1"/>
            </a:lvl7pPr>
            <a:lvl8pPr marL="2693137" indent="0">
              <a:buNone/>
              <a:defRPr sz="1346" b="1"/>
            </a:lvl8pPr>
            <a:lvl9pPr marL="3077870" indent="0">
              <a:buNone/>
              <a:defRPr sz="1346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08397DE-A797-4032-A812-EAD0B90EE3D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194132" y="2367064"/>
            <a:ext cx="4361842" cy="34815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749B1CB-D894-4D57-A2C7-AB4984B1B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9C03221-A211-4BAD-8F06-F33D19A7FA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8D05807-09DC-46C7-82E7-8F1A19E0D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296328-E8C6-4AEA-BD22-182431746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BC4F73-4EA7-4B76-AD1B-7E7817A2C8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885DEF1-F38C-4583-898C-193388C889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91D2DD1-0008-4D61-B182-1CB65AF4A2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D08646D-4C94-4D24-81BD-3346343258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9220EA-DBC6-43D4-B63E-B8D7E27D96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9CE5EB0-3625-421C-8F8C-F145FCFD7E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A156B-7BDF-4232-A3A1-9538A717C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6713" y="432012"/>
            <a:ext cx="3309121" cy="1512041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693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789E4A-54ED-4572-80D6-07F1C1064F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361842" y="933026"/>
            <a:ext cx="5194132" cy="460512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93"/>
            </a:lvl1pPr>
            <a:lvl2pPr>
              <a:buNone/>
              <a:defRPr sz="2356"/>
            </a:lvl2pPr>
            <a:lvl3pPr>
              <a:buNone/>
              <a:defRPr sz="2020"/>
            </a:lvl3pPr>
            <a:lvl4pPr>
              <a:buNone/>
              <a:defRPr sz="1683"/>
            </a:lvl4pPr>
            <a:lvl5pPr>
              <a:buNone/>
              <a:defRPr sz="1683"/>
            </a:lvl5pPr>
            <a:lvl6pPr>
              <a:buNone/>
              <a:defRPr sz="1683"/>
            </a:lvl6pPr>
            <a:lvl7pPr>
              <a:buNone/>
              <a:defRPr sz="1683"/>
            </a:lvl7pPr>
            <a:lvl8pPr>
              <a:buNone/>
              <a:defRPr sz="1683"/>
            </a:lvl8pPr>
            <a:lvl9pPr>
              <a:buNone/>
              <a:defRPr sz="1683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F15A3E6-C96D-4ACD-ABBD-D3112A9596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6713" y="1944052"/>
            <a:ext cx="3309121" cy="360159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346"/>
            </a:lvl1pPr>
            <a:lvl2pPr marL="384734" indent="0">
              <a:buNone/>
              <a:defRPr sz="1178"/>
            </a:lvl2pPr>
            <a:lvl3pPr marL="769468" indent="0">
              <a:buNone/>
              <a:defRPr sz="1010"/>
            </a:lvl3pPr>
            <a:lvl4pPr marL="1154201" indent="0">
              <a:buNone/>
              <a:defRPr sz="841"/>
            </a:lvl4pPr>
            <a:lvl5pPr marL="1538935" indent="0">
              <a:buNone/>
              <a:defRPr sz="841"/>
            </a:lvl5pPr>
            <a:lvl6pPr marL="1923669" indent="0">
              <a:buNone/>
              <a:defRPr sz="841"/>
            </a:lvl6pPr>
            <a:lvl7pPr marL="2308403" indent="0">
              <a:buNone/>
              <a:defRPr sz="841"/>
            </a:lvl7pPr>
            <a:lvl8pPr marL="2693137" indent="0">
              <a:buNone/>
              <a:defRPr sz="841"/>
            </a:lvl8pPr>
            <a:lvl9pPr marL="3077870" indent="0">
              <a:buNone/>
              <a:defRPr sz="84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5EFBEA-A033-4E50-9903-2F64CA00F2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8D0C35-F684-40AA-BEBA-8998B781B1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4C0FE9-AF28-49DF-8785-522B6B62F0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A6A028-9B23-4542-8D56-B1E2BAF0FC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6713" y="432012"/>
            <a:ext cx="3309121" cy="1512041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693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0C88F77-7956-4DD7-86CC-74252318F9A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361842" y="933026"/>
            <a:ext cx="5194132" cy="460512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693"/>
            </a:lvl1pPr>
            <a:lvl2pPr marL="384734" indent="0">
              <a:buNone/>
              <a:defRPr sz="2356"/>
            </a:lvl2pPr>
            <a:lvl3pPr marL="769468" indent="0">
              <a:buNone/>
              <a:defRPr sz="2020"/>
            </a:lvl3pPr>
            <a:lvl4pPr marL="1154201" indent="0">
              <a:buNone/>
              <a:defRPr sz="1683"/>
            </a:lvl4pPr>
            <a:lvl5pPr marL="1538935" indent="0">
              <a:buNone/>
              <a:defRPr sz="1683"/>
            </a:lvl5pPr>
            <a:lvl6pPr marL="1923669" indent="0">
              <a:buNone/>
              <a:defRPr sz="1683"/>
            </a:lvl6pPr>
            <a:lvl7pPr marL="2308403" indent="0">
              <a:buNone/>
              <a:defRPr sz="1683"/>
            </a:lvl7pPr>
            <a:lvl8pPr marL="2693137" indent="0">
              <a:buNone/>
              <a:defRPr sz="1683"/>
            </a:lvl8pPr>
            <a:lvl9pPr marL="3077870" indent="0">
              <a:buNone/>
              <a:defRPr sz="1683"/>
            </a:lvl9pPr>
          </a:lstStyle>
          <a:p xmlns:a="http://schemas.openxmlformats.org/drawingml/2006/main"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19FD71-14A6-4C8B-ABEE-C21A84EB94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6713" y="1944052"/>
            <a:ext cx="3309121" cy="360159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346"/>
            </a:lvl1pPr>
            <a:lvl2pPr marL="384734" indent="0">
              <a:buNone/>
              <a:defRPr sz="1178"/>
            </a:lvl2pPr>
            <a:lvl3pPr marL="769468" indent="0">
              <a:buNone/>
              <a:defRPr sz="1010"/>
            </a:lvl3pPr>
            <a:lvl4pPr marL="1154201" indent="0">
              <a:buNone/>
              <a:defRPr sz="841"/>
            </a:lvl4pPr>
            <a:lvl5pPr marL="1538935" indent="0">
              <a:buNone/>
              <a:defRPr sz="841"/>
            </a:lvl5pPr>
            <a:lvl6pPr marL="1923669" indent="0">
              <a:buNone/>
              <a:defRPr sz="841"/>
            </a:lvl6pPr>
            <a:lvl7pPr marL="2308403" indent="0">
              <a:buNone/>
              <a:defRPr sz="841"/>
            </a:lvl7pPr>
            <a:lvl8pPr marL="2693137" indent="0">
              <a:buNone/>
              <a:defRPr sz="841"/>
            </a:lvl8pPr>
            <a:lvl9pPr marL="3077870" indent="0">
              <a:buNone/>
              <a:defRPr sz="84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C38380-0AA8-4196-89E3-1F21B1741B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DD60097-C2CC-4332-B31B-AAA9893C6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E05A79-507E-4885-BF24-2B04DAF5C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7B8534-3592-457D-A727-24CC4BE21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56F55C-1FF7-43D8-817B-D4CCC1B7F2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B9A2A6-C2A9-4CC0-BC9B-76E61017FA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15DD59-30E9-4D94-AEC7-D20ECDCF0D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96F2F-FCF9-4978-8F1B-6C8E1873C6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E7E7282-5561-4142-BEB7-350370F5E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42322" y="345009"/>
            <a:ext cx="2212315" cy="549164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55253A-3099-4BA4-B6A8-7672908F3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5376" y="345009"/>
            <a:ext cx="6508696" cy="549164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48D4CB-DDA0-44B2-B418-CC1DA8D560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79E4DE-3A85-4716-BA54-56A0F7843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266B6F-3FC0-4CF8-8575-299C3F8D13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897404e31d4cd4" /><Relationship Type="http://schemas.openxmlformats.org/officeDocument/2006/relationships/slideLayout" Target="/ppt/slideLayouts/slideLayout1.xml" Id="R7c047fa489294180" /><Relationship Type="http://schemas.openxmlformats.org/officeDocument/2006/relationships/slideLayout" Target="/ppt/slideLayouts/slideLayout2.xml" Id="R12fcaa91d8b24523" /><Relationship Type="http://schemas.openxmlformats.org/officeDocument/2006/relationships/slideLayout" Target="/ppt/slideLayouts/slideLayout3.xml" Id="R480fae4b47734d88" /><Relationship Type="http://schemas.openxmlformats.org/officeDocument/2006/relationships/slideLayout" Target="/ppt/slideLayouts/slideLayout4.xml" Id="Re1ebe33e8f8046bf" /><Relationship Type="http://schemas.openxmlformats.org/officeDocument/2006/relationships/slideLayout" Target="/ppt/slideLayouts/slideLayout5.xml" Id="Rc11f180313e54e72" /><Relationship Type="http://schemas.openxmlformats.org/officeDocument/2006/relationships/slideLayout" Target="/ppt/slideLayouts/slideLayout6.xml" Id="Rd05adf195a334222" /><Relationship Type="http://schemas.openxmlformats.org/officeDocument/2006/relationships/slideLayout" Target="/ppt/slideLayouts/slideLayout7.xml" Id="R2eeaf1f40c0745b0" /><Relationship Type="http://schemas.openxmlformats.org/officeDocument/2006/relationships/slideLayout" Target="/ppt/slideLayouts/slideLayout8.xml" Id="R4af23e5b7c0a4000" /><Relationship Type="http://schemas.openxmlformats.org/officeDocument/2006/relationships/slideLayout" Target="/ppt/slideLayouts/slideLayout9.xml" Id="R361fb24f0b4f4b2c" /><Relationship Type="http://schemas.openxmlformats.org/officeDocument/2006/relationships/slideLayout" Target="/ppt/slideLayouts/slideLayout10.xml" Id="R4d0a8fdc311b4133" /><Relationship Type="http://schemas.openxmlformats.org/officeDocument/2006/relationships/slideLayout" Target="/ppt/slideLayouts/slideLayout11.xml" Id="Rd7aad5fe08cd45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AFE5D8-7AFD-4869-9F2F-E9E019EA4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5376" y="345010"/>
            <a:ext cx="8849261" cy="1252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10131F-AD2C-4CA2-8216-E9A34F965F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5376" y="1725046"/>
            <a:ext cx="8849261" cy="4111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23D673-27B8-4D46-A259-2E55F6F3E1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05376" y="6006163"/>
            <a:ext cx="2308503" cy="3450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75263D5-D864-46B3-96DA-70E85F5DF3F2}" type="datetimeFigureOut">
              <a:t>2025/8/21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00ADF8-69CC-4147-B5A9-604DC3B0C8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398630" y="6006163"/>
            <a:ext cx="3462754" cy="3450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9F5F2F-81B0-4591-9ABA-C277BA782A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246134" y="6006163"/>
            <a:ext cx="2308503" cy="3450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1A0592C-B821-44B7-A36B-322ACCB0156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47fa489294180"/>
    <p:sldLayoutId xmlns:r="http://schemas.openxmlformats.org/officeDocument/2006/relationships" id="2147483650" r:id="R12fcaa91d8b24523"/>
    <p:sldLayoutId xmlns:r="http://schemas.openxmlformats.org/officeDocument/2006/relationships" id="2147483651" r:id="R480fae4b47734d88"/>
    <p:sldLayoutId xmlns:r="http://schemas.openxmlformats.org/officeDocument/2006/relationships" id="2147483652" r:id="Re1ebe33e8f8046bf"/>
    <p:sldLayoutId xmlns:r="http://schemas.openxmlformats.org/officeDocument/2006/relationships" id="2147483653" r:id="Rc11f180313e54e72"/>
    <p:sldLayoutId xmlns:r="http://schemas.openxmlformats.org/officeDocument/2006/relationships" id="2147483654" r:id="Rd05adf195a334222"/>
    <p:sldLayoutId xmlns:r="http://schemas.openxmlformats.org/officeDocument/2006/relationships" id="2147483655" r:id="R2eeaf1f40c0745b0"/>
    <p:sldLayoutId xmlns:r="http://schemas.openxmlformats.org/officeDocument/2006/relationships" id="2147483656" r:id="R4af23e5b7c0a4000"/>
    <p:sldLayoutId xmlns:r="http://schemas.openxmlformats.org/officeDocument/2006/relationships" id="2147483657" r:id="R361fb24f0b4f4b2c"/>
    <p:sldLayoutId xmlns:r="http://schemas.openxmlformats.org/officeDocument/2006/relationships" id="2147483658" r:id="R4d0a8fdc311b4133"/>
    <p:sldLayoutId xmlns:r="http://schemas.openxmlformats.org/officeDocument/2006/relationships" id="2147483659" r:id="Rd7aad5fe08cd4532"/>
  </p:sldLayoutIdLst>
  <p:txStyles>
    <p:titleStyle>
      <a:lvl1pPr xmlns:a="http://schemas.openxmlformats.org/drawingml/2006/main" algn="l" defTabSz="769468">
        <a:lnSpc>
          <a:spcPct val="90000"/>
        </a:lnSpc>
        <a:spcBef>
          <a:spcPct val="0"/>
        </a:spcBef>
        <a:buNone/>
        <a:defRPr sz="3703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92367" indent="-192367" algn="l" defTabSz="769468">
        <a:lnSpc>
          <a:spcPct val="90000"/>
        </a:lnSpc>
        <a:spcBef>
          <a:spcPts val="841"/>
        </a:spcBef>
        <a:buFont typeface="Arial"/>
        <a:buChar char="•"/>
        <a:defRPr sz="235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77101" indent="-192367" algn="l" defTabSz="769468">
        <a:lnSpc>
          <a:spcPct val="90000"/>
        </a:lnSpc>
        <a:spcBef>
          <a:spcPts val="421"/>
        </a:spcBef>
        <a:buFont typeface="Arial"/>
        <a:buChar char="•"/>
        <a:defRPr sz="20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61835" indent="-192367" algn="l" defTabSz="769468">
        <a:lnSpc>
          <a:spcPct val="90000"/>
        </a:lnSpc>
        <a:spcBef>
          <a:spcPts val="421"/>
        </a:spcBef>
        <a:buFont typeface="Arial"/>
        <a:buChar char="•"/>
        <a:defRPr sz="168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46568" indent="-192367" algn="l" defTabSz="769468">
        <a:lnSpc>
          <a:spcPct val="90000"/>
        </a:lnSpc>
        <a:spcBef>
          <a:spcPts val="421"/>
        </a:spcBef>
        <a:buFont typeface="Arial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1302" indent="-192367" algn="l" defTabSz="769468">
        <a:lnSpc>
          <a:spcPct val="90000"/>
        </a:lnSpc>
        <a:spcBef>
          <a:spcPts val="421"/>
        </a:spcBef>
        <a:buFont typeface="Arial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16036" indent="-192367" algn="l" defTabSz="769468">
        <a:lnSpc>
          <a:spcPct val="90000"/>
        </a:lnSpc>
        <a:spcBef>
          <a:spcPts val="421"/>
        </a:spcBef>
        <a:buFont typeface="Arial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500770" indent="-192367" algn="l" defTabSz="769468">
        <a:lnSpc>
          <a:spcPct val="90000"/>
        </a:lnSpc>
        <a:spcBef>
          <a:spcPts val="421"/>
        </a:spcBef>
        <a:buFont typeface="Arial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885504" indent="-192367" algn="l" defTabSz="769468">
        <a:lnSpc>
          <a:spcPct val="90000"/>
        </a:lnSpc>
        <a:spcBef>
          <a:spcPts val="421"/>
        </a:spcBef>
        <a:buFont typeface="Arial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270237" indent="-192367" algn="l" defTabSz="769468">
        <a:lnSpc>
          <a:spcPct val="90000"/>
        </a:lnSpc>
        <a:spcBef>
          <a:spcPts val="421"/>
        </a:spcBef>
        <a:buFont typeface="Arial"/>
        <a:buChar char="•"/>
        <a:defRPr sz="151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84734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769468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154201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38935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923669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308403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693137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077870" algn="l" defTabSz="769468">
        <a:buNone/>
        <a:defRPr sz="151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e1d85104540f2" /><Relationship Type="http://schemas.openxmlformats.org/officeDocument/2006/relationships/image" Target="/ppt/media/image.jpeg" Id="Re8bc4b505d1b45e3" /><Relationship Type="http://schemas.openxmlformats.org/officeDocument/2006/relationships/notesSlide" Target="/ppt/notesSlides/notesSlide1.xml" Id="R33b2af925ddd40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0f8f6c8ada47c4" /><Relationship Type="http://schemas.openxmlformats.org/officeDocument/2006/relationships/notesSlide" Target="/ppt/notesSlides/notesSlide2.xml" Id="R1f8ec6669e8a44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891ca40f414293" /><Relationship Type="http://schemas.openxmlformats.org/officeDocument/2006/relationships/notesSlide" Target="/ppt/notesSlides/notesSlide3.xml" Id="Rdcd11d7629ea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46763b67944bc" /><Relationship Type="http://schemas.openxmlformats.org/officeDocument/2006/relationships/notesSlide" Target="/ppt/notesSlides/notesSlide4.xml" Id="R2f497974fd97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8726941c3a4222" /><Relationship Type="http://schemas.openxmlformats.org/officeDocument/2006/relationships/notesSlide" Target="/ppt/notesSlides/notesSlide5.xml" Id="R8b3022ce97f5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6760e35dd542c1" /><Relationship Type="http://schemas.openxmlformats.org/officeDocument/2006/relationships/notesSlide" Target="/ppt/notesSlides/notesSlide6.xml" Id="R4f04f7844bbd47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e4dd3dbce42f6" /><Relationship Type="http://schemas.openxmlformats.org/officeDocument/2006/relationships/notesSlide" Target="/ppt/notesSlides/notesSlide7.xml" Id="R8f39dc4bbb6b45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ee2d9dc65463c" /><Relationship Type="http://schemas.openxmlformats.org/officeDocument/2006/relationships/notesSlide" Target="/ppt/notesSlides/notesSlide8.xml" Id="Rffcf50b7709844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d02df64d14561" /><Relationship Type="http://schemas.openxmlformats.org/officeDocument/2006/relationships/notesSlide" Target="/ppt/notesSlides/notesSlide9.xml" Id="R02ba6399ad9b4a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f985c626e846a3" /><Relationship Type="http://schemas.openxmlformats.org/officeDocument/2006/relationships/notesSlide" Target="/ppt/notesSlides/notesSlide10.xml" Id="R57bf3725ed4d42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3ff7e794224675" /><Relationship Type="http://schemas.openxmlformats.org/officeDocument/2006/relationships/notesSlide" Target="/ppt/notesSlides/notesSlide11.xml" Id="Rc9b184a78d284d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59f4d1c434c87" /><Relationship Type="http://schemas.openxmlformats.org/officeDocument/2006/relationships/notesSlide" Target="/ppt/notesSlides/notesSlide12.xml" Id="R5010261eb19e4f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2a532536c46fb" /><Relationship Type="http://schemas.openxmlformats.org/officeDocument/2006/relationships/notesSlide" Target="/ppt/notesSlides/notesSlide13.xml" Id="Rfcfb8cbcdbc647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28a191adf740d0" /><Relationship Type="http://schemas.openxmlformats.org/officeDocument/2006/relationships/notesSlide" Target="/ppt/notesSlides/notesSlide14.xml" Id="R0850dcb226024a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2e6e25e624ea5" /><Relationship Type="http://schemas.openxmlformats.org/officeDocument/2006/relationships/notesSlide" Target="/ppt/notesSlides/notesSlide15.xml" Id="R77aabfdab3dd4b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9787197b14d67" /><Relationship Type="http://schemas.openxmlformats.org/officeDocument/2006/relationships/notesSlide" Target="/ppt/notesSlides/notesSlide16.xml" Id="Ra3ca246f148840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8b1bf23104c07" /><Relationship Type="http://schemas.openxmlformats.org/officeDocument/2006/relationships/notesSlide" Target="/ppt/notesSlides/notesSlide17.xml" Id="R2567aabe163f46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2292de6a240aa" /><Relationship Type="http://schemas.openxmlformats.org/officeDocument/2006/relationships/notesSlide" Target="/ppt/notesSlides/notesSlide18.xml" Id="Rda3f49b5f6a943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fe7cda39734f5c" /><Relationship Type="http://schemas.openxmlformats.org/officeDocument/2006/relationships/notesSlide" Target="/ppt/notesSlides/notesSlide19.xml" Id="Re1f28672fd4d42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d382d70d54a26" /><Relationship Type="http://schemas.openxmlformats.org/officeDocument/2006/relationships/notesSlide" Target="/ppt/notesSlides/notesSlide20.xml" Id="Raa40c403608142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e2b999e2f44794" /><Relationship Type="http://schemas.openxmlformats.org/officeDocument/2006/relationships/notesSlide" Target="/ppt/notesSlides/notesSlide21.xml" Id="R6f9395859bbc46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c6ad8cd3344dfb" /><Relationship Type="http://schemas.openxmlformats.org/officeDocument/2006/relationships/notesSlide" Target="/ppt/notesSlides/notesSlide22.xml" Id="R3bf0f5929a5d43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df9da193cc4a18" /><Relationship Type="http://schemas.openxmlformats.org/officeDocument/2006/relationships/notesSlide" Target="/ppt/notesSlides/notesSlide23.xml" Id="Rbc086337cc8047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F6877DEF-75A6-46AA-9237-6B2412C8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" y="0"/>
            <a:ext cx="10260013" cy="4302932"/>
          </a:xfrm>
          <a:custGeom xmlns:a="http://schemas.openxmlformats.org/drawingml/2006/main">
            <a:gdLst>
              <a:gd name="connsiteX0" fmla="*/ 0 w 10260013"/>
              <a:gd name="connsiteY0" fmla="*/ 0 h 4302932"/>
              <a:gd name="connsiteX1" fmla="*/ 2 w 10260013"/>
              <a:gd name="connsiteY1" fmla="*/ 0 h 4302932"/>
              <a:gd name="connsiteX2" fmla="*/ 2 w 10260013"/>
              <a:gd name="connsiteY2" fmla="*/ 3514825 h 4302932"/>
              <a:gd name="connsiteX3" fmla="*/ 9966434 w 10260013"/>
              <a:gd name="connsiteY3" fmla="*/ 3661385 h 4302932"/>
              <a:gd name="connsiteX4" fmla="*/ 10260013 w 10260013"/>
              <a:gd name="connsiteY4" fmla="*/ 3514826 h 4302932"/>
              <a:gd name="connsiteX5" fmla="*/ 10260013 w 10260013"/>
              <a:gd name="connsiteY5" fmla="*/ 3667225 h 4302932"/>
              <a:gd name="connsiteX6" fmla="*/ 0 w 10260013"/>
              <a:gd name="connsiteY6" fmla="*/ 3667225 h 4302932"/>
              <a:gd name="connsiteX7" fmla="*/ 0 w 10260013"/>
              <a:gd name="connsiteY7" fmla="*/ 0 h 4302932"/>
            </a:gdLst>
            <a:rect l="l" t="t" r="r" b="b"/>
            <a:pathLst>
              <a:path w="10260013" h="4302932">
                <a:moveTo>
                  <a:pt x="0" y="0"/>
                </a:moveTo>
                <a:lnTo>
                  <a:pt x="2" y="0"/>
                </a:lnTo>
                <a:lnTo>
                  <a:pt x="2" y="3514825"/>
                </a:lnTo>
                <a:cubicBezTo>
                  <a:pt x="3872600" y="2955357"/>
                  <a:pt x="6932221" y="5060648"/>
                  <a:pt x="9966434" y="3661385"/>
                </a:cubicBezTo>
                <a:lnTo>
                  <a:pt x="10260013" y="3514826"/>
                </a:lnTo>
                <a:lnTo>
                  <a:pt x="10260013" y="3667225"/>
                </a:lnTo>
                <a:cubicBezTo>
                  <a:pt x="7128768" y="5351646"/>
                  <a:pt x="3997520" y="3089709"/>
                  <a:pt x="0" y="3667225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50000">
                <a:srgbClr val="786E94"/>
              </a:gs>
              <a:gs pos="0">
                <a:srgbClr val="478AA5"/>
              </a:gs>
              <a:gs pos="100000">
                <a:srgbClr val="A36C74"/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6EEE006-34C8-4AD5-B2BC-ACCEF716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48200"/>
            <a:ext cx="500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DNN 性能预测：灰盒路线阶段总结</a:t>
            </a:r>
            <a:endParaRPr sz="24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6F438D8-E422-4DDE-81E9-3984F763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37" y="4067426"/>
            <a:ext cx="2127250" cy="2308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  <a:p xmlns:a="http://schemas.openxmlformats.org/drawingml/2006/main">
            <a:r>
              <a:rPr sz="900"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def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以目标执行图为骨架，把 component-level 机理成本、实测缓存、分段残差校准与系统事件模拟组合起来。</a:t>
            </a:r>
          </a:p>
          <a:p xmlns:a="http://schemas.openxmlformats.org/drawingml/2006/main">
            <a:r>
              <a:rPr sz="900"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def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当前证据覆盖论文、公开 artifact、公开真测 CSV 与 profiling 诊断；尚未完成目标业务模型和目标 GPU/NPU 的端到端确认。</a:t>
            </a:r>
          </a:p>
          <a:p xmlns:a="http://schemas.openxmlformats.org/drawingml/2006/main">
            <a:r>
              <a:rPr sz="900"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def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2026-08-12</a:t>
            </a:r>
          </a:p>
        </p:txBody>
      </p:sp>
      <p:sp>
        <p:nvSpPr>
          <p:cNvPr id="9" name="矩形 3">
            <a:extLst xmlns:a="http://schemas.openxmlformats.org/drawingml/2006/main">
              <a:ext uri="{FF2B5EF4-FFF2-40B4-BE49-F238E27FC236}">
                <a16:creationId xmlns:a16="http://schemas.microsoft.com/office/drawing/2014/main" id="{BE76819D-1986-4719-B8A0-74517D34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726" y="-1"/>
            <a:ext cx="10279739" cy="4185511"/>
          </a:xfrm>
          <a:custGeom xmlns:a="http://schemas.openxmlformats.org/drawingml/2006/main">
            <a:gdLst>
              <a:gd name="connsiteX0" fmla="*/ 0 w 12192000"/>
              <a:gd name="connsiteY0" fmla="*/ 0 h 5959736"/>
              <a:gd name="connsiteX1" fmla="*/ 12192000 w 12192000"/>
              <a:gd name="connsiteY1" fmla="*/ 0 h 5959736"/>
              <a:gd name="connsiteX2" fmla="*/ 12192000 w 12192000"/>
              <a:gd name="connsiteY2" fmla="*/ 5959736 h 5959736"/>
              <a:gd name="connsiteX3" fmla="*/ 0 w 12192000"/>
              <a:gd name="connsiteY3" fmla="*/ 5959736 h 5959736"/>
              <a:gd name="connsiteX4" fmla="*/ 0 w 12192000"/>
              <a:gd name="connsiteY4" fmla="*/ 0 h 5959736"/>
              <a:gd name="connsiteX0" fmla="*/ 0 w 12192000"/>
              <a:gd name="connsiteY0" fmla="*/ 0 h 5959736"/>
              <a:gd name="connsiteX1" fmla="*/ 12192000 w 12192000"/>
              <a:gd name="connsiteY1" fmla="*/ 0 h 5959736"/>
              <a:gd name="connsiteX2" fmla="*/ 12192000 w 12192000"/>
              <a:gd name="connsiteY2" fmla="*/ 5959736 h 5959736"/>
              <a:gd name="connsiteX3" fmla="*/ 6067313 w 12192000"/>
              <a:gd name="connsiteY3" fmla="*/ 4980791 h 5959736"/>
              <a:gd name="connsiteX4" fmla="*/ 0 w 12192000"/>
              <a:gd name="connsiteY4" fmla="*/ 5959736 h 5959736"/>
              <a:gd name="connsiteX5" fmla="*/ 0 w 12192000"/>
              <a:gd name="connsiteY5" fmla="*/ 0 h 5959736"/>
              <a:gd name="connsiteX0" fmla="*/ 0 w 12192000"/>
              <a:gd name="connsiteY0" fmla="*/ 0 h 5959736"/>
              <a:gd name="connsiteX1" fmla="*/ 12192000 w 12192000"/>
              <a:gd name="connsiteY1" fmla="*/ 0 h 5959736"/>
              <a:gd name="connsiteX2" fmla="*/ 12192000 w 12192000"/>
              <a:gd name="connsiteY2" fmla="*/ 5959736 h 5959736"/>
              <a:gd name="connsiteX3" fmla="*/ 6067313 w 12192000"/>
              <a:gd name="connsiteY3" fmla="*/ 4980791 h 5959736"/>
              <a:gd name="connsiteX4" fmla="*/ 0 w 12192000"/>
              <a:gd name="connsiteY4" fmla="*/ 5959736 h 5959736"/>
              <a:gd name="connsiteX5" fmla="*/ 0 w 12192000"/>
              <a:gd name="connsiteY5" fmla="*/ 0 h 5959736"/>
              <a:gd name="connsiteX0" fmla="*/ 0 w 12192000"/>
              <a:gd name="connsiteY0" fmla="*/ 0 h 5959736"/>
              <a:gd name="connsiteX1" fmla="*/ 12192000 w 12192000"/>
              <a:gd name="connsiteY1" fmla="*/ 0 h 5959736"/>
              <a:gd name="connsiteX2" fmla="*/ 12192000 w 12192000"/>
              <a:gd name="connsiteY2" fmla="*/ 5959736 h 5959736"/>
              <a:gd name="connsiteX3" fmla="*/ 6067313 w 12192000"/>
              <a:gd name="connsiteY3" fmla="*/ 4980791 h 5959736"/>
              <a:gd name="connsiteX4" fmla="*/ 0 w 12192000"/>
              <a:gd name="connsiteY4" fmla="*/ 5959736 h 5959736"/>
              <a:gd name="connsiteX5" fmla="*/ 0 w 12192000"/>
              <a:gd name="connsiteY5" fmla="*/ 0 h 5959736"/>
              <a:gd name="connsiteX0" fmla="*/ 0 w 12192000"/>
              <a:gd name="connsiteY0" fmla="*/ 0 h 5959736"/>
              <a:gd name="connsiteX1" fmla="*/ 12192000 w 12192000"/>
              <a:gd name="connsiteY1" fmla="*/ 0 h 5959736"/>
              <a:gd name="connsiteX2" fmla="*/ 12192000 w 12192000"/>
              <a:gd name="connsiteY2" fmla="*/ 5959736 h 5959736"/>
              <a:gd name="connsiteX3" fmla="*/ 6045797 w 12192000"/>
              <a:gd name="connsiteY3" fmla="*/ 5443370 h 5959736"/>
              <a:gd name="connsiteX4" fmla="*/ 0 w 12192000"/>
              <a:gd name="connsiteY4" fmla="*/ 5959736 h 5959736"/>
              <a:gd name="connsiteX5" fmla="*/ 0 w 12192000"/>
              <a:gd name="connsiteY5" fmla="*/ 0 h 5959736"/>
              <a:gd name="connsiteX0" fmla="*/ 0 w 12192000"/>
              <a:gd name="connsiteY0" fmla="*/ 0 h 6109251"/>
              <a:gd name="connsiteX1" fmla="*/ 12192000 w 12192000"/>
              <a:gd name="connsiteY1" fmla="*/ 0 h 6109251"/>
              <a:gd name="connsiteX2" fmla="*/ 12192000 w 12192000"/>
              <a:gd name="connsiteY2" fmla="*/ 5959736 h 6109251"/>
              <a:gd name="connsiteX3" fmla="*/ 6078070 w 12192000"/>
              <a:gd name="connsiteY3" fmla="*/ 5766100 h 6109251"/>
              <a:gd name="connsiteX4" fmla="*/ 0 w 12192000"/>
              <a:gd name="connsiteY4" fmla="*/ 5959736 h 6109251"/>
              <a:gd name="connsiteX5" fmla="*/ 0 w 12192000"/>
              <a:gd name="connsiteY5" fmla="*/ 0 h 6109251"/>
              <a:gd name="connsiteX0" fmla="*/ 0 w 12192000"/>
              <a:gd name="connsiteY0" fmla="*/ 0 h 6109251"/>
              <a:gd name="connsiteX1" fmla="*/ 12192000 w 12192000"/>
              <a:gd name="connsiteY1" fmla="*/ 0 h 6109251"/>
              <a:gd name="connsiteX2" fmla="*/ 12192000 w 12192000"/>
              <a:gd name="connsiteY2" fmla="*/ 5959736 h 6109251"/>
              <a:gd name="connsiteX3" fmla="*/ 6078070 w 12192000"/>
              <a:gd name="connsiteY3" fmla="*/ 5766100 h 6109251"/>
              <a:gd name="connsiteX4" fmla="*/ 0 w 12192000"/>
              <a:gd name="connsiteY4" fmla="*/ 5959736 h 6109251"/>
              <a:gd name="connsiteX5" fmla="*/ 0 w 12192000"/>
              <a:gd name="connsiteY5" fmla="*/ 0 h 6109251"/>
              <a:gd name="connsiteX0" fmla="*/ 0 w 12192000"/>
              <a:gd name="connsiteY0" fmla="*/ 0 h 6253397"/>
              <a:gd name="connsiteX1" fmla="*/ 12192000 w 12192000"/>
              <a:gd name="connsiteY1" fmla="*/ 0 h 6253397"/>
              <a:gd name="connsiteX2" fmla="*/ 12192000 w 12192000"/>
              <a:gd name="connsiteY2" fmla="*/ 5959736 h 6253397"/>
              <a:gd name="connsiteX3" fmla="*/ 7734748 w 12192000"/>
              <a:gd name="connsiteY3" fmla="*/ 5948980 h 6253397"/>
              <a:gd name="connsiteX4" fmla="*/ 0 w 12192000"/>
              <a:gd name="connsiteY4" fmla="*/ 5959736 h 6253397"/>
              <a:gd name="connsiteX5" fmla="*/ 0 w 12192000"/>
              <a:gd name="connsiteY5" fmla="*/ 0 h 6253397"/>
              <a:gd name="connsiteX0" fmla="*/ 0 w 12202757"/>
              <a:gd name="connsiteY0" fmla="*/ 0 h 6253397"/>
              <a:gd name="connsiteX1" fmla="*/ 12192000 w 12202757"/>
              <a:gd name="connsiteY1" fmla="*/ 0 h 6253397"/>
              <a:gd name="connsiteX2" fmla="*/ 12202757 w 12202757"/>
              <a:gd name="connsiteY2" fmla="*/ 4840940 h 6253397"/>
              <a:gd name="connsiteX3" fmla="*/ 7734748 w 12202757"/>
              <a:gd name="connsiteY3" fmla="*/ 5948980 h 6253397"/>
              <a:gd name="connsiteX4" fmla="*/ 0 w 12202757"/>
              <a:gd name="connsiteY4" fmla="*/ 5959736 h 6253397"/>
              <a:gd name="connsiteX5" fmla="*/ 0 w 12202757"/>
              <a:gd name="connsiteY5" fmla="*/ 0 h 6253397"/>
              <a:gd name="connsiteX0" fmla="*/ 0 w 12202757"/>
              <a:gd name="connsiteY0" fmla="*/ 0 h 6253397"/>
              <a:gd name="connsiteX1" fmla="*/ 12192000 w 12202757"/>
              <a:gd name="connsiteY1" fmla="*/ 0 h 6253397"/>
              <a:gd name="connsiteX2" fmla="*/ 12202757 w 12202757"/>
              <a:gd name="connsiteY2" fmla="*/ 4840940 h 6253397"/>
              <a:gd name="connsiteX3" fmla="*/ 7734748 w 12202757"/>
              <a:gd name="connsiteY3" fmla="*/ 5948980 h 6253397"/>
              <a:gd name="connsiteX4" fmla="*/ 0 w 12202757"/>
              <a:gd name="connsiteY4" fmla="*/ 5959736 h 6253397"/>
              <a:gd name="connsiteX5" fmla="*/ 0 w 12202757"/>
              <a:gd name="connsiteY5" fmla="*/ 0 h 6253397"/>
              <a:gd name="connsiteX0" fmla="*/ 0 w 12202757"/>
              <a:gd name="connsiteY0" fmla="*/ 0 h 6253397"/>
              <a:gd name="connsiteX1" fmla="*/ 12192000 w 12202757"/>
              <a:gd name="connsiteY1" fmla="*/ 0 h 6253397"/>
              <a:gd name="connsiteX2" fmla="*/ 12202757 w 12202757"/>
              <a:gd name="connsiteY2" fmla="*/ 4840940 h 6253397"/>
              <a:gd name="connsiteX3" fmla="*/ 7734748 w 12202757"/>
              <a:gd name="connsiteY3" fmla="*/ 5948980 h 6253397"/>
              <a:gd name="connsiteX4" fmla="*/ 0 w 12202757"/>
              <a:gd name="connsiteY4" fmla="*/ 5959736 h 6253397"/>
              <a:gd name="connsiteX5" fmla="*/ 0 w 12202757"/>
              <a:gd name="connsiteY5" fmla="*/ 0 h 6253397"/>
              <a:gd name="connsiteX0" fmla="*/ 0 w 12202757"/>
              <a:gd name="connsiteY0" fmla="*/ 0 h 6369208"/>
              <a:gd name="connsiteX1" fmla="*/ 12192000 w 12202757"/>
              <a:gd name="connsiteY1" fmla="*/ 0 h 6369208"/>
              <a:gd name="connsiteX2" fmla="*/ 12202757 w 12202757"/>
              <a:gd name="connsiteY2" fmla="*/ 4840940 h 6369208"/>
              <a:gd name="connsiteX3" fmla="*/ 7013986 w 12202757"/>
              <a:gd name="connsiteY3" fmla="*/ 6088829 h 6369208"/>
              <a:gd name="connsiteX4" fmla="*/ 0 w 12202757"/>
              <a:gd name="connsiteY4" fmla="*/ 5959736 h 6369208"/>
              <a:gd name="connsiteX5" fmla="*/ 0 w 12202757"/>
              <a:gd name="connsiteY5" fmla="*/ 0 h 6369208"/>
              <a:gd name="connsiteX0" fmla="*/ 0 w 12202757"/>
              <a:gd name="connsiteY0" fmla="*/ 0 h 6369208"/>
              <a:gd name="connsiteX1" fmla="*/ 12192000 w 12202757"/>
              <a:gd name="connsiteY1" fmla="*/ 0 h 6369208"/>
              <a:gd name="connsiteX2" fmla="*/ 12202757 w 12202757"/>
              <a:gd name="connsiteY2" fmla="*/ 4840940 h 6369208"/>
              <a:gd name="connsiteX3" fmla="*/ 7013986 w 12202757"/>
              <a:gd name="connsiteY3" fmla="*/ 6088829 h 6369208"/>
              <a:gd name="connsiteX4" fmla="*/ 0 w 12202757"/>
              <a:gd name="connsiteY4" fmla="*/ 5959736 h 6369208"/>
              <a:gd name="connsiteX5" fmla="*/ 0 w 12202757"/>
              <a:gd name="connsiteY5" fmla="*/ 0 h 6369208"/>
              <a:gd name="connsiteX0" fmla="*/ 0 w 12202757"/>
              <a:gd name="connsiteY0" fmla="*/ 0 h 6595999"/>
              <a:gd name="connsiteX1" fmla="*/ 12192000 w 12202757"/>
              <a:gd name="connsiteY1" fmla="*/ 0 h 6595999"/>
              <a:gd name="connsiteX2" fmla="*/ 12202757 w 12202757"/>
              <a:gd name="connsiteY2" fmla="*/ 4840940 h 6595999"/>
              <a:gd name="connsiteX3" fmla="*/ 7013986 w 12202757"/>
              <a:gd name="connsiteY3" fmla="*/ 6088829 h 6595999"/>
              <a:gd name="connsiteX4" fmla="*/ 0 w 12202757"/>
              <a:gd name="connsiteY4" fmla="*/ 5959736 h 6595999"/>
              <a:gd name="connsiteX5" fmla="*/ 0 w 12202757"/>
              <a:gd name="connsiteY5" fmla="*/ 0 h 6595999"/>
              <a:gd name="connsiteX0" fmla="*/ 0 w 12192310"/>
              <a:gd name="connsiteY0" fmla="*/ 0 h 6140391"/>
              <a:gd name="connsiteX1" fmla="*/ 12192000 w 12192310"/>
              <a:gd name="connsiteY1" fmla="*/ 0 h 6140391"/>
              <a:gd name="connsiteX2" fmla="*/ 12170485 w 12192310"/>
              <a:gd name="connsiteY2" fmla="*/ 4518211 h 6140391"/>
              <a:gd name="connsiteX3" fmla="*/ 7013986 w 12192310"/>
              <a:gd name="connsiteY3" fmla="*/ 6088829 h 6140391"/>
              <a:gd name="connsiteX4" fmla="*/ 0 w 12192310"/>
              <a:gd name="connsiteY4" fmla="*/ 5959736 h 6140391"/>
              <a:gd name="connsiteX5" fmla="*/ 0 w 12192310"/>
              <a:gd name="connsiteY5" fmla="*/ 0 h 6140391"/>
              <a:gd name="connsiteX0" fmla="*/ 0 w 12192310"/>
              <a:gd name="connsiteY0" fmla="*/ 0 h 6102162"/>
              <a:gd name="connsiteX1" fmla="*/ 12192000 w 12192310"/>
              <a:gd name="connsiteY1" fmla="*/ 0 h 6102162"/>
              <a:gd name="connsiteX2" fmla="*/ 12170485 w 12192310"/>
              <a:gd name="connsiteY2" fmla="*/ 4518211 h 6102162"/>
              <a:gd name="connsiteX3" fmla="*/ 7013986 w 12192310"/>
              <a:gd name="connsiteY3" fmla="*/ 6088829 h 6102162"/>
              <a:gd name="connsiteX4" fmla="*/ 10758 w 12192310"/>
              <a:gd name="connsiteY4" fmla="*/ 5411096 h 6102162"/>
              <a:gd name="connsiteX5" fmla="*/ 0 w 12192310"/>
              <a:gd name="connsiteY5" fmla="*/ 0 h 6102162"/>
              <a:gd name="connsiteX0" fmla="*/ 0 w 12192476"/>
              <a:gd name="connsiteY0" fmla="*/ 0 h 6100744"/>
              <a:gd name="connsiteX1" fmla="*/ 12192000 w 12192476"/>
              <a:gd name="connsiteY1" fmla="*/ 0 h 6100744"/>
              <a:gd name="connsiteX2" fmla="*/ 12181242 w 12192476"/>
              <a:gd name="connsiteY2" fmla="*/ 4571999 h 6100744"/>
              <a:gd name="connsiteX3" fmla="*/ 7013986 w 12192476"/>
              <a:gd name="connsiteY3" fmla="*/ 6088829 h 6100744"/>
              <a:gd name="connsiteX4" fmla="*/ 10758 w 12192476"/>
              <a:gd name="connsiteY4" fmla="*/ 5411096 h 6100744"/>
              <a:gd name="connsiteX5" fmla="*/ 0 w 12192476"/>
              <a:gd name="connsiteY5" fmla="*/ 0 h 6100744"/>
              <a:gd name="connsiteX0" fmla="*/ 0 w 12193035"/>
              <a:gd name="connsiteY0" fmla="*/ 0 h 6094473"/>
              <a:gd name="connsiteX1" fmla="*/ 12192000 w 12193035"/>
              <a:gd name="connsiteY1" fmla="*/ 0 h 6094473"/>
              <a:gd name="connsiteX2" fmla="*/ 12191999 w 12193035"/>
              <a:gd name="connsiteY2" fmla="*/ 4851698 h 6094473"/>
              <a:gd name="connsiteX3" fmla="*/ 7013986 w 12193035"/>
              <a:gd name="connsiteY3" fmla="*/ 6088829 h 6094473"/>
              <a:gd name="connsiteX4" fmla="*/ 10758 w 12193035"/>
              <a:gd name="connsiteY4" fmla="*/ 5411096 h 6094473"/>
              <a:gd name="connsiteX5" fmla="*/ 0 w 12193035"/>
              <a:gd name="connsiteY5" fmla="*/ 0 h 6094473"/>
              <a:gd name="connsiteX0" fmla="*/ 0 w 12193035"/>
              <a:gd name="connsiteY0" fmla="*/ 0 h 6094473"/>
              <a:gd name="connsiteX1" fmla="*/ 12192000 w 12193035"/>
              <a:gd name="connsiteY1" fmla="*/ 0 h 6094473"/>
              <a:gd name="connsiteX2" fmla="*/ 12191999 w 12193035"/>
              <a:gd name="connsiteY2" fmla="*/ 4851698 h 6094473"/>
              <a:gd name="connsiteX3" fmla="*/ 7013986 w 12193035"/>
              <a:gd name="connsiteY3" fmla="*/ 6088829 h 6094473"/>
              <a:gd name="connsiteX4" fmla="*/ 10758 w 12193035"/>
              <a:gd name="connsiteY4" fmla="*/ 5411096 h 6094473"/>
              <a:gd name="connsiteX5" fmla="*/ 0 w 12193035"/>
              <a:gd name="connsiteY5" fmla="*/ 0 h 6094473"/>
              <a:gd name="connsiteX0" fmla="*/ 0 w 12193035"/>
              <a:gd name="connsiteY0" fmla="*/ 0 h 6090462"/>
              <a:gd name="connsiteX1" fmla="*/ 12192000 w 12193035"/>
              <a:gd name="connsiteY1" fmla="*/ 0 h 6090462"/>
              <a:gd name="connsiteX2" fmla="*/ 12191999 w 12193035"/>
              <a:gd name="connsiteY2" fmla="*/ 4851698 h 6090462"/>
              <a:gd name="connsiteX3" fmla="*/ 7013986 w 12193035"/>
              <a:gd name="connsiteY3" fmla="*/ 6088829 h 6090462"/>
              <a:gd name="connsiteX4" fmla="*/ 43031 w 12193035"/>
              <a:gd name="connsiteY4" fmla="*/ 5174428 h 6090462"/>
              <a:gd name="connsiteX5" fmla="*/ 0 w 12193035"/>
              <a:gd name="connsiteY5" fmla="*/ 0 h 6090462"/>
              <a:gd name="connsiteX0" fmla="*/ 0 w 12193035"/>
              <a:gd name="connsiteY0" fmla="*/ 0 h 6090105"/>
              <a:gd name="connsiteX1" fmla="*/ 12192000 w 12193035"/>
              <a:gd name="connsiteY1" fmla="*/ 0 h 6090105"/>
              <a:gd name="connsiteX2" fmla="*/ 12191999 w 12193035"/>
              <a:gd name="connsiteY2" fmla="*/ 4851698 h 6090105"/>
              <a:gd name="connsiteX3" fmla="*/ 7013986 w 12193035"/>
              <a:gd name="connsiteY3" fmla="*/ 6088829 h 6090105"/>
              <a:gd name="connsiteX4" fmla="*/ 8307 w 12193035"/>
              <a:gd name="connsiteY4" fmla="*/ 5139704 h 6090105"/>
              <a:gd name="connsiteX5" fmla="*/ 0 w 12193035"/>
              <a:gd name="connsiteY5" fmla="*/ 0 h 6090105"/>
              <a:gd name="connsiteX0" fmla="*/ 21879 w 12214914"/>
              <a:gd name="connsiteY0" fmla="*/ 0 h 6090430"/>
              <a:gd name="connsiteX1" fmla="*/ 12213879 w 12214914"/>
              <a:gd name="connsiteY1" fmla="*/ 0 h 6090430"/>
              <a:gd name="connsiteX2" fmla="*/ 12213878 w 12214914"/>
              <a:gd name="connsiteY2" fmla="*/ 4851698 h 6090430"/>
              <a:gd name="connsiteX3" fmla="*/ 7035865 w 12214914"/>
              <a:gd name="connsiteY3" fmla="*/ 6088829 h 6090430"/>
              <a:gd name="connsiteX4" fmla="*/ 0 w 12214914"/>
              <a:gd name="connsiteY4" fmla="*/ 5413554 h 6090430"/>
              <a:gd name="connsiteX5" fmla="*/ 21879 w 12214914"/>
              <a:gd name="connsiteY5" fmla="*/ 0 h 6090430"/>
              <a:gd name="connsiteX0" fmla="*/ 21879 w 12214914"/>
              <a:gd name="connsiteY0" fmla="*/ 0 h 5680646"/>
              <a:gd name="connsiteX1" fmla="*/ 12213879 w 12214914"/>
              <a:gd name="connsiteY1" fmla="*/ 0 h 5680646"/>
              <a:gd name="connsiteX2" fmla="*/ 12213878 w 12214914"/>
              <a:gd name="connsiteY2" fmla="*/ 4851698 h 5680646"/>
              <a:gd name="connsiteX3" fmla="*/ 6915124 w 12214914"/>
              <a:gd name="connsiteY3" fmla="*/ 5678055 h 5680646"/>
              <a:gd name="connsiteX4" fmla="*/ 0 w 12214914"/>
              <a:gd name="connsiteY4" fmla="*/ 5413554 h 5680646"/>
              <a:gd name="connsiteX5" fmla="*/ 21879 w 12214914"/>
              <a:gd name="connsiteY5" fmla="*/ 0 h 5680646"/>
              <a:gd name="connsiteX0" fmla="*/ 21879 w 12214914"/>
              <a:gd name="connsiteY0" fmla="*/ 0 h 5678055"/>
              <a:gd name="connsiteX1" fmla="*/ 12213879 w 12214914"/>
              <a:gd name="connsiteY1" fmla="*/ 0 h 5678055"/>
              <a:gd name="connsiteX2" fmla="*/ 12213878 w 12214914"/>
              <a:gd name="connsiteY2" fmla="*/ 4851698 h 5678055"/>
              <a:gd name="connsiteX3" fmla="*/ 6915124 w 12214914"/>
              <a:gd name="connsiteY3" fmla="*/ 5678055 h 5678055"/>
              <a:gd name="connsiteX4" fmla="*/ 0 w 12214914"/>
              <a:gd name="connsiteY4" fmla="*/ 5413554 h 5678055"/>
              <a:gd name="connsiteX5" fmla="*/ 21879 w 12214914"/>
              <a:gd name="connsiteY5" fmla="*/ 0 h 5678055"/>
              <a:gd name="connsiteX0" fmla="*/ 21879 w 12214914"/>
              <a:gd name="connsiteY0" fmla="*/ 0 h 5775859"/>
              <a:gd name="connsiteX1" fmla="*/ 12213879 w 12214914"/>
              <a:gd name="connsiteY1" fmla="*/ 0 h 5775859"/>
              <a:gd name="connsiteX2" fmla="*/ 12213878 w 12214914"/>
              <a:gd name="connsiteY2" fmla="*/ 4851698 h 5775859"/>
              <a:gd name="connsiteX3" fmla="*/ 6311415 w 12214914"/>
              <a:gd name="connsiteY3" fmla="*/ 5775859 h 5775859"/>
              <a:gd name="connsiteX4" fmla="*/ 0 w 12214914"/>
              <a:gd name="connsiteY4" fmla="*/ 5413554 h 5775859"/>
              <a:gd name="connsiteX5" fmla="*/ 21879 w 12214914"/>
              <a:gd name="connsiteY5" fmla="*/ 0 h 5775859"/>
              <a:gd name="connsiteX0" fmla="*/ 21879 w 12214914"/>
              <a:gd name="connsiteY0" fmla="*/ 0 h 6028707"/>
              <a:gd name="connsiteX1" fmla="*/ 12213879 w 12214914"/>
              <a:gd name="connsiteY1" fmla="*/ 0 h 6028707"/>
              <a:gd name="connsiteX2" fmla="*/ 12213878 w 12214914"/>
              <a:gd name="connsiteY2" fmla="*/ 4851698 h 6028707"/>
              <a:gd name="connsiteX3" fmla="*/ 6311415 w 12214914"/>
              <a:gd name="connsiteY3" fmla="*/ 5775859 h 6028707"/>
              <a:gd name="connsiteX4" fmla="*/ 0 w 12214914"/>
              <a:gd name="connsiteY4" fmla="*/ 5413554 h 6028707"/>
              <a:gd name="connsiteX5" fmla="*/ 21879 w 12214914"/>
              <a:gd name="connsiteY5" fmla="*/ 0 h 6028707"/>
              <a:gd name="connsiteX0" fmla="*/ 21879 w 12214914"/>
              <a:gd name="connsiteY0" fmla="*/ 0 h 6045831"/>
              <a:gd name="connsiteX1" fmla="*/ 12213879 w 12214914"/>
              <a:gd name="connsiteY1" fmla="*/ 0 h 6045831"/>
              <a:gd name="connsiteX2" fmla="*/ 12213878 w 12214914"/>
              <a:gd name="connsiteY2" fmla="*/ 4851698 h 6045831"/>
              <a:gd name="connsiteX3" fmla="*/ 6839660 w 12214914"/>
              <a:gd name="connsiteY3" fmla="*/ 5795420 h 6045831"/>
              <a:gd name="connsiteX4" fmla="*/ 0 w 12214914"/>
              <a:gd name="connsiteY4" fmla="*/ 5413554 h 6045831"/>
              <a:gd name="connsiteX5" fmla="*/ 21879 w 12214914"/>
              <a:gd name="connsiteY5" fmla="*/ 0 h 6045831"/>
              <a:gd name="connsiteX0" fmla="*/ 21879 w 12214914"/>
              <a:gd name="connsiteY0" fmla="*/ 0 h 6045831"/>
              <a:gd name="connsiteX1" fmla="*/ 12213879 w 12214914"/>
              <a:gd name="connsiteY1" fmla="*/ 0 h 6045831"/>
              <a:gd name="connsiteX2" fmla="*/ 12213878 w 12214914"/>
              <a:gd name="connsiteY2" fmla="*/ 4851698 h 6045831"/>
              <a:gd name="connsiteX3" fmla="*/ 6749104 w 12214914"/>
              <a:gd name="connsiteY3" fmla="*/ 5795420 h 6045831"/>
              <a:gd name="connsiteX4" fmla="*/ 0 w 12214914"/>
              <a:gd name="connsiteY4" fmla="*/ 5413554 h 6045831"/>
              <a:gd name="connsiteX5" fmla="*/ 21879 w 12214914"/>
              <a:gd name="connsiteY5" fmla="*/ 0 h 6045831"/>
              <a:gd name="connsiteX0" fmla="*/ 21879 w 12214914"/>
              <a:gd name="connsiteY0" fmla="*/ 0 h 6045831"/>
              <a:gd name="connsiteX1" fmla="*/ 12213879 w 12214914"/>
              <a:gd name="connsiteY1" fmla="*/ 0 h 6045831"/>
              <a:gd name="connsiteX2" fmla="*/ 12213878 w 12214914"/>
              <a:gd name="connsiteY2" fmla="*/ 4851698 h 6045831"/>
              <a:gd name="connsiteX3" fmla="*/ 6749104 w 12214914"/>
              <a:gd name="connsiteY3" fmla="*/ 5795420 h 6045831"/>
              <a:gd name="connsiteX4" fmla="*/ 0 w 12214914"/>
              <a:gd name="connsiteY4" fmla="*/ 5413554 h 6045831"/>
              <a:gd name="connsiteX5" fmla="*/ 21879 w 12214914"/>
              <a:gd name="connsiteY5" fmla="*/ 0 h 6045831"/>
              <a:gd name="connsiteX0" fmla="*/ 21879 w 12228970"/>
              <a:gd name="connsiteY0" fmla="*/ 0 h 6128296"/>
              <a:gd name="connsiteX1" fmla="*/ 12213879 w 12228970"/>
              <a:gd name="connsiteY1" fmla="*/ 0 h 6128296"/>
              <a:gd name="connsiteX2" fmla="*/ 12228970 w 12228970"/>
              <a:gd name="connsiteY2" fmla="*/ 5360276 h 6128296"/>
              <a:gd name="connsiteX3" fmla="*/ 6749104 w 12228970"/>
              <a:gd name="connsiteY3" fmla="*/ 5795420 h 6128296"/>
              <a:gd name="connsiteX4" fmla="*/ 0 w 12228970"/>
              <a:gd name="connsiteY4" fmla="*/ 5413554 h 6128296"/>
              <a:gd name="connsiteX5" fmla="*/ 21879 w 12228970"/>
              <a:gd name="connsiteY5" fmla="*/ 0 h 6128296"/>
              <a:gd name="connsiteX0" fmla="*/ 21879 w 12228970"/>
              <a:gd name="connsiteY0" fmla="*/ 0 h 6143755"/>
              <a:gd name="connsiteX1" fmla="*/ 12213879 w 12228970"/>
              <a:gd name="connsiteY1" fmla="*/ 0 h 6143755"/>
              <a:gd name="connsiteX2" fmla="*/ 12228970 w 12228970"/>
              <a:gd name="connsiteY2" fmla="*/ 5360276 h 6143755"/>
              <a:gd name="connsiteX3" fmla="*/ 6779289 w 12228970"/>
              <a:gd name="connsiteY3" fmla="*/ 5814981 h 6143755"/>
              <a:gd name="connsiteX4" fmla="*/ 0 w 12228970"/>
              <a:gd name="connsiteY4" fmla="*/ 5413554 h 6143755"/>
              <a:gd name="connsiteX5" fmla="*/ 21879 w 12228970"/>
              <a:gd name="connsiteY5" fmla="*/ 0 h 6143755"/>
              <a:gd name="connsiteX0" fmla="*/ 21879 w 12228970"/>
              <a:gd name="connsiteY0" fmla="*/ 0 h 6428674"/>
              <a:gd name="connsiteX1" fmla="*/ 12213879 w 12228970"/>
              <a:gd name="connsiteY1" fmla="*/ 0 h 6428674"/>
              <a:gd name="connsiteX2" fmla="*/ 12228970 w 12228970"/>
              <a:gd name="connsiteY2" fmla="*/ 5360276 h 6428674"/>
              <a:gd name="connsiteX3" fmla="*/ 6779289 w 12228970"/>
              <a:gd name="connsiteY3" fmla="*/ 5814981 h 6428674"/>
              <a:gd name="connsiteX4" fmla="*/ 0 w 12228970"/>
              <a:gd name="connsiteY4" fmla="*/ 5413554 h 6428674"/>
              <a:gd name="connsiteX5" fmla="*/ 21879 w 12228970"/>
              <a:gd name="connsiteY5" fmla="*/ 0 h 6428674"/>
              <a:gd name="connsiteX0" fmla="*/ 21879 w 12228970"/>
              <a:gd name="connsiteY0" fmla="*/ 0 h 6614148"/>
              <a:gd name="connsiteX1" fmla="*/ 12213879 w 12228970"/>
              <a:gd name="connsiteY1" fmla="*/ 0 h 6614148"/>
              <a:gd name="connsiteX2" fmla="*/ 12228970 w 12228970"/>
              <a:gd name="connsiteY2" fmla="*/ 5360276 h 6614148"/>
              <a:gd name="connsiteX3" fmla="*/ 6749104 w 12228970"/>
              <a:gd name="connsiteY3" fmla="*/ 6049709 h 6614148"/>
              <a:gd name="connsiteX4" fmla="*/ 0 w 12228970"/>
              <a:gd name="connsiteY4" fmla="*/ 5413554 h 6614148"/>
              <a:gd name="connsiteX5" fmla="*/ 21879 w 12228970"/>
              <a:gd name="connsiteY5" fmla="*/ 0 h 6614148"/>
              <a:gd name="connsiteX0" fmla="*/ 21879 w 12228970"/>
              <a:gd name="connsiteY0" fmla="*/ 0 h 6443820"/>
              <a:gd name="connsiteX1" fmla="*/ 12213879 w 12228970"/>
              <a:gd name="connsiteY1" fmla="*/ 0 h 6443820"/>
              <a:gd name="connsiteX2" fmla="*/ 12228970 w 12228970"/>
              <a:gd name="connsiteY2" fmla="*/ 5360276 h 6443820"/>
              <a:gd name="connsiteX3" fmla="*/ 6703826 w 12228970"/>
              <a:gd name="connsiteY3" fmla="*/ 5834541 h 6443820"/>
              <a:gd name="connsiteX4" fmla="*/ 0 w 12228970"/>
              <a:gd name="connsiteY4" fmla="*/ 5413554 h 6443820"/>
              <a:gd name="connsiteX5" fmla="*/ 21879 w 12228970"/>
              <a:gd name="connsiteY5" fmla="*/ 0 h 6443820"/>
              <a:gd name="connsiteX0" fmla="*/ 21879 w 12228970"/>
              <a:gd name="connsiteY0" fmla="*/ 0 h 6452471"/>
              <a:gd name="connsiteX1" fmla="*/ 12213879 w 12228970"/>
              <a:gd name="connsiteY1" fmla="*/ 0 h 6452471"/>
              <a:gd name="connsiteX2" fmla="*/ 12228970 w 12228970"/>
              <a:gd name="connsiteY2" fmla="*/ 5360276 h 6452471"/>
              <a:gd name="connsiteX3" fmla="*/ 6703826 w 12228970"/>
              <a:gd name="connsiteY3" fmla="*/ 5834541 h 6452471"/>
              <a:gd name="connsiteX4" fmla="*/ 0 w 12228970"/>
              <a:gd name="connsiteY4" fmla="*/ 5413554 h 6452471"/>
              <a:gd name="connsiteX5" fmla="*/ 21879 w 12228970"/>
              <a:gd name="connsiteY5" fmla="*/ 0 h 6452471"/>
              <a:gd name="connsiteX0" fmla="*/ 21879 w 12228970"/>
              <a:gd name="connsiteY0" fmla="*/ 0 h 6452471"/>
              <a:gd name="connsiteX1" fmla="*/ 12213879 w 12228970"/>
              <a:gd name="connsiteY1" fmla="*/ 0 h 6452471"/>
              <a:gd name="connsiteX2" fmla="*/ 12228970 w 12228970"/>
              <a:gd name="connsiteY2" fmla="*/ 5360276 h 6452471"/>
              <a:gd name="connsiteX3" fmla="*/ 6703826 w 12228970"/>
              <a:gd name="connsiteY3" fmla="*/ 5834541 h 6452471"/>
              <a:gd name="connsiteX4" fmla="*/ 0 w 12228970"/>
              <a:gd name="connsiteY4" fmla="*/ 5413554 h 6452471"/>
              <a:gd name="connsiteX5" fmla="*/ 21879 w 12228970"/>
              <a:gd name="connsiteY5" fmla="*/ 0 h 6452471"/>
              <a:gd name="connsiteX0" fmla="*/ 21879 w 12228970"/>
              <a:gd name="connsiteY0" fmla="*/ 0 h 6452471"/>
              <a:gd name="connsiteX1" fmla="*/ 12213879 w 12228970"/>
              <a:gd name="connsiteY1" fmla="*/ 0 h 6452471"/>
              <a:gd name="connsiteX2" fmla="*/ 12228970 w 12228970"/>
              <a:gd name="connsiteY2" fmla="*/ 5360276 h 6452471"/>
              <a:gd name="connsiteX3" fmla="*/ 6703826 w 12228970"/>
              <a:gd name="connsiteY3" fmla="*/ 5834541 h 6452471"/>
              <a:gd name="connsiteX4" fmla="*/ 0 w 12228970"/>
              <a:gd name="connsiteY4" fmla="*/ 5413554 h 6452471"/>
              <a:gd name="connsiteX5" fmla="*/ 21879 w 12228970"/>
              <a:gd name="connsiteY5" fmla="*/ 0 h 6452471"/>
              <a:gd name="connsiteX0" fmla="*/ 21879 w 12228970"/>
              <a:gd name="connsiteY0" fmla="*/ 0 h 6377393"/>
              <a:gd name="connsiteX1" fmla="*/ 12213879 w 12228970"/>
              <a:gd name="connsiteY1" fmla="*/ 0 h 6377393"/>
              <a:gd name="connsiteX2" fmla="*/ 12228970 w 12228970"/>
              <a:gd name="connsiteY2" fmla="*/ 5360276 h 6377393"/>
              <a:gd name="connsiteX3" fmla="*/ 5858634 w 12228970"/>
              <a:gd name="connsiteY3" fmla="*/ 5736737 h 6377393"/>
              <a:gd name="connsiteX4" fmla="*/ 0 w 12228970"/>
              <a:gd name="connsiteY4" fmla="*/ 5413554 h 6377393"/>
              <a:gd name="connsiteX5" fmla="*/ 21879 w 12228970"/>
              <a:gd name="connsiteY5" fmla="*/ 0 h 6377393"/>
              <a:gd name="connsiteX0" fmla="*/ 21879 w 12228970"/>
              <a:gd name="connsiteY0" fmla="*/ 0 h 6377395"/>
              <a:gd name="connsiteX1" fmla="*/ 12213879 w 12228970"/>
              <a:gd name="connsiteY1" fmla="*/ 0 h 6377395"/>
              <a:gd name="connsiteX2" fmla="*/ 12228970 w 12228970"/>
              <a:gd name="connsiteY2" fmla="*/ 5360276 h 6377395"/>
              <a:gd name="connsiteX3" fmla="*/ 5858634 w 12228970"/>
              <a:gd name="connsiteY3" fmla="*/ 5736737 h 6377395"/>
              <a:gd name="connsiteX4" fmla="*/ 0 w 12228970"/>
              <a:gd name="connsiteY4" fmla="*/ 5413554 h 6377395"/>
              <a:gd name="connsiteX5" fmla="*/ 21879 w 12228970"/>
              <a:gd name="connsiteY5" fmla="*/ 0 h 6377395"/>
              <a:gd name="connsiteX0" fmla="*/ 21879 w 12228970"/>
              <a:gd name="connsiteY0" fmla="*/ 0 h 6403438"/>
              <a:gd name="connsiteX1" fmla="*/ 12213879 w 12228970"/>
              <a:gd name="connsiteY1" fmla="*/ 0 h 6403438"/>
              <a:gd name="connsiteX2" fmla="*/ 12228970 w 12228970"/>
              <a:gd name="connsiteY2" fmla="*/ 5360276 h 6403438"/>
              <a:gd name="connsiteX3" fmla="*/ 5858634 w 12228970"/>
              <a:gd name="connsiteY3" fmla="*/ 5736737 h 6403438"/>
              <a:gd name="connsiteX4" fmla="*/ 0 w 12228970"/>
              <a:gd name="connsiteY4" fmla="*/ 5413554 h 6403438"/>
              <a:gd name="connsiteX5" fmla="*/ 21879 w 12228970"/>
              <a:gd name="connsiteY5" fmla="*/ 0 h 6403438"/>
              <a:gd name="connsiteX0" fmla="*/ 21879 w 12228970"/>
              <a:gd name="connsiteY0" fmla="*/ 0 h 5816116"/>
              <a:gd name="connsiteX1" fmla="*/ 12213879 w 12228970"/>
              <a:gd name="connsiteY1" fmla="*/ 0 h 5816116"/>
              <a:gd name="connsiteX2" fmla="*/ 12228970 w 12228970"/>
              <a:gd name="connsiteY2" fmla="*/ 5360276 h 5816116"/>
              <a:gd name="connsiteX3" fmla="*/ 5858634 w 12228970"/>
              <a:gd name="connsiteY3" fmla="*/ 5736737 h 5816116"/>
              <a:gd name="connsiteX4" fmla="*/ 0 w 12228970"/>
              <a:gd name="connsiteY4" fmla="*/ 5413554 h 5816116"/>
              <a:gd name="connsiteX5" fmla="*/ 21879 w 12228970"/>
              <a:gd name="connsiteY5" fmla="*/ 0 h 5816116"/>
              <a:gd name="connsiteX0" fmla="*/ 21879 w 12228970"/>
              <a:gd name="connsiteY0" fmla="*/ 0 h 6091170"/>
              <a:gd name="connsiteX1" fmla="*/ 12213879 w 12228970"/>
              <a:gd name="connsiteY1" fmla="*/ 0 h 6091170"/>
              <a:gd name="connsiteX2" fmla="*/ 12228970 w 12228970"/>
              <a:gd name="connsiteY2" fmla="*/ 5360276 h 6091170"/>
              <a:gd name="connsiteX3" fmla="*/ 5858634 w 12228970"/>
              <a:gd name="connsiteY3" fmla="*/ 5736737 h 6091170"/>
              <a:gd name="connsiteX4" fmla="*/ 0 w 12228970"/>
              <a:gd name="connsiteY4" fmla="*/ 5413554 h 6091170"/>
              <a:gd name="connsiteX5" fmla="*/ 21879 w 12228970"/>
              <a:gd name="connsiteY5" fmla="*/ 0 h 6091170"/>
              <a:gd name="connsiteX0" fmla="*/ 21879 w 12228970"/>
              <a:gd name="connsiteY0" fmla="*/ 0 h 6295140"/>
              <a:gd name="connsiteX1" fmla="*/ 12213879 w 12228970"/>
              <a:gd name="connsiteY1" fmla="*/ 0 h 6295140"/>
              <a:gd name="connsiteX2" fmla="*/ 12228970 w 12228970"/>
              <a:gd name="connsiteY2" fmla="*/ 5360276 h 6295140"/>
              <a:gd name="connsiteX3" fmla="*/ 6432158 w 12228970"/>
              <a:gd name="connsiteY3" fmla="*/ 5991027 h 6295140"/>
              <a:gd name="connsiteX4" fmla="*/ 0 w 12228970"/>
              <a:gd name="connsiteY4" fmla="*/ 5413554 h 6295140"/>
              <a:gd name="connsiteX5" fmla="*/ 21879 w 12228970"/>
              <a:gd name="connsiteY5" fmla="*/ 0 h 6295140"/>
              <a:gd name="connsiteX0" fmla="*/ 21879 w 12228970"/>
              <a:gd name="connsiteY0" fmla="*/ 0 h 6295140"/>
              <a:gd name="connsiteX1" fmla="*/ 12213879 w 12228970"/>
              <a:gd name="connsiteY1" fmla="*/ 0 h 6295140"/>
              <a:gd name="connsiteX2" fmla="*/ 12228970 w 12228970"/>
              <a:gd name="connsiteY2" fmla="*/ 5360276 h 6295140"/>
              <a:gd name="connsiteX3" fmla="*/ 6432158 w 12228970"/>
              <a:gd name="connsiteY3" fmla="*/ 5991027 h 6295140"/>
              <a:gd name="connsiteX4" fmla="*/ 0 w 12228970"/>
              <a:gd name="connsiteY4" fmla="*/ 5413554 h 6295140"/>
              <a:gd name="connsiteX5" fmla="*/ 21879 w 12228970"/>
              <a:gd name="connsiteY5" fmla="*/ 0 h 6295140"/>
              <a:gd name="connsiteX0" fmla="*/ 21879 w 12228970"/>
              <a:gd name="connsiteY0" fmla="*/ 0 h 6295140"/>
              <a:gd name="connsiteX1" fmla="*/ 12213879 w 12228970"/>
              <a:gd name="connsiteY1" fmla="*/ 0 h 6295140"/>
              <a:gd name="connsiteX2" fmla="*/ 12228970 w 12228970"/>
              <a:gd name="connsiteY2" fmla="*/ 5360276 h 6295140"/>
              <a:gd name="connsiteX3" fmla="*/ 6432158 w 12228970"/>
              <a:gd name="connsiteY3" fmla="*/ 5991027 h 6295140"/>
              <a:gd name="connsiteX4" fmla="*/ 0 w 12228970"/>
              <a:gd name="connsiteY4" fmla="*/ 5413554 h 6295140"/>
              <a:gd name="connsiteX5" fmla="*/ 21879 w 12228970"/>
              <a:gd name="connsiteY5" fmla="*/ 0 h 6295140"/>
              <a:gd name="connsiteX0" fmla="*/ 21879 w 12228970"/>
              <a:gd name="connsiteY0" fmla="*/ 0 h 6295140"/>
              <a:gd name="connsiteX1" fmla="*/ 12213879 w 12228970"/>
              <a:gd name="connsiteY1" fmla="*/ 0 h 6295140"/>
              <a:gd name="connsiteX2" fmla="*/ 12228970 w 12228970"/>
              <a:gd name="connsiteY2" fmla="*/ 5360276 h 6295140"/>
              <a:gd name="connsiteX3" fmla="*/ 6432158 w 12228970"/>
              <a:gd name="connsiteY3" fmla="*/ 5991027 h 6295140"/>
              <a:gd name="connsiteX4" fmla="*/ 0 w 12228970"/>
              <a:gd name="connsiteY4" fmla="*/ 5413554 h 6295140"/>
              <a:gd name="connsiteX5" fmla="*/ 21879 w 12228970"/>
              <a:gd name="connsiteY5" fmla="*/ 0 h 6295140"/>
              <a:gd name="connsiteX0" fmla="*/ 21879 w 12228970"/>
              <a:gd name="connsiteY0" fmla="*/ 0 h 6404899"/>
              <a:gd name="connsiteX1" fmla="*/ 12213879 w 12228970"/>
              <a:gd name="connsiteY1" fmla="*/ 0 h 6404899"/>
              <a:gd name="connsiteX2" fmla="*/ 12228970 w 12228970"/>
              <a:gd name="connsiteY2" fmla="*/ 5360276 h 6404899"/>
              <a:gd name="connsiteX3" fmla="*/ 6432158 w 12228970"/>
              <a:gd name="connsiteY3" fmla="*/ 5991027 h 6404899"/>
              <a:gd name="connsiteX4" fmla="*/ 0 w 12228970"/>
              <a:gd name="connsiteY4" fmla="*/ 5413554 h 6404899"/>
              <a:gd name="connsiteX5" fmla="*/ 21879 w 12228970"/>
              <a:gd name="connsiteY5" fmla="*/ 0 h 6404899"/>
              <a:gd name="connsiteX0" fmla="*/ 21879 w 12228970"/>
              <a:gd name="connsiteY0" fmla="*/ 0 h 6404897"/>
              <a:gd name="connsiteX1" fmla="*/ 12213879 w 12228970"/>
              <a:gd name="connsiteY1" fmla="*/ 0 h 6404897"/>
              <a:gd name="connsiteX2" fmla="*/ 12228970 w 12228970"/>
              <a:gd name="connsiteY2" fmla="*/ 5360276 h 6404897"/>
              <a:gd name="connsiteX3" fmla="*/ 6447250 w 12228970"/>
              <a:gd name="connsiteY3" fmla="*/ 5991027 h 6404897"/>
              <a:gd name="connsiteX4" fmla="*/ 0 w 12228970"/>
              <a:gd name="connsiteY4" fmla="*/ 5413554 h 6404897"/>
              <a:gd name="connsiteX5" fmla="*/ 21879 w 12228970"/>
              <a:gd name="connsiteY5" fmla="*/ 0 h 6404897"/>
              <a:gd name="connsiteX0" fmla="*/ 21879 w 12228970"/>
              <a:gd name="connsiteY0" fmla="*/ 0 h 6413393"/>
              <a:gd name="connsiteX1" fmla="*/ 12213879 w 12228970"/>
              <a:gd name="connsiteY1" fmla="*/ 0 h 6413393"/>
              <a:gd name="connsiteX2" fmla="*/ 12228970 w 12228970"/>
              <a:gd name="connsiteY2" fmla="*/ 5360276 h 6413393"/>
              <a:gd name="connsiteX3" fmla="*/ 6447250 w 12228970"/>
              <a:gd name="connsiteY3" fmla="*/ 5991027 h 6413393"/>
              <a:gd name="connsiteX4" fmla="*/ 0 w 12228970"/>
              <a:gd name="connsiteY4" fmla="*/ 5413554 h 6413393"/>
              <a:gd name="connsiteX5" fmla="*/ 21879 w 12228970"/>
              <a:gd name="connsiteY5" fmla="*/ 0 h 6413393"/>
              <a:gd name="connsiteX0" fmla="*/ 21879 w 12228970"/>
              <a:gd name="connsiteY0" fmla="*/ 0 h 6413393"/>
              <a:gd name="connsiteX1" fmla="*/ 12213879 w 12228970"/>
              <a:gd name="connsiteY1" fmla="*/ 0 h 6413393"/>
              <a:gd name="connsiteX2" fmla="*/ 12228970 w 12228970"/>
              <a:gd name="connsiteY2" fmla="*/ 5360276 h 6413393"/>
              <a:gd name="connsiteX3" fmla="*/ 6447250 w 12228970"/>
              <a:gd name="connsiteY3" fmla="*/ 5991027 h 6413393"/>
              <a:gd name="connsiteX4" fmla="*/ 0 w 12228970"/>
              <a:gd name="connsiteY4" fmla="*/ 5413554 h 6413393"/>
              <a:gd name="connsiteX5" fmla="*/ 21879 w 12228970"/>
              <a:gd name="connsiteY5" fmla="*/ 0 h 6413393"/>
              <a:gd name="connsiteX0" fmla="*/ 21879 w 12228970"/>
              <a:gd name="connsiteY0" fmla="*/ 0 h 6542353"/>
              <a:gd name="connsiteX1" fmla="*/ 12213879 w 12228970"/>
              <a:gd name="connsiteY1" fmla="*/ 0 h 6542353"/>
              <a:gd name="connsiteX2" fmla="*/ 12228970 w 12228970"/>
              <a:gd name="connsiteY2" fmla="*/ 5360276 h 6542353"/>
              <a:gd name="connsiteX3" fmla="*/ 6824569 w 12228970"/>
              <a:gd name="connsiteY3" fmla="*/ 6147512 h 6542353"/>
              <a:gd name="connsiteX4" fmla="*/ 0 w 12228970"/>
              <a:gd name="connsiteY4" fmla="*/ 5413554 h 6542353"/>
              <a:gd name="connsiteX5" fmla="*/ 21879 w 12228970"/>
              <a:gd name="connsiteY5" fmla="*/ 0 h 6542353"/>
              <a:gd name="connsiteX0" fmla="*/ 21879 w 12228970"/>
              <a:gd name="connsiteY0" fmla="*/ 0 h 6542355"/>
              <a:gd name="connsiteX1" fmla="*/ 12213879 w 12228970"/>
              <a:gd name="connsiteY1" fmla="*/ 0 h 6542355"/>
              <a:gd name="connsiteX2" fmla="*/ 12228970 w 12228970"/>
              <a:gd name="connsiteY2" fmla="*/ 5360276 h 6542355"/>
              <a:gd name="connsiteX3" fmla="*/ 6824569 w 12228970"/>
              <a:gd name="connsiteY3" fmla="*/ 6147512 h 6542355"/>
              <a:gd name="connsiteX4" fmla="*/ 0 w 12228970"/>
              <a:gd name="connsiteY4" fmla="*/ 5413554 h 6542355"/>
              <a:gd name="connsiteX5" fmla="*/ 21879 w 12228970"/>
              <a:gd name="connsiteY5" fmla="*/ 0 h 6542355"/>
              <a:gd name="connsiteX0" fmla="*/ 21879 w 12228970"/>
              <a:gd name="connsiteY0" fmla="*/ 0 h 6413393"/>
              <a:gd name="connsiteX1" fmla="*/ 12213879 w 12228970"/>
              <a:gd name="connsiteY1" fmla="*/ 0 h 6413393"/>
              <a:gd name="connsiteX2" fmla="*/ 12228970 w 12228970"/>
              <a:gd name="connsiteY2" fmla="*/ 5360276 h 6413393"/>
              <a:gd name="connsiteX3" fmla="*/ 6869848 w 12228970"/>
              <a:gd name="connsiteY3" fmla="*/ 5991027 h 6413393"/>
              <a:gd name="connsiteX4" fmla="*/ 0 w 12228970"/>
              <a:gd name="connsiteY4" fmla="*/ 5413554 h 6413393"/>
              <a:gd name="connsiteX5" fmla="*/ 21879 w 12228970"/>
              <a:gd name="connsiteY5" fmla="*/ 0 h 6413393"/>
              <a:gd name="connsiteX0" fmla="*/ 21879 w 12228970"/>
              <a:gd name="connsiteY0" fmla="*/ 0 h 6432532"/>
              <a:gd name="connsiteX1" fmla="*/ 12213879 w 12228970"/>
              <a:gd name="connsiteY1" fmla="*/ 0 h 6432532"/>
              <a:gd name="connsiteX2" fmla="*/ 12228970 w 12228970"/>
              <a:gd name="connsiteY2" fmla="*/ 5458079 h 6432532"/>
              <a:gd name="connsiteX3" fmla="*/ 6869848 w 12228970"/>
              <a:gd name="connsiteY3" fmla="*/ 5991027 h 6432532"/>
              <a:gd name="connsiteX4" fmla="*/ 0 w 12228970"/>
              <a:gd name="connsiteY4" fmla="*/ 5413554 h 6432532"/>
              <a:gd name="connsiteX5" fmla="*/ 21879 w 12228970"/>
              <a:gd name="connsiteY5" fmla="*/ 0 h 6432532"/>
              <a:gd name="connsiteX0" fmla="*/ 21879 w 12228970"/>
              <a:gd name="connsiteY0" fmla="*/ 0 h 6436065"/>
              <a:gd name="connsiteX1" fmla="*/ 12213879 w 12228970"/>
              <a:gd name="connsiteY1" fmla="*/ 0 h 6436065"/>
              <a:gd name="connsiteX2" fmla="*/ 12228970 w 12228970"/>
              <a:gd name="connsiteY2" fmla="*/ 5458079 h 6436065"/>
              <a:gd name="connsiteX3" fmla="*/ 6869848 w 12228970"/>
              <a:gd name="connsiteY3" fmla="*/ 5991027 h 6436065"/>
              <a:gd name="connsiteX4" fmla="*/ 0 w 12228970"/>
              <a:gd name="connsiteY4" fmla="*/ 5413554 h 6436065"/>
              <a:gd name="connsiteX5" fmla="*/ 21879 w 12228970"/>
              <a:gd name="connsiteY5" fmla="*/ 0 h 6436065"/>
              <a:gd name="connsiteX0" fmla="*/ 21879 w 12228970"/>
              <a:gd name="connsiteY0" fmla="*/ 0 h 6514470"/>
              <a:gd name="connsiteX1" fmla="*/ 12213879 w 12228970"/>
              <a:gd name="connsiteY1" fmla="*/ 0 h 6514470"/>
              <a:gd name="connsiteX2" fmla="*/ 12228970 w 12228970"/>
              <a:gd name="connsiteY2" fmla="*/ 5458079 h 6514470"/>
              <a:gd name="connsiteX3" fmla="*/ 6673642 w 12228970"/>
              <a:gd name="connsiteY3" fmla="*/ 6088830 h 6514470"/>
              <a:gd name="connsiteX4" fmla="*/ 0 w 12228970"/>
              <a:gd name="connsiteY4" fmla="*/ 5413554 h 6514470"/>
              <a:gd name="connsiteX5" fmla="*/ 21879 w 12228970"/>
              <a:gd name="connsiteY5" fmla="*/ 0 h 6514470"/>
              <a:gd name="connsiteX0" fmla="*/ 21879 w 12228970"/>
              <a:gd name="connsiteY0" fmla="*/ 0 h 6530342"/>
              <a:gd name="connsiteX1" fmla="*/ 12213879 w 12228970"/>
              <a:gd name="connsiteY1" fmla="*/ 0 h 6530342"/>
              <a:gd name="connsiteX2" fmla="*/ 12228970 w 12228970"/>
              <a:gd name="connsiteY2" fmla="*/ 5458079 h 6530342"/>
              <a:gd name="connsiteX3" fmla="*/ 6688735 w 12228970"/>
              <a:gd name="connsiteY3" fmla="*/ 6108391 h 6530342"/>
              <a:gd name="connsiteX4" fmla="*/ 0 w 12228970"/>
              <a:gd name="connsiteY4" fmla="*/ 5413554 h 6530342"/>
              <a:gd name="connsiteX5" fmla="*/ 21879 w 12228970"/>
              <a:gd name="connsiteY5" fmla="*/ 0 h 6530342"/>
              <a:gd name="connsiteX0" fmla="*/ 21879 w 12228970"/>
              <a:gd name="connsiteY0" fmla="*/ 0 h 6428930"/>
              <a:gd name="connsiteX1" fmla="*/ 12213879 w 12228970"/>
              <a:gd name="connsiteY1" fmla="*/ 0 h 6428930"/>
              <a:gd name="connsiteX2" fmla="*/ 12228970 w 12228970"/>
              <a:gd name="connsiteY2" fmla="*/ 5458079 h 6428930"/>
              <a:gd name="connsiteX3" fmla="*/ 6688735 w 12228970"/>
              <a:gd name="connsiteY3" fmla="*/ 6108391 h 6428930"/>
              <a:gd name="connsiteX4" fmla="*/ 0 w 12228970"/>
              <a:gd name="connsiteY4" fmla="*/ 5413554 h 6428930"/>
              <a:gd name="connsiteX5" fmla="*/ 21879 w 12228970"/>
              <a:gd name="connsiteY5" fmla="*/ 0 h 6428930"/>
              <a:gd name="connsiteX0" fmla="*/ 21879 w 12228970"/>
              <a:gd name="connsiteY0" fmla="*/ 0 h 6428930"/>
              <a:gd name="connsiteX1" fmla="*/ 12213879 w 12228970"/>
              <a:gd name="connsiteY1" fmla="*/ 0 h 6428930"/>
              <a:gd name="connsiteX2" fmla="*/ 12228970 w 12228970"/>
              <a:gd name="connsiteY2" fmla="*/ 5458080 h 6428930"/>
              <a:gd name="connsiteX3" fmla="*/ 6688735 w 12228970"/>
              <a:gd name="connsiteY3" fmla="*/ 6108391 h 6428930"/>
              <a:gd name="connsiteX4" fmla="*/ 0 w 12228970"/>
              <a:gd name="connsiteY4" fmla="*/ 5413554 h 6428930"/>
              <a:gd name="connsiteX5" fmla="*/ 21879 w 12228970"/>
              <a:gd name="connsiteY5" fmla="*/ 0 h 6428930"/>
              <a:gd name="connsiteX0" fmla="*/ 21879 w 12228970"/>
              <a:gd name="connsiteY0" fmla="*/ 0 h 6361704"/>
              <a:gd name="connsiteX1" fmla="*/ 12213879 w 12228970"/>
              <a:gd name="connsiteY1" fmla="*/ 0 h 6361704"/>
              <a:gd name="connsiteX2" fmla="*/ 12228970 w 12228970"/>
              <a:gd name="connsiteY2" fmla="*/ 5458080 h 6361704"/>
              <a:gd name="connsiteX3" fmla="*/ 6688735 w 12228970"/>
              <a:gd name="connsiteY3" fmla="*/ 6108391 h 6361704"/>
              <a:gd name="connsiteX4" fmla="*/ 0 w 12228970"/>
              <a:gd name="connsiteY4" fmla="*/ 5413554 h 6361704"/>
              <a:gd name="connsiteX5" fmla="*/ 21879 w 12228970"/>
              <a:gd name="connsiteY5" fmla="*/ 0 h 6361704"/>
              <a:gd name="connsiteX0" fmla="*/ 21879 w 12228970"/>
              <a:gd name="connsiteY0" fmla="*/ 0 h 6367922"/>
              <a:gd name="connsiteX1" fmla="*/ 12213879 w 12228970"/>
              <a:gd name="connsiteY1" fmla="*/ 0 h 6367922"/>
              <a:gd name="connsiteX2" fmla="*/ 12228970 w 12228970"/>
              <a:gd name="connsiteY2" fmla="*/ 5458080 h 6367922"/>
              <a:gd name="connsiteX3" fmla="*/ 6688735 w 12228970"/>
              <a:gd name="connsiteY3" fmla="*/ 6108391 h 6367922"/>
              <a:gd name="connsiteX4" fmla="*/ 0 w 12228970"/>
              <a:gd name="connsiteY4" fmla="*/ 5413554 h 6367922"/>
              <a:gd name="connsiteX5" fmla="*/ 21879 w 12228970"/>
              <a:gd name="connsiteY5" fmla="*/ 0 h 6367922"/>
              <a:gd name="connsiteX0" fmla="*/ 21879 w 12228970"/>
              <a:gd name="connsiteY0" fmla="*/ 0 h 6361173"/>
              <a:gd name="connsiteX1" fmla="*/ 12213879 w 12228970"/>
              <a:gd name="connsiteY1" fmla="*/ 0 h 6361173"/>
              <a:gd name="connsiteX2" fmla="*/ 12228970 w 12228970"/>
              <a:gd name="connsiteY2" fmla="*/ 5399398 h 6361173"/>
              <a:gd name="connsiteX3" fmla="*/ 6688735 w 12228970"/>
              <a:gd name="connsiteY3" fmla="*/ 6108391 h 6361173"/>
              <a:gd name="connsiteX4" fmla="*/ 0 w 12228970"/>
              <a:gd name="connsiteY4" fmla="*/ 5413554 h 6361173"/>
              <a:gd name="connsiteX5" fmla="*/ 21879 w 12228970"/>
              <a:gd name="connsiteY5" fmla="*/ 0 h 6361173"/>
              <a:gd name="connsiteX0" fmla="*/ 21879 w 12228970"/>
              <a:gd name="connsiteY0" fmla="*/ 0 h 6371616"/>
              <a:gd name="connsiteX1" fmla="*/ 12213879 w 12228970"/>
              <a:gd name="connsiteY1" fmla="*/ 0 h 6371616"/>
              <a:gd name="connsiteX2" fmla="*/ 12228970 w 12228970"/>
              <a:gd name="connsiteY2" fmla="*/ 5399398 h 6371616"/>
              <a:gd name="connsiteX3" fmla="*/ 6688735 w 12228970"/>
              <a:gd name="connsiteY3" fmla="*/ 6108391 h 6371616"/>
              <a:gd name="connsiteX4" fmla="*/ 0 w 12228970"/>
              <a:gd name="connsiteY4" fmla="*/ 5413554 h 6371616"/>
              <a:gd name="connsiteX5" fmla="*/ 21879 w 12228970"/>
              <a:gd name="connsiteY5" fmla="*/ 0 h 6371616"/>
              <a:gd name="connsiteX0" fmla="*/ 21879 w 12228970"/>
              <a:gd name="connsiteY0" fmla="*/ 0 h 6378251"/>
              <a:gd name="connsiteX1" fmla="*/ 12213879 w 12228970"/>
              <a:gd name="connsiteY1" fmla="*/ 0 h 6378251"/>
              <a:gd name="connsiteX2" fmla="*/ 12228970 w 12228970"/>
              <a:gd name="connsiteY2" fmla="*/ 5399398 h 6378251"/>
              <a:gd name="connsiteX3" fmla="*/ 6688735 w 12228970"/>
              <a:gd name="connsiteY3" fmla="*/ 6108391 h 6378251"/>
              <a:gd name="connsiteX4" fmla="*/ 0 w 12228970"/>
              <a:gd name="connsiteY4" fmla="*/ 5413554 h 6378251"/>
              <a:gd name="connsiteX5" fmla="*/ 21879 w 12228970"/>
              <a:gd name="connsiteY5" fmla="*/ 0 h 6378251"/>
              <a:gd name="connsiteX0" fmla="*/ 21879 w 12214271"/>
              <a:gd name="connsiteY0" fmla="*/ 0 h 6393964"/>
              <a:gd name="connsiteX1" fmla="*/ 12213879 w 12214271"/>
              <a:gd name="connsiteY1" fmla="*/ 0 h 6393964"/>
              <a:gd name="connsiteX2" fmla="*/ 12198785 w 12214271"/>
              <a:gd name="connsiteY2" fmla="*/ 5516762 h 6393964"/>
              <a:gd name="connsiteX3" fmla="*/ 6688735 w 12214271"/>
              <a:gd name="connsiteY3" fmla="*/ 6108391 h 6393964"/>
              <a:gd name="connsiteX4" fmla="*/ 0 w 12214271"/>
              <a:gd name="connsiteY4" fmla="*/ 5413554 h 6393964"/>
              <a:gd name="connsiteX5" fmla="*/ 21879 w 12214271"/>
              <a:gd name="connsiteY5" fmla="*/ 0 h 6393964"/>
              <a:gd name="connsiteX0" fmla="*/ 21879 w 12214271"/>
              <a:gd name="connsiteY0" fmla="*/ 0 h 6360218"/>
              <a:gd name="connsiteX1" fmla="*/ 12213879 w 12214271"/>
              <a:gd name="connsiteY1" fmla="*/ 0 h 6360218"/>
              <a:gd name="connsiteX2" fmla="*/ 12198785 w 12214271"/>
              <a:gd name="connsiteY2" fmla="*/ 5516762 h 6360218"/>
              <a:gd name="connsiteX3" fmla="*/ 6688735 w 12214271"/>
              <a:gd name="connsiteY3" fmla="*/ 6108391 h 6360218"/>
              <a:gd name="connsiteX4" fmla="*/ 0 w 12214271"/>
              <a:gd name="connsiteY4" fmla="*/ 5413554 h 6360218"/>
              <a:gd name="connsiteX5" fmla="*/ 21879 w 12214271"/>
              <a:gd name="connsiteY5" fmla="*/ 0 h 6360218"/>
              <a:gd name="connsiteX0" fmla="*/ 21879 w 12214271"/>
              <a:gd name="connsiteY0" fmla="*/ 0 h 6370650"/>
              <a:gd name="connsiteX1" fmla="*/ 12213879 w 12214271"/>
              <a:gd name="connsiteY1" fmla="*/ 0 h 6370650"/>
              <a:gd name="connsiteX2" fmla="*/ 12198785 w 12214271"/>
              <a:gd name="connsiteY2" fmla="*/ 5516762 h 6370650"/>
              <a:gd name="connsiteX3" fmla="*/ 6688735 w 12214271"/>
              <a:gd name="connsiteY3" fmla="*/ 6108391 h 6370650"/>
              <a:gd name="connsiteX4" fmla="*/ 0 w 12214271"/>
              <a:gd name="connsiteY4" fmla="*/ 5413554 h 6370650"/>
              <a:gd name="connsiteX5" fmla="*/ 21879 w 12214271"/>
              <a:gd name="connsiteY5" fmla="*/ 0 h 6370650"/>
              <a:gd name="connsiteX0" fmla="*/ 21879 w 12214271"/>
              <a:gd name="connsiteY0" fmla="*/ 0 h 6366008"/>
              <a:gd name="connsiteX1" fmla="*/ 12213879 w 12214271"/>
              <a:gd name="connsiteY1" fmla="*/ 0 h 6366008"/>
              <a:gd name="connsiteX2" fmla="*/ 12198785 w 12214271"/>
              <a:gd name="connsiteY2" fmla="*/ 5477641 h 6366008"/>
              <a:gd name="connsiteX3" fmla="*/ 6688735 w 12214271"/>
              <a:gd name="connsiteY3" fmla="*/ 6108391 h 6366008"/>
              <a:gd name="connsiteX4" fmla="*/ 0 w 12214271"/>
              <a:gd name="connsiteY4" fmla="*/ 5413554 h 6366008"/>
              <a:gd name="connsiteX5" fmla="*/ 21879 w 12214271"/>
              <a:gd name="connsiteY5" fmla="*/ 0 h 6366008"/>
              <a:gd name="connsiteX0" fmla="*/ 21879 w 12214271"/>
              <a:gd name="connsiteY0" fmla="*/ 0 h 6372421"/>
              <a:gd name="connsiteX1" fmla="*/ 12213879 w 12214271"/>
              <a:gd name="connsiteY1" fmla="*/ 0 h 6372421"/>
              <a:gd name="connsiteX2" fmla="*/ 12198785 w 12214271"/>
              <a:gd name="connsiteY2" fmla="*/ 5477641 h 6372421"/>
              <a:gd name="connsiteX3" fmla="*/ 6688735 w 12214271"/>
              <a:gd name="connsiteY3" fmla="*/ 6108391 h 6372421"/>
              <a:gd name="connsiteX4" fmla="*/ 0 w 12214271"/>
              <a:gd name="connsiteY4" fmla="*/ 5413554 h 6372421"/>
              <a:gd name="connsiteX5" fmla="*/ 21879 w 12214271"/>
              <a:gd name="connsiteY5" fmla="*/ 0 h 6372421"/>
              <a:gd name="connsiteX0" fmla="*/ 21879 w 12214271"/>
              <a:gd name="connsiteY0" fmla="*/ 0 h 6388530"/>
              <a:gd name="connsiteX1" fmla="*/ 12213879 w 12214271"/>
              <a:gd name="connsiteY1" fmla="*/ 0 h 6388530"/>
              <a:gd name="connsiteX2" fmla="*/ 12198785 w 12214271"/>
              <a:gd name="connsiteY2" fmla="*/ 5477641 h 6388530"/>
              <a:gd name="connsiteX3" fmla="*/ 6688735 w 12214271"/>
              <a:gd name="connsiteY3" fmla="*/ 6108391 h 6388530"/>
              <a:gd name="connsiteX4" fmla="*/ 0 w 12214271"/>
              <a:gd name="connsiteY4" fmla="*/ 5413554 h 6388530"/>
              <a:gd name="connsiteX5" fmla="*/ 21879 w 12214271"/>
              <a:gd name="connsiteY5" fmla="*/ 0 h 6388530"/>
              <a:gd name="connsiteX0" fmla="*/ 21879 w 12214271"/>
              <a:gd name="connsiteY0" fmla="*/ 0 h 6234376"/>
              <a:gd name="connsiteX1" fmla="*/ 12213879 w 12214271"/>
              <a:gd name="connsiteY1" fmla="*/ 0 h 6234376"/>
              <a:gd name="connsiteX2" fmla="*/ 12198785 w 12214271"/>
              <a:gd name="connsiteY2" fmla="*/ 5477641 h 6234376"/>
              <a:gd name="connsiteX3" fmla="*/ 6688735 w 12214271"/>
              <a:gd name="connsiteY3" fmla="*/ 6108391 h 6234376"/>
              <a:gd name="connsiteX4" fmla="*/ 0 w 12214271"/>
              <a:gd name="connsiteY4" fmla="*/ 5413554 h 6234376"/>
              <a:gd name="connsiteX5" fmla="*/ 21879 w 12214271"/>
              <a:gd name="connsiteY5" fmla="*/ 0 h 6234376"/>
              <a:gd name="connsiteX0" fmla="*/ 21879 w 12214271"/>
              <a:gd name="connsiteY0" fmla="*/ 0 h 6278884"/>
              <a:gd name="connsiteX1" fmla="*/ 12213879 w 12214271"/>
              <a:gd name="connsiteY1" fmla="*/ 0 h 6278884"/>
              <a:gd name="connsiteX2" fmla="*/ 12198785 w 12214271"/>
              <a:gd name="connsiteY2" fmla="*/ 5477641 h 6278884"/>
              <a:gd name="connsiteX3" fmla="*/ 6688735 w 12214271"/>
              <a:gd name="connsiteY3" fmla="*/ 6108391 h 6278884"/>
              <a:gd name="connsiteX4" fmla="*/ 0 w 12214271"/>
              <a:gd name="connsiteY4" fmla="*/ 5413554 h 6278884"/>
              <a:gd name="connsiteX5" fmla="*/ 21879 w 12214271"/>
              <a:gd name="connsiteY5" fmla="*/ 0 h 6278884"/>
              <a:gd name="connsiteX0" fmla="*/ 21879 w 12214271"/>
              <a:gd name="connsiteY0" fmla="*/ 0 h 6298030"/>
              <a:gd name="connsiteX1" fmla="*/ 12213879 w 12214271"/>
              <a:gd name="connsiteY1" fmla="*/ 0 h 6298030"/>
              <a:gd name="connsiteX2" fmla="*/ 12198785 w 12214271"/>
              <a:gd name="connsiteY2" fmla="*/ 5477641 h 6298030"/>
              <a:gd name="connsiteX3" fmla="*/ 6688735 w 12214271"/>
              <a:gd name="connsiteY3" fmla="*/ 6108391 h 6298030"/>
              <a:gd name="connsiteX4" fmla="*/ 0 w 12214271"/>
              <a:gd name="connsiteY4" fmla="*/ 5413554 h 6298030"/>
              <a:gd name="connsiteX5" fmla="*/ 21879 w 12214271"/>
              <a:gd name="connsiteY5" fmla="*/ 0 h 6298030"/>
              <a:gd name="connsiteX0" fmla="*/ 21879 w 12214271"/>
              <a:gd name="connsiteY0" fmla="*/ 0 h 6321132"/>
              <a:gd name="connsiteX1" fmla="*/ 12213879 w 12214271"/>
              <a:gd name="connsiteY1" fmla="*/ 0 h 6321132"/>
              <a:gd name="connsiteX2" fmla="*/ 12198785 w 12214271"/>
              <a:gd name="connsiteY2" fmla="*/ 5477641 h 6321132"/>
              <a:gd name="connsiteX3" fmla="*/ 6688735 w 12214271"/>
              <a:gd name="connsiteY3" fmla="*/ 6108391 h 6321132"/>
              <a:gd name="connsiteX4" fmla="*/ 0 w 12214271"/>
              <a:gd name="connsiteY4" fmla="*/ 5413554 h 6321132"/>
              <a:gd name="connsiteX5" fmla="*/ 21879 w 12214271"/>
              <a:gd name="connsiteY5" fmla="*/ 0 h 6321132"/>
              <a:gd name="connsiteX0" fmla="*/ 21879 w 12214271"/>
              <a:gd name="connsiteY0" fmla="*/ 0 h 6430158"/>
              <a:gd name="connsiteX1" fmla="*/ 12213879 w 12214271"/>
              <a:gd name="connsiteY1" fmla="*/ 0 h 6430158"/>
              <a:gd name="connsiteX2" fmla="*/ 12198785 w 12214271"/>
              <a:gd name="connsiteY2" fmla="*/ 5477641 h 6430158"/>
              <a:gd name="connsiteX3" fmla="*/ 6688735 w 12214271"/>
              <a:gd name="connsiteY3" fmla="*/ 6108391 h 6430158"/>
              <a:gd name="connsiteX4" fmla="*/ 0 w 12214271"/>
              <a:gd name="connsiteY4" fmla="*/ 5413554 h 6430158"/>
              <a:gd name="connsiteX5" fmla="*/ 21879 w 12214271"/>
              <a:gd name="connsiteY5" fmla="*/ 0 h 6430158"/>
              <a:gd name="connsiteX0" fmla="*/ 21879 w 12214271"/>
              <a:gd name="connsiteY0" fmla="*/ 0 h 6446580"/>
              <a:gd name="connsiteX1" fmla="*/ 12213879 w 12214271"/>
              <a:gd name="connsiteY1" fmla="*/ 0 h 6446580"/>
              <a:gd name="connsiteX2" fmla="*/ 12198785 w 12214271"/>
              <a:gd name="connsiteY2" fmla="*/ 5477641 h 6446580"/>
              <a:gd name="connsiteX3" fmla="*/ 6688735 w 12214271"/>
              <a:gd name="connsiteY3" fmla="*/ 6108391 h 6446580"/>
              <a:gd name="connsiteX4" fmla="*/ 0 w 12214271"/>
              <a:gd name="connsiteY4" fmla="*/ 5413554 h 6446580"/>
              <a:gd name="connsiteX5" fmla="*/ 21879 w 12214271"/>
              <a:gd name="connsiteY5" fmla="*/ 0 h 6446580"/>
              <a:gd name="connsiteX0" fmla="*/ 0 w 12237750"/>
              <a:gd name="connsiteY0" fmla="*/ 0 h 6446578"/>
              <a:gd name="connsiteX1" fmla="*/ 12237358 w 12237750"/>
              <a:gd name="connsiteY1" fmla="*/ 0 h 6446578"/>
              <a:gd name="connsiteX2" fmla="*/ 12222264 w 12237750"/>
              <a:gd name="connsiteY2" fmla="*/ 5477641 h 6446578"/>
              <a:gd name="connsiteX3" fmla="*/ 6712214 w 12237750"/>
              <a:gd name="connsiteY3" fmla="*/ 6108391 h 6446578"/>
              <a:gd name="connsiteX4" fmla="*/ 23479 w 12237750"/>
              <a:gd name="connsiteY4" fmla="*/ 5413554 h 6446578"/>
              <a:gd name="connsiteX5" fmla="*/ 0 w 12237750"/>
              <a:gd name="connsiteY5" fmla="*/ 0 h 6446578"/>
            </a:gdLst>
            <a:rect l="l" t="t" r="r" b="b"/>
            <a:pathLst>
              <a:path w="12237750" h="6446578">
                <a:moveTo>
                  <a:pt x="0" y="0"/>
                </a:moveTo>
                <a:lnTo>
                  <a:pt x="12237358" y="0"/>
                </a:lnTo>
                <a:cubicBezTo>
                  <a:pt x="12240944" y="1613647"/>
                  <a:pt x="12218678" y="3863994"/>
                  <a:pt x="12222264" y="5477641"/>
                </a:cubicBezTo>
                <a:cubicBezTo>
                  <a:pt x="11108841" y="5996303"/>
                  <a:pt x="9620405" y="6960188"/>
                  <a:pt x="6712214" y="6108391"/>
                </a:cubicBezTo>
                <a:cubicBezTo>
                  <a:pt x="2719545" y="5197917"/>
                  <a:pt x="2045917" y="5087239"/>
                  <a:pt x="23479" y="5413554"/>
                </a:cubicBez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8bc4b505d1b45e3">
              <a:alphaModFix amt="88000"/>
            </a:blip>
            <a:srcRect l="0" t="0" r="0" b="0"/>
            <a:stretch>
              <a:fillRect l="0" t="0" r="0" b="0"/>
            </a:stretch>
          </a:blip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28775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证据与边界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我们选择什么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43FA6B1E-6A0C-42C1-977B-1C7C215D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阶段结论：灰盒路线值得继续，但绝对 SLA 必须由业务真机闭环确认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353301AC-4A4E-4AFC-8A8F-AB0160B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D529D44A-88A7-4181-A042-3BA6E357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性能不是 FLOPs÷峰值算力；shape、route、并行与调度会共同改写关键路径。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B4C2776C-EBF1-4D21-868B-C1962FD4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显式生成目标图，解析可解析的量，只在同机制区间内学习有界残差。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DFEBB4C2-6AF1-402C-AF25-C938AFEB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当前证据支持继续投资，不等于已经证明跨模型、跨卡、跨 runtime 通用。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6B50FEB5-BFED-4397-93E8-11F56485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BCED0BD-8038-4BD4-81FB-3586373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71D1CCD4-5F75-4AF2-956E-089A9D9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核心矛盾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41FDDD43-E1A6-4E82-A256-8140CA41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同一模型会因为 seqLen、batch、dtype、TP/PP/EP、卡数和 runtime 选择不同 op/fusion/tactic；只拟合 model→latency 会把离散路径跳变当连续规律。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7C2C2D2E-77D5-47AB-9F41-9B8CA483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00300"/>
            <a:ext cx="3476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2992EC2-09D6-4933-BB09-E61673B2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003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3C90F38A-0933-47B3-9E5B-2FFA4DE5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4212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必须分层回答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B0268519-B4FE-42F0-8079-AD42AD25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724150"/>
            <a:ext cx="33242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L1：目标配置到底执行什么？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L2：每个 compute/communication component 要多久？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L3：依赖、重叠、争用、队列如何形成端到端关键路径？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Output：绝对值、排序、区间、瓶颈与拒绝原因。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088227BB-C04A-4D44-A211-A1889D76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962400"/>
            <a:ext cx="34766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1FC6678-F75F-4D31-A8C3-12177983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9624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621F4A68-CB68-48AD-977A-9F23D2F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9833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当前决策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AE0DD839-18D5-44AA-BD81-DD4EC4F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286250"/>
            <a:ext cx="33242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继续 route-aware graybox：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exact measurement cache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route/tactic/fusion gate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tile/wave/roofline mechanism baseline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selective segmented residual calibration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OOD→microbenchmark fallback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L3 event simulation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暂不承诺业务 SLA、容量与成本数字。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C8F2AC10-180A-4E29-A6CD-23BBA4AC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81100"/>
            <a:ext cx="3028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6124F48-6750-4573-9400-13FF66C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811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A5AB7E9E-C1C4-4AD3-9372-5BCDAF5F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2020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Input → L1 → L2 → L3 → Output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FF6DB221-FB2A-413C-9186-1A1E6A0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049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问题合同 → 目标执行图 → component 报价与支持域 → 资源事件关键路径 → 绝对值/排序/区间/拒绝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71BD8917-E256-46FC-9A76-BC52AC90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3028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374D848-C04C-4470-9847-1312F7C4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58F50A50-CD4E-4F69-B62C-2591B768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593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 的三层 fallback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03C39273-5D32-4C1C-B595-35E896B6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876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R0 精确命中：同 fingerprint 直接查实测。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R1 域内插值：同 route、同 dtype/layout、受控 shape 区间。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R2 机制残差：roofline/tile/wave × learned utilization/residual。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R3 拒绝实测：新 tactic、越界或不确定性过高。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DD78C310-2038-4F76-B236-9A8B8277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3028950" cy="2295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400BB33-61B5-4F58-B98C-86B68F2D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38D282D7-F5CE-4298-86F8-ECE65E13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357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五条工程原则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37E2FC0B-B6DE-40F0-B6AC-70715204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38600"/>
            <a:ext cx="28765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1. 能解析的不学：FLOPs、bytes、tiles、waves。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2. 离散分支先分类：fusion/algorithm/tactic。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3. shape 显式推导：按目标配置生成，而非从旧 trace 猜。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4. 目标匹配：ranking 用于 shortlist；绝对头用于 SLA。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5. 数据闭环：校准只在有偏段触发，未知段直接回测。</a:t>
            </a:r>
          </a:p>
        </p:txBody>
      </p:sp>
      <p:sp>
        <p:nvSpPr>
          <p:cNvPr id="429" name="metric">
            <a:extLst xmlns:a="http://schemas.openxmlformats.org/drawingml/2006/main">
              <a:ext uri="{FF2B5EF4-FFF2-40B4-BE49-F238E27FC236}">
                <a16:creationId xmlns:a16="http://schemas.microsoft.com/office/drawing/2014/main" id="{3B2F2B1F-F0E8-44AA-844F-BDDEC116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001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text">
            <a:extLst xmlns:a="http://schemas.openxmlformats.org/drawingml/2006/main">
              <a:ext uri="{FF2B5EF4-FFF2-40B4-BE49-F238E27FC236}">
                <a16:creationId xmlns:a16="http://schemas.microsoft.com/office/drawing/2014/main" id="{17403101-039D-433B-B687-51E0BD53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4777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36C74"/>
                </a:solidFill>
                <a:latin typeface="Arial"/>
                <a:ea typeface="Arial"/>
                <a:cs typeface="Arial"/>
              </a:rPr>
              <a:t>0.688%</a:t>
            </a:r>
          </a:p>
        </p:txBody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530D3ECF-27A5-4E43-B415-5D6D282A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62862"/>
            <a:ext cx="8382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NeuSight 单例 artifact APE</a:t>
            </a:r>
          </a:p>
        </p:txBody>
      </p:sp>
      <p:sp>
        <p:nvSpPr>
          <p:cNvPr id="432" name="metric">
            <a:extLst xmlns:a="http://schemas.openxmlformats.org/drawingml/2006/main">
              <a:ext uri="{FF2B5EF4-FFF2-40B4-BE49-F238E27FC236}">
                <a16:creationId xmlns:a16="http://schemas.microsoft.com/office/drawing/2014/main" id="{3FD57DEE-0830-4A8F-8481-579533DE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C82FDFC1-AA5E-4461-96B5-AE41052C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4777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36C74"/>
                </a:solidFill>
                <a:latin typeface="Arial"/>
                <a:ea typeface="Arial"/>
                <a:cs typeface="Arial"/>
              </a:rPr>
              <a:t>31.264%</a:t>
            </a:r>
          </a:p>
        </p:txBody>
      </p:sp>
      <p:sp>
        <p:nvSpPr>
          <p:cNvPr id="434" name="text">
            <a:extLst xmlns:a="http://schemas.openxmlformats.org/drawingml/2006/main">
              <a:ext uri="{FF2B5EF4-FFF2-40B4-BE49-F238E27FC236}">
                <a16:creationId xmlns:a16="http://schemas.microsoft.com/office/drawing/2014/main" id="{5AAFC55F-48BD-4C87-8BEB-D3B95E99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862"/>
            <a:ext cx="8382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同 opgraph 纯 Roofline APE</a:t>
            </a:r>
          </a:p>
        </p:txBody>
      </p:sp>
      <p:sp>
        <p:nvSpPr>
          <p:cNvPr id="435" name="metric">
            <a:extLst xmlns:a="http://schemas.openxmlformats.org/drawingml/2006/main">
              <a:ext uri="{FF2B5EF4-FFF2-40B4-BE49-F238E27FC236}">
                <a16:creationId xmlns:a16="http://schemas.microsoft.com/office/drawing/2014/main" id="{1F15B23E-6D65-42D1-A2F9-C6E6F75D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2001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1A9D49D3-5F6B-4234-9638-2D124A94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4777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36C74"/>
                </a:solidFill>
                <a:latin typeface="Arial"/>
                <a:ea typeface="Arial"/>
                <a:cs typeface="Arial"/>
              </a:rPr>
              <a:t>1,800</a:t>
            </a:r>
          </a:p>
        </p:txBody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9893C44F-8CAF-4776-8EF7-78BA9E0D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62862"/>
            <a:ext cx="8382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灰盒校准 runs</a:t>
            </a:r>
          </a:p>
        </p:txBody>
      </p:sp>
      <p:sp>
        <p:nvSpPr>
          <p:cNvPr id="438" name="card">
            <a:extLst xmlns:a="http://schemas.openxmlformats.org/drawingml/2006/main">
              <a:ext uri="{FF2B5EF4-FFF2-40B4-BE49-F238E27FC236}">
                <a16:creationId xmlns:a16="http://schemas.microsoft.com/office/drawing/2014/main" id="{94F54670-2E86-481B-914E-7429B53A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29813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8FE71B5-2ACC-4A9F-A2BD-37473526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AF8A9B2C-9B56-416F-819B-944F2F3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640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公开真测 CSV：少量分段校准有效</a:t>
            </a:r>
          </a:p>
        </p:txBody>
      </p:sp>
      <p:sp>
        <p:nvSpPr>
          <p:cNvPr id="441" name="text">
            <a:extLst xmlns:a="http://schemas.openxmlformats.org/drawingml/2006/main">
              <a:ext uri="{FF2B5EF4-FFF2-40B4-BE49-F238E27FC236}">
                <a16:creationId xmlns:a16="http://schemas.microsoft.com/office/drawing/2014/main" id="{38AE13D1-2786-44A4-A663-0262D4E3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2828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32 条 coverage 样本后，always-segmented 相对 global calibration 的 MAPE 改善：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A100-80：18.35%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H100：23.97%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L4：18.98%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但 selective gate 本轮未优于 always-segmented，复杂门禁尚未被证实。</a:t>
            </a:r>
          </a:p>
        </p:txBody>
      </p:sp>
      <p:sp>
        <p:nvSpPr>
          <p:cNvPr id="442" name="card">
            <a:extLst xmlns:a="http://schemas.openxmlformats.org/drawingml/2006/main">
              <a:ext uri="{FF2B5EF4-FFF2-40B4-BE49-F238E27FC236}">
                <a16:creationId xmlns:a16="http://schemas.microsoft.com/office/drawing/2014/main" id="{44160A7A-3DA6-4C1D-950C-F06C0598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29813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9628D19-AA05-4777-9CE4-7ADA3BB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C1D83304-A1E6-4DF6-A832-3D0A50C9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118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关键反例</a:t>
            </a:r>
          </a:p>
        </p:txBody>
      </p:sp>
      <p:sp>
        <p:nvSpPr>
          <p:cNvPr id="445" name="text">
            <a:extLst xmlns:a="http://schemas.openxmlformats.org/drawingml/2006/main">
              <a:ext uri="{FF2B5EF4-FFF2-40B4-BE49-F238E27FC236}">
                <a16:creationId xmlns:a16="http://schemas.microsoft.com/office/drawing/2014/main" id="{A829A830-8220-4DED-89B5-B4BA3C60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2828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H100 零样本 gray 19.14%，劣于 direct 15.45%；TPU cost model 在 manual OOD 上 learned 6.3%，反而差于 analytic 2.3%。机制先验不是自动胜出，必须同时有 route/OOD 判定。</a:t>
            </a:r>
          </a:p>
        </p:txBody>
      </p:sp>
      <p:sp>
        <p:nvSpPr>
          <p:cNvPr id="446" name="card">
            <a:extLst xmlns:a="http://schemas.openxmlformats.org/drawingml/2006/main">
              <a:ext uri="{FF2B5EF4-FFF2-40B4-BE49-F238E27FC236}">
                <a16:creationId xmlns:a16="http://schemas.microsoft.com/office/drawing/2014/main" id="{28907E17-4063-411D-AC75-94F23AC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29813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878E836-DDEA-4FB9-9DBF-73BBFD44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D2AF5A03-33A8-4044-A50E-3EF55C6B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453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真机/仿真 profiling 门禁</a:t>
            </a:r>
          </a:p>
        </p:txBody>
      </p:sp>
      <p:sp>
        <p:nvSpPr>
          <p:cNvPr id="449" name="text">
            <a:extLst xmlns:a="http://schemas.openxmlformats.org/drawingml/2006/main">
              <a:ext uri="{FF2B5EF4-FFF2-40B4-BE49-F238E27FC236}">
                <a16:creationId xmlns:a16="http://schemas.microsoft.com/office/drawing/2014/main" id="{93F3E3EE-6958-47A5-91B7-4029162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2828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当前 pair 是 8 rank vs 4 rank，phase 标注与 backward 证据冲突，workload/schedule 未记录。Stage 1.2017 只能用于定位，不能写成“仿真慢 20.17%”，也不能进入 timing 校准集。</a:t>
            </a:r>
          </a:p>
        </p:txBody>
      </p:sp>
      <p:sp>
        <p:nvSpPr>
          <p:cNvPr id="450" name="rule">
            <a:extLst xmlns:a="http://schemas.openxmlformats.org/drawingml/2006/main">
              <a:ext uri="{FF2B5EF4-FFF2-40B4-BE49-F238E27FC236}">
                <a16:creationId xmlns:a16="http://schemas.microsoft.com/office/drawing/2014/main" id="{34474269-249D-4977-81DF-8E44645E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BB27DB50-7D32-436E-A3D9-35EE0566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一句话：灰盒不是“少量 ML”，而是把可解释结构、测量、学习与拒绝策略放到各自正确的位置。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输入如何改写图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为什么误差会放大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各并行维度的影响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BCF3F611-3269-45DC-B56C-EC146C72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外推难点不是单变量缩放，而是 shape—route—parallelism—system 的联动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52A97D9D-7460-4F57-A4A1-E49B8210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AD2CC0C3-0066-4FE8-BB79-6820D8CD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每次 token、batch、dtype 和 runtime flag 都可能改变有效 shape、padding 与编译分支。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7995ECB6-1FCA-4F0E-A729-FEE2F86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DP/TP/PP/EP 既改变每个 rank 的局部张量，也新增不同 collective 与同步点。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6AAC352F-04ED-4049-AAB7-10F21B98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容量点附近，component 的小偏差会经排队、bubble 与最慢 rank 放大。</a:t>
            </a:r>
          </a:p>
        </p:txBody>
      </p:sp>
      <p:graphicFrame>
        <p:nvGraphicFramePr>
          <p:cNvPr id="454" name=""/>
          <p:cNvGraphicFramePr/>
          <p:nvPr/>
        </p:nvGraphicFramePr>
        <p:xfrm>
          <a:off xmlns:a="http://schemas.openxmlformats.org/drawingml/2006/main" x="76200" y="1123950"/>
          <a:ext xmlns:a="http://schemas.openxmlformats.org/drawingml/2006/main" cx="3476625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1476375"/>
                <a:gridCol w="1333500"/>
              </a:tblGrid>
              <a:tr h="40957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变量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L1 改变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L2 跳变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seqLen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Attention/KV/pad/bucket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tile/wave/tactic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batch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GEMM M、activation/KV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利用率/fusion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dtype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storage/layout/cast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Tensor Core 路由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runtime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fuse/guard/dispatch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kernel family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06" name="card">
            <a:extLst xmlns:a="http://schemas.openxmlformats.org/drawingml/2006/main">
              <a:ext uri="{FF2B5EF4-FFF2-40B4-BE49-F238E27FC236}">
                <a16:creationId xmlns:a16="http://schemas.microsoft.com/office/drawing/2014/main" id="{201DEC78-DA85-4585-A4C8-21D2FB20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7660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BCD1FA7-C801-42C3-AED2-E188D56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766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F9F19765-4FDD-4F6E-8D56-2E52C1FF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2975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变长输入的具体影响</a:t>
            </a:r>
          </a:p>
        </p:txBody>
      </p:sp>
      <p:sp>
        <p:nvSpPr>
          <p:cNvPr id="409" name="text">
            <a:extLst xmlns:a="http://schemas.openxmlformats.org/drawingml/2006/main">
              <a:ext uri="{FF2B5EF4-FFF2-40B4-BE49-F238E27FC236}">
                <a16:creationId xmlns:a16="http://schemas.microsoft.com/office/drawing/2014/main" id="{0A58DEE3-4833-45EF-BAEB-4469BA7A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600450"/>
            <a:ext cx="3324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例如 decode 中每个 request 的 context 长度不同：attention/KV 读取量随长度增长；continuous batching 又让同一 step 的 active batch 变化。需要保留 nominal seq、valid token、padded extent、bucket ID，而不是一个平均 seqLen。</a:t>
            </a:r>
          </a:p>
        </p:txBody>
      </p:sp>
      <p:sp>
        <p:nvSpPr>
          <p:cNvPr id="410" name="card">
            <a:extLst xmlns:a="http://schemas.openxmlformats.org/drawingml/2006/main">
              <a:ext uri="{FF2B5EF4-FFF2-40B4-BE49-F238E27FC236}">
                <a16:creationId xmlns:a16="http://schemas.microsoft.com/office/drawing/2014/main" id="{E251B9D0-54DF-40C3-871E-1FE4F665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29150"/>
            <a:ext cx="3476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562903E-772A-4A78-AE32-9DCE1D0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291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4D421B42-78FC-4DE6-A398-99C0C89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501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shape 不只是维度元组</a:t>
            </a:r>
          </a:p>
        </p:txBody>
      </p:sp>
      <p:sp>
        <p:nvSpPr>
          <p:cNvPr id="413" name="text">
            <a:extLst xmlns:a="http://schemas.openxmlformats.org/drawingml/2006/main">
              <a:ext uri="{FF2B5EF4-FFF2-40B4-BE49-F238E27FC236}">
                <a16:creationId xmlns:a16="http://schemas.microsoft.com/office/drawing/2014/main" id="{436835B0-3666-4D34-84F1-CEC9246E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953000"/>
            <a:ext cx="33242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同样 [M,N,K] 还需 dtype、layout、stride、alignment、mask/sparsity、fusion context 与 selected tactic。仅以 shape 做 cache key 会把不同 kernel 错配成同一段。</a:t>
            </a:r>
          </a:p>
        </p:txBody>
      </p:sp>
      <p:graphicFrame>
        <p:nvGraphicFramePr>
          <p:cNvPr id="463" name=""/>
          <p:cNvGraphicFramePr/>
          <p:nvPr/>
        </p:nvGraphicFramePr>
        <p:xfrm>
          <a:off xmlns:a="http://schemas.openxmlformats.org/drawingml/2006/main" x="3752850" y="1123950"/>
          <a:ext xmlns:a="http://schemas.openxmlformats.org/drawingml/2006/main" cx="30289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"/>
                <a:gridCol w="1266825"/>
                <a:gridCol w="1333500"/>
              </a:tblGrid>
              <a:tr h="40957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局部 shape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通信/系统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DP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local batch↓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梯度 AR/RS+AG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hidden/head/K/N shard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层内 AR/AG/RS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每 rank 层集合不同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P2P + bubble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EP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token→expert 动态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AllToAll + 热点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15" name="card">
            <a:extLst xmlns:a="http://schemas.openxmlformats.org/drawingml/2006/main">
              <a:ext uri="{FF2B5EF4-FFF2-40B4-BE49-F238E27FC236}">
                <a16:creationId xmlns:a16="http://schemas.microsoft.com/office/drawing/2014/main" id="{40E118FE-06EE-4655-8AF3-FAA11F9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76600"/>
            <a:ext cx="3028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765E440-6137-4952-AE34-2FC303AF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766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text">
            <a:extLst xmlns:a="http://schemas.openxmlformats.org/drawingml/2006/main">
              <a:ext uri="{FF2B5EF4-FFF2-40B4-BE49-F238E27FC236}">
                <a16:creationId xmlns:a16="http://schemas.microsoft.com/office/drawing/2014/main" id="{9501D37E-FD8A-4C8E-8CAE-F603493C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975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乘积约束</a:t>
            </a:r>
          </a:p>
        </p:txBody>
      </p:sp>
      <p:sp>
        <p:nvSpPr>
          <p:cNvPr id="418" name="text">
            <a:extLst xmlns:a="http://schemas.openxmlformats.org/drawingml/2006/main">
              <a:ext uri="{FF2B5EF4-FFF2-40B4-BE49-F238E27FC236}">
                <a16:creationId xmlns:a16="http://schemas.microsoft.com/office/drawing/2014/main" id="{26908D27-4FE5-48D3-AF43-DFFDFDB3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004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world size 通常满足 DP×TP×PP×EP×CP…，但物理 placement 也重要：相同逻辑坐标如果跨机边界不同，通信 bandwidth、latency 与共享链路争用会完全不同。</a:t>
            </a:r>
          </a:p>
        </p:txBody>
      </p:sp>
      <p:sp>
        <p:nvSpPr>
          <p:cNvPr id="419" name="card">
            <a:extLst xmlns:a="http://schemas.openxmlformats.org/drawingml/2006/main">
              <a:ext uri="{FF2B5EF4-FFF2-40B4-BE49-F238E27FC236}">
                <a16:creationId xmlns:a16="http://schemas.microsoft.com/office/drawing/2014/main" id="{385D9D08-3205-4937-A0D1-23080757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67250"/>
            <a:ext cx="30289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384CF5D-5640-44F4-A6FC-DA9D5254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672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text">
            <a:extLst xmlns:a="http://schemas.openxmlformats.org/drawingml/2006/main">
              <a:ext uri="{FF2B5EF4-FFF2-40B4-BE49-F238E27FC236}">
                <a16:creationId xmlns:a16="http://schemas.microsoft.com/office/drawing/2014/main" id="{1DC457FE-769C-4D87-BA7E-3234C5A5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882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rank 的角色</a:t>
            </a:r>
          </a:p>
        </p:txBody>
      </p:sp>
      <p:sp>
        <p:nvSpPr>
          <p:cNvPr id="422" name="text">
            <a:extLst xmlns:a="http://schemas.openxmlformats.org/drawingml/2006/main">
              <a:ext uri="{FF2B5EF4-FFF2-40B4-BE49-F238E27FC236}">
                <a16:creationId xmlns:a16="http://schemas.microsoft.com/office/drawing/2014/main" id="{193CD07A-5D11-4DA9-AEA2-BE367ED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91100"/>
            <a:ext cx="28765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rank 是分布式进程身份，不是性能参数。性能取决于它的并行坐标、局部 graph/shape、所属 process group、邻接 peer 和拓扑位置。比较基本单元应是 per-rank canonical signature。</a:t>
            </a:r>
          </a:p>
        </p:txBody>
      </p:sp>
      <p:sp>
        <p:nvSpPr>
          <p:cNvPr id="423" name="card">
            <a:extLst xmlns:a="http://schemas.openxmlformats.org/drawingml/2006/main">
              <a:ext uri="{FF2B5EF4-FFF2-40B4-BE49-F238E27FC236}">
                <a16:creationId xmlns:a16="http://schemas.microsoft.com/office/drawing/2014/main" id="{FBACE0DC-D6D5-4E5C-85F9-9A53191B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D05A1D3-18E6-41EF-9563-5B073A2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946BAF0C-5F12-49CC-B2DE-77CE4AA6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错误：不可由 L2 修复</a:t>
            </a:r>
          </a:p>
        </p:txBody>
      </p:sp>
      <p:sp>
        <p:nvSpPr>
          <p:cNvPr id="426" name="text">
            <a:extLst xmlns:a="http://schemas.openxmlformats.org/drawingml/2006/main">
              <a:ext uri="{FF2B5EF4-FFF2-40B4-BE49-F238E27FC236}">
                <a16:creationId xmlns:a16="http://schemas.microsoft.com/office/drawing/2014/main" id="{F0DB9A94-7104-4DFF-8827-91819251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如果实际是 padded 400、valid 394，而仿真只记录 seqLen=400，或 8-rank 图被拿去对 4-rank 图，component 回归再准也预测的是另一个问题。</a:t>
            </a:r>
          </a:p>
        </p:txBody>
      </p:sp>
      <p:sp>
        <p:nvSpPr>
          <p:cNvPr id="427" name="card">
            <a:extLst xmlns:a="http://schemas.openxmlformats.org/drawingml/2006/main">
              <a:ext uri="{FF2B5EF4-FFF2-40B4-BE49-F238E27FC236}">
                <a16:creationId xmlns:a16="http://schemas.microsoft.com/office/drawing/2014/main" id="{B124D0EF-6D28-4DE2-9A23-8347F0A5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2981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D1E8512-6E2C-4C8E-B36F-33A3F56E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2A0B1461-73A7-4094-B041-FE53624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069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 错误：离散 route 阶跃</a:t>
            </a:r>
          </a:p>
        </p:txBody>
      </p:sp>
      <p:sp>
        <p:nvSpPr>
          <p:cNvPr id="430" name="text">
            <a:extLst xmlns:a="http://schemas.openxmlformats.org/drawingml/2006/main">
              <a:ext uri="{FF2B5EF4-FFF2-40B4-BE49-F238E27FC236}">
                <a16:creationId xmlns:a16="http://schemas.microsoft.com/office/drawing/2014/main" id="{2CFE3886-4EA2-4E7C-8B92-2771A22E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2828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cuBLAS/cuDNN/编译器会在 shape、alignment、workspace、dtype 边界切 tactic。跨边界插值不是平滑误差，而是预测了错误 kernel。</a:t>
            </a:r>
          </a:p>
        </p:txBody>
      </p:sp>
      <p:sp>
        <p:nvSpPr>
          <p:cNvPr id="431" name="card">
            <a:extLst xmlns:a="http://schemas.openxmlformats.org/drawingml/2006/main">
              <a:ext uri="{FF2B5EF4-FFF2-40B4-BE49-F238E27FC236}">
                <a16:creationId xmlns:a16="http://schemas.microsoft.com/office/drawing/2014/main" id="{01D2B6E9-7E1D-4C7E-8F40-D28020D9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2981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D93745E-EA7C-4176-94FD-E9BE2339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17EE1671-1E75-4458-89E4-3006D86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690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 放大：关键路径与排队</a:t>
            </a:r>
          </a:p>
        </p:txBody>
      </p:sp>
      <p:sp>
        <p:nvSpPr>
          <p:cNvPr id="434" name="text">
            <a:extLst xmlns:a="http://schemas.openxmlformats.org/drawingml/2006/main">
              <a:ext uri="{FF2B5EF4-FFF2-40B4-BE49-F238E27FC236}">
                <a16:creationId xmlns:a16="http://schemas.microsoft.com/office/drawing/2014/main" id="{B0D39B59-E19F-4C93-AED6-5E7BD84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71900"/>
            <a:ext cx="2828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通信与计算能否 overlap、共享 HBM/NIC 的程度、PP bubble、scheduler queue 和最慢 rank 共同决定 makespan；Σkernel latency 通常不等于 wall time。</a:t>
            </a:r>
          </a:p>
        </p:txBody>
      </p:sp>
      <p:sp>
        <p:nvSpPr>
          <p:cNvPr id="435" name="card">
            <a:extLst xmlns:a="http://schemas.openxmlformats.org/drawingml/2006/main">
              <a:ext uri="{FF2B5EF4-FFF2-40B4-BE49-F238E27FC236}">
                <a16:creationId xmlns:a16="http://schemas.microsoft.com/office/drawing/2014/main" id="{88219335-774E-4C9F-ABA8-A9F88EE7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0100"/>
            <a:ext cx="2981325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5DBC27F-E33B-44D1-AFB3-E2BA63C5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01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B0CDF334-EE1B-4B83-AF6E-C47FC0A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310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外推所需最小输入合同</a:t>
            </a:r>
          </a:p>
        </p:txBody>
      </p:sp>
      <p:sp>
        <p:nvSpPr>
          <p:cNvPr id="438" name="text">
            <a:extLst xmlns:a="http://schemas.openxmlformats.org/drawingml/2006/main">
              <a:ext uri="{FF2B5EF4-FFF2-40B4-BE49-F238E27FC236}">
                <a16:creationId xmlns:a16="http://schemas.microsoft.com/office/drawing/2014/main" id="{EA88D327-DD83-47E7-A4BA-6DCAEA84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33950"/>
            <a:ext cx="28289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模型/图版本；phase；batch/token 分布；dtype/layout；并行度与 rank 坐标；节点/设备拓扑；runtime/compiler/driver flags；route/tactic 可观测性；scheduler 与 KV/内存策略。缺字段时输出应是“未知/拒绝”，不是 0。</a:t>
            </a:r>
          </a:p>
        </p:txBody>
      </p:sp>
      <p:sp>
        <p:nvSpPr>
          <p:cNvPr id="439" name="rule">
            <a:extLst xmlns:a="http://schemas.openxmlformats.org/drawingml/2006/main">
              <a:ext uri="{FF2B5EF4-FFF2-40B4-BE49-F238E27FC236}">
                <a16:creationId xmlns:a16="http://schemas.microsoft.com/office/drawing/2014/main" id="{A534FC89-D7CE-48B8-A6CC-AE23570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CBD7EDFF-7B1C-49B1-A9FE-77290D24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所有外推都应先重新生成目标配置的 per-rank 图与 shape，再调用成本层；不能把旧 trace 的时长按卡数缩放。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先把 rank 说清楚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一个 8 卡例子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DP / TP / PP / EP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0277676C-5F3C-4CB9-8F44-B06E2D9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Rank 是进程身份；并行坐标与物理 placement 才决定它算什么、和谁通信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27474438-7437-466F-B9B3-D067521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AE2ADB62-9FC5-4960-B55C-AC449C21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global/local/group rank 是三种编号；rank 本身不代表某一种并行方式。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2E19B8D7-4F3B-4CB2-9E92-631CA6BD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每种 P 切不同的轴，修改不同的局部 shape、collective 和等待模式。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28C760DA-EB85-4097-B1BC-0E15A8D6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同样 8 卡可以有多种逻辑分解与跨机映射，性能含义完全不同。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EEF7C914-300F-46BE-B2A2-32F6756D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95BA91C-1FEB-4159-957E-80D86093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E4B74FCA-47E0-48B3-A20C-E866AF23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三种常见编号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998002E3-C707-441D-84C9-9FC43350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global rank：整个 job 唯一。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local rank：当前节点上的设备索引。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group rank：某 process group 内的相对编号。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collective 只在对应 group 内发生。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D6C5FBA2-795D-4C9C-A72C-870D9EE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343150"/>
            <a:ext cx="3476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8FDA0E6-D00A-421E-8733-5D94E2C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3431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4E44159F-D330-47AE-9255-CF59F7BB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3641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并行坐标示例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FE30D8B6-93DA-4593-ACF3-EE888857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667000"/>
            <a:ext cx="33242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rank 5 可能同时是：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node=1, local_rank=1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DP=1, TP=1, PP=0, EP=0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它持有哪一段权重、接收哪个 microbatch、参加哪个 TP/DP group，均由这些坐标与 framework mapping 决定。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6769CC4C-5619-4F71-95EA-344362F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95750"/>
            <a:ext cx="3476625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4D8F4DF-AE1B-4367-A3C2-BA93F67E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957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BF18D705-5ECB-4944-A590-82DABB3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1167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为什么分析必须 per-rank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70C361BE-51D6-4F1D-A368-6E61603A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19600"/>
            <a:ext cx="33242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shape：不同 stage/expert 可能不同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图：PP rank 的层集合不同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通信：group membership 不同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负载：MoE token 与数据样本不同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拓扑：跨机/同机链路不同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尾部：iteration 受最慢 rank 控制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因此不能只拿 rank0 代表整个集群。</a:t>
            </a:r>
          </a:p>
        </p:txBody>
      </p:sp>
      <p:graphicFrame>
        <p:nvGraphicFramePr>
          <p:cNvPr id="483" name=""/>
          <p:cNvGraphicFramePr/>
          <p:nvPr/>
        </p:nvGraphicFramePr>
        <p:xfrm>
          <a:off xmlns:a="http://schemas.openxmlformats.org/drawingml/2006/main" x="3752850" y="1123950"/>
          <a:ext xmlns:a="http://schemas.openxmlformats.org/drawingml/2006/main" cx="30289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"/>
                <a:gridCol w="742950"/>
                <a:gridCol w="876300"/>
                <a:gridCol w="1047750"/>
              </a:tblGrid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轴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切分对象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主要收益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主要代价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DP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样本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吞吐扩展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梯度同步/全量权重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层内张量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单层可跨卡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高频 collective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层/Stage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放下大模型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bubble/不均衡/P2P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EP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Experts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MoE 参数扩展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动态 AllToAll/热点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18" name="card">
            <a:extLst xmlns:a="http://schemas.openxmlformats.org/drawingml/2006/main">
              <a:ext uri="{FF2B5EF4-FFF2-40B4-BE49-F238E27FC236}">
                <a16:creationId xmlns:a16="http://schemas.microsoft.com/office/drawing/2014/main" id="{BA00176E-C58F-4772-8CF9-745E5082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14700"/>
            <a:ext cx="3028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39A5C7B-3C3A-459B-9553-A985DC3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147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3723C8AF-129D-413A-899C-DDAAD50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356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degree 变化的连锁反应</a:t>
            </a:r>
          </a:p>
        </p:txBody>
      </p:sp>
      <p:sp>
        <p:nvSpPr>
          <p:cNvPr id="421" name="text">
            <a:extLst xmlns:a="http://schemas.openxmlformats.org/drawingml/2006/main">
              <a:ext uri="{FF2B5EF4-FFF2-40B4-BE49-F238E27FC236}">
                <a16:creationId xmlns:a16="http://schemas.microsoft.com/office/drawing/2014/main" id="{F19B31DE-11E4-4C4D-83A1-E9FD167D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38550"/>
            <a:ext cx="2876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并行度变化不是只把矩阵除以 P：会改变 shard divisibility、padding、kernel efficiency、通信消息大小/次数、显存、microbatch 数与 PP bubble。某些 shape 还会触发全新 tactic。</a:t>
            </a:r>
          </a:p>
        </p:txBody>
      </p:sp>
      <p:sp>
        <p:nvSpPr>
          <p:cNvPr id="422" name="card">
            <a:extLst xmlns:a="http://schemas.openxmlformats.org/drawingml/2006/main">
              <a:ext uri="{FF2B5EF4-FFF2-40B4-BE49-F238E27FC236}">
                <a16:creationId xmlns:a16="http://schemas.microsoft.com/office/drawing/2014/main" id="{44198199-38EF-44A0-9DEE-CCE75D8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05350"/>
            <a:ext cx="3028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55E8196-DEA0-4CCE-845A-AA88BC6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053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9729E56C-7946-4034-A694-D459AAEA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7263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卡数与机数</a:t>
            </a:r>
          </a:p>
        </p:txBody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3FD74BA5-5F67-4C7F-B064-855E793A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29200"/>
            <a:ext cx="28765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卡数决定 world size 与可选策略；机数决定哪些 collective 跨越 NIC。8 卡单机与 2×4 卡双机即使逻辑并行相同，也有不同的 α、β、共享链路和 tail。</a:t>
            </a:r>
          </a:p>
        </p:txBody>
      </p:sp>
      <p:sp>
        <p:nvSpPr>
          <p:cNvPr id="426" name="text">
            <a:extLst xmlns:a="http://schemas.openxmlformats.org/drawingml/2006/main">
              <a:ext uri="{FF2B5EF4-FFF2-40B4-BE49-F238E27FC236}">
                <a16:creationId xmlns:a16="http://schemas.microsoft.com/office/drawing/2014/main" id="{D4E5B1B8-E29A-4136-A536-4AAFADFC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906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Node 0</a:t>
            </a:r>
          </a:p>
        </p:txBody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2318B8A2-5FE4-4CBF-B7A1-BC906FC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1906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Node 1</a:t>
            </a:r>
          </a:p>
        </p:txBody>
      </p:sp>
      <p:sp>
        <p:nvSpPr>
          <p:cNvPr id="428" name="rank-box">
            <a:extLst xmlns:a="http://schemas.openxmlformats.org/drawingml/2006/main">
              <a:ext uri="{FF2B5EF4-FFF2-40B4-BE49-F238E27FC236}">
                <a16:creationId xmlns:a16="http://schemas.microsoft.com/office/drawing/2014/main" id="{377BD188-6E57-4902-9D4F-B5E8C111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478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26AE78BC-0860-490D-BAC5-E9E43DFF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76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0</a:t>
            </a:r>
          </a:p>
        </p:txBody>
      </p:sp>
      <p:sp>
        <p:nvSpPr>
          <p:cNvPr id="430" name="rank-box">
            <a:extLst xmlns:a="http://schemas.openxmlformats.org/drawingml/2006/main">
              <a:ext uri="{FF2B5EF4-FFF2-40B4-BE49-F238E27FC236}">
                <a16:creationId xmlns:a16="http://schemas.microsoft.com/office/drawing/2014/main" id="{377C1623-C122-4D0B-B470-B281C749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478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A67B1617-F06A-4F8C-B697-295676B8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76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1</a:t>
            </a:r>
          </a:p>
        </p:txBody>
      </p:sp>
      <p:sp>
        <p:nvSpPr>
          <p:cNvPr id="432" name="rank-box">
            <a:extLst xmlns:a="http://schemas.openxmlformats.org/drawingml/2006/main">
              <a:ext uri="{FF2B5EF4-FFF2-40B4-BE49-F238E27FC236}">
                <a16:creationId xmlns:a16="http://schemas.microsoft.com/office/drawing/2014/main" id="{27ADBFD7-5967-4400-95AA-F9CD2EA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46DAEF9B-2D13-4D6C-A262-1B962505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907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2</a:t>
            </a:r>
          </a:p>
        </p:txBody>
      </p:sp>
      <p:sp>
        <p:nvSpPr>
          <p:cNvPr id="434" name="rank-box">
            <a:extLst xmlns:a="http://schemas.openxmlformats.org/drawingml/2006/main">
              <a:ext uri="{FF2B5EF4-FFF2-40B4-BE49-F238E27FC236}">
                <a16:creationId xmlns:a16="http://schemas.microsoft.com/office/drawing/2014/main" id="{4C1F5B8A-48F4-4B09-B893-B1D76379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6F488FB0-1FE8-4F3E-B356-A1CB4B3F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907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3</a:t>
            </a:r>
          </a:p>
        </p:txBody>
      </p:sp>
      <p:sp>
        <p:nvSpPr>
          <p:cNvPr id="436" name="rank-box">
            <a:extLst xmlns:a="http://schemas.openxmlformats.org/drawingml/2006/main">
              <a:ext uri="{FF2B5EF4-FFF2-40B4-BE49-F238E27FC236}">
                <a16:creationId xmlns:a16="http://schemas.microsoft.com/office/drawing/2014/main" id="{D893C6B3-52FC-436E-BD65-C55B3AC2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4478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F3EC7B29-C820-4567-9461-5502976C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476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R4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0</a:t>
            </a:r>
          </a:p>
        </p:txBody>
      </p:sp>
      <p:sp>
        <p:nvSpPr>
          <p:cNvPr id="438" name="rank-box">
            <a:extLst xmlns:a="http://schemas.openxmlformats.org/drawingml/2006/main">
              <a:ext uri="{FF2B5EF4-FFF2-40B4-BE49-F238E27FC236}">
                <a16:creationId xmlns:a16="http://schemas.microsoft.com/office/drawing/2014/main" id="{24AB65DA-3A7C-4437-BF00-86A3104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44780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E48A856B-3062-4787-9DFD-F3D22E6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76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R5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1</a:t>
            </a:r>
          </a:p>
        </p:txBody>
      </p:sp>
      <p:sp>
        <p:nvSpPr>
          <p:cNvPr id="440" name="rank-box">
            <a:extLst xmlns:a="http://schemas.openxmlformats.org/drawingml/2006/main">
              <a:ext uri="{FF2B5EF4-FFF2-40B4-BE49-F238E27FC236}">
                <a16:creationId xmlns:a16="http://schemas.microsoft.com/office/drawing/2014/main" id="{4EA3BBEF-0F20-48E7-9F0E-717B8608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96215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41" name="text">
            <a:extLst xmlns:a="http://schemas.openxmlformats.org/drawingml/2006/main">
              <a:ext uri="{FF2B5EF4-FFF2-40B4-BE49-F238E27FC236}">
                <a16:creationId xmlns:a16="http://schemas.microsoft.com/office/drawing/2014/main" id="{4677B43E-B0F2-4CEB-A52A-9710074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907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R6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2</a:t>
            </a:r>
          </a:p>
        </p:txBody>
      </p:sp>
      <p:sp>
        <p:nvSpPr>
          <p:cNvPr id="442" name="rank-box">
            <a:extLst xmlns:a="http://schemas.openxmlformats.org/drawingml/2006/main">
              <a:ext uri="{FF2B5EF4-FFF2-40B4-BE49-F238E27FC236}">
                <a16:creationId xmlns:a16="http://schemas.microsoft.com/office/drawing/2014/main" id="{810C8E70-C87A-432C-AD8E-15236523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62150"/>
            <a:ext cx="62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36C74"/>
            </a:solidFill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878DF687-0A8F-4CBC-A2C3-C3CED4D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907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R7</a:t>
            </a:r>
          </a:p>
          <a:p xmlns:a="http://schemas.openxmlformats.org/drawingml/2006/main">
            <a:pPr algn="ctr">
              <a:def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local 3</a:t>
            </a:r>
          </a:p>
        </p:txBody>
      </p:sp>
      <p:sp>
        <p:nvSpPr>
          <p:cNvPr id="444" name="card">
            <a:extLst xmlns:a="http://schemas.openxmlformats.org/drawingml/2006/main">
              <a:ext uri="{FF2B5EF4-FFF2-40B4-BE49-F238E27FC236}">
                <a16:creationId xmlns:a16="http://schemas.microsoft.com/office/drawing/2014/main" id="{1FC55FB4-F0A0-44B0-910A-4D437BEA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F5D72BB-A60D-463E-9548-78DF634F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text">
            <a:extLst xmlns:a="http://schemas.openxmlformats.org/drawingml/2006/main">
              <a:ext uri="{FF2B5EF4-FFF2-40B4-BE49-F238E27FC236}">
                <a16:creationId xmlns:a16="http://schemas.microsoft.com/office/drawing/2014/main" id="{54C35365-7941-4044-9D09-DADDD769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927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 A：DP=2, TP=4</a:t>
            </a:r>
          </a:p>
        </p:txBody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EC515CF2-A4C4-44D3-86E9-1CCDA3BC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9560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每个 TP group 横跨 4 卡；DP group 连接两个副本。若按节点放置 TP，同一层 collective 留在高速本地链路；DP 梯度同步跨机。</a:t>
            </a:r>
          </a:p>
        </p:txBody>
      </p:sp>
      <p:sp>
        <p:nvSpPr>
          <p:cNvPr id="448" name="card">
            <a:extLst xmlns:a="http://schemas.openxmlformats.org/drawingml/2006/main">
              <a:ext uri="{FF2B5EF4-FFF2-40B4-BE49-F238E27FC236}">
                <a16:creationId xmlns:a16="http://schemas.microsoft.com/office/drawing/2014/main" id="{7C8C51B5-2518-4516-90AA-1B6AA3B9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9DC0290-DCAC-4866-B81B-CC79EEF1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text">
            <a:extLst xmlns:a="http://schemas.openxmlformats.org/drawingml/2006/main">
              <a:ext uri="{FF2B5EF4-FFF2-40B4-BE49-F238E27FC236}">
                <a16:creationId xmlns:a16="http://schemas.microsoft.com/office/drawing/2014/main" id="{3CBA953E-A26B-4911-8AAA-A7CFFCC8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928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 B：DP=4, TP=2</a:t>
            </a:r>
          </a:p>
        </p:txBody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8092821B-192A-488E-B233-1589FDE7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局部 GEMM shape、TP collective 的次数/大小和 DP group 数都改变。即使总卡数相同，L1/L2/L3 均不可复用 A 的结果。</a:t>
            </a:r>
          </a:p>
        </p:txBody>
      </p:sp>
      <p:sp>
        <p:nvSpPr>
          <p:cNvPr id="452" name="card">
            <a:extLst xmlns:a="http://schemas.openxmlformats.org/drawingml/2006/main">
              <a:ext uri="{FF2B5EF4-FFF2-40B4-BE49-F238E27FC236}">
                <a16:creationId xmlns:a16="http://schemas.microsoft.com/office/drawing/2014/main" id="{5CC49345-BECE-4E15-9CEB-B7A6EA2B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72050"/>
            <a:ext cx="29813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07B6563-16F0-4100-B9FE-FC01EB07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720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8D0935D0-3329-4999-94D7-47B5DCFC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930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比较时必须记录</a:t>
            </a:r>
          </a:p>
        </p:txBody>
      </p:sp>
      <p:sp>
        <p:nvSpPr>
          <p:cNvPr id="455" name="text">
            <a:extLst xmlns:a="http://schemas.openxmlformats.org/drawingml/2006/main">
              <a:ext uri="{FF2B5EF4-FFF2-40B4-BE49-F238E27FC236}">
                <a16:creationId xmlns:a16="http://schemas.microsoft.com/office/drawing/2014/main" id="{3FB3F83D-9B0C-44EC-AE17-F0FD2A57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95900"/>
            <a:ext cx="2828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world size、node map、global/local rank、DP/TP/PP/EP/CP 坐标、process-group members、peer、link class，以及每 rank 的 graph/shape signature。</a:t>
            </a:r>
          </a:p>
        </p:txBody>
      </p:sp>
      <p:sp>
        <p:nvSpPr>
          <p:cNvPr id="456" name="rule">
            <a:extLst xmlns:a="http://schemas.openxmlformats.org/drawingml/2006/main">
              <a:ext uri="{FF2B5EF4-FFF2-40B4-BE49-F238E27FC236}">
                <a16:creationId xmlns:a16="http://schemas.microsoft.com/office/drawing/2014/main" id="{DC185EC7-488C-4C79-B97C-7364C1C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text">
            <a:extLst xmlns:a="http://schemas.openxmlformats.org/drawingml/2006/main">
              <a:ext uri="{FF2B5EF4-FFF2-40B4-BE49-F238E27FC236}">
                <a16:creationId xmlns:a16="http://schemas.microsoft.com/office/drawing/2014/main" id="{0108704E-1B7F-4957-A264-7FE75C1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rank 是“谁”；parallel coordinate 是“负责什么”；topology placement 是“在什么链路上做”。三者缺一不可。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L1：要执行什么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L3：如何形成墙钟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L2：每一项多少钱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785C93B8-AD70-4A99-8352-A17DA595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Input → L1 → L2 → L3 → Output：cost model 只是“逐部件报价”，不是整个预测系统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5861357D-14E4-47C1-8C04-A529FCC8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3F181543-2BAA-41B5-8F24-FD9B1163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从模型、workload、并行与 runtime 生成每个 rank 的 canonical execution graph。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9DA5EE39-4DFF-4907-91BB-D8D1B88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对 compute/collective/copy 给出 latency、资源占用、置信区间和支持域。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57B1F99E-7B3D-47B0-9585-C4A50446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按依赖与资源事件回放 overlap、争用、队列、pipeline 与最慢 rank。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CFC767A6-B768-4822-A6A8-A0444406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123950"/>
            <a:ext cx="178879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836B89F-1B42-4B9A-9CB0-5916734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123950"/>
            <a:ext cx="17887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CA076F5B-A7ED-4788-9FEA-836E769E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44905"/>
            <a:ext cx="16554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148A57F0-3615-4D43-BA51-EF406FAD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447800"/>
            <a:ext cx="163639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模型/图、phase、tokens、batch、dtype、P、拓扑、runtime</a:t>
            </a:r>
          </a:p>
        </p:txBody>
      </p:sp>
      <p:sp>
        <p:nvSpPr>
          <p:cNvPr id="409" name="text">
            <a:extLst xmlns:a="http://schemas.openxmlformats.org/drawingml/2006/main">
              <a:ext uri="{FF2B5EF4-FFF2-40B4-BE49-F238E27FC236}">
                <a16:creationId xmlns:a16="http://schemas.microsoft.com/office/drawing/2014/main" id="{2E78064F-0B30-42AB-A611-F484CEEA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14478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0" name="card">
            <a:extLst xmlns:a="http://schemas.openxmlformats.org/drawingml/2006/main">
              <a:ext uri="{FF2B5EF4-FFF2-40B4-BE49-F238E27FC236}">
                <a16:creationId xmlns:a16="http://schemas.microsoft.com/office/drawing/2014/main" id="{D18D0244-E341-4FE0-89E6-845C2181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" y="1123950"/>
            <a:ext cx="178879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53A96FD-2286-4F19-ABBB-B89F9F9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" y="1123950"/>
            <a:ext cx="17887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A75AD2C2-93D3-47AC-8086-9CFF850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0" y="1144905"/>
            <a:ext cx="16554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413" name="text">
            <a:extLst xmlns:a="http://schemas.openxmlformats.org/drawingml/2006/main">
              <a:ext uri="{FF2B5EF4-FFF2-40B4-BE49-F238E27FC236}">
                <a16:creationId xmlns:a16="http://schemas.microsoft.com/office/drawing/2014/main" id="{4B25D776-807A-45C5-B155-FD61AD7C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" y="1447800"/>
            <a:ext cx="163639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per-rank op/fusion/shape/shard/collective/resource edges</a:t>
            </a:r>
          </a:p>
        </p:txBody>
      </p:sp>
      <p:sp>
        <p:nvSpPr>
          <p:cNvPr id="414" name="text">
            <a:extLst xmlns:a="http://schemas.openxmlformats.org/drawingml/2006/main">
              <a:ext uri="{FF2B5EF4-FFF2-40B4-BE49-F238E27FC236}">
                <a16:creationId xmlns:a16="http://schemas.microsoft.com/office/drawing/2014/main" id="{B8103E69-2809-4217-A510-6B1925A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65" y="14478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5" name="card">
            <a:extLst xmlns:a="http://schemas.openxmlformats.org/drawingml/2006/main">
              <a:ext uri="{FF2B5EF4-FFF2-40B4-BE49-F238E27FC236}">
                <a16:creationId xmlns:a16="http://schemas.microsoft.com/office/drawing/2014/main" id="{51EF0A85-9F52-4102-85EB-25C54B7F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123950"/>
            <a:ext cx="178879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3123290-0A51-4D9E-9DF8-1AF11D0B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123950"/>
            <a:ext cx="17887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text">
            <a:extLst xmlns:a="http://schemas.openxmlformats.org/drawingml/2006/main">
              <a:ext uri="{FF2B5EF4-FFF2-40B4-BE49-F238E27FC236}">
                <a16:creationId xmlns:a16="http://schemas.microsoft.com/office/drawing/2014/main" id="{A910AC6A-AA03-45D6-A6FA-2F0E226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915" y="1144905"/>
            <a:ext cx="16554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418" name="text">
            <a:extLst xmlns:a="http://schemas.openxmlformats.org/drawingml/2006/main">
              <a:ext uri="{FF2B5EF4-FFF2-40B4-BE49-F238E27FC236}">
                <a16:creationId xmlns:a16="http://schemas.microsoft.com/office/drawing/2014/main" id="{33E40F06-4990-48D2-B032-A0FA2570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440" y="1447800"/>
            <a:ext cx="163639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component latency/resource/cost distribution/support</a:t>
            </a:r>
          </a:p>
        </p:txBody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DBACAEDB-B058-4C6A-AA99-9242FD67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14478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0" name="card">
            <a:extLst xmlns:a="http://schemas.openxmlformats.org/drawingml/2006/main">
              <a:ext uri="{FF2B5EF4-FFF2-40B4-BE49-F238E27FC236}">
                <a16:creationId xmlns:a16="http://schemas.microsoft.com/office/drawing/2014/main" id="{09D50400-736B-4F21-8A1D-56EB00F1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635" y="1123950"/>
            <a:ext cx="178879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8A2BBB6-CD2C-4207-BDBA-046582D4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635" y="1123950"/>
            <a:ext cx="17887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text">
            <a:extLst xmlns:a="http://schemas.openxmlformats.org/drawingml/2006/main">
              <a:ext uri="{FF2B5EF4-FFF2-40B4-BE49-F238E27FC236}">
                <a16:creationId xmlns:a16="http://schemas.microsoft.com/office/drawing/2014/main" id="{8E52B9F2-8E93-4122-80D4-E9061434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310" y="1144905"/>
            <a:ext cx="16554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54DE834A-3D55-4255-B3A0-14AFA4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835" y="1447800"/>
            <a:ext cx="163639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streams/links/queues/overlap/critical path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A9652C82-A78E-44F3-8FA8-90C46A4B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55" y="14478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877EA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E7DC0C28-722F-4C1E-ACD5-87EB950A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030" y="1123950"/>
            <a:ext cx="178879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57F1EBD-D8E6-4977-966B-AB0D4EE0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030" y="1123950"/>
            <a:ext cx="17887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774C0811-F921-4FC7-8998-A6D314E8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705" y="1144905"/>
            <a:ext cx="165544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5462FCCE-414E-4524-BAA1-F35AEA87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1447800"/>
            <a:ext cx="163639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latency/throughput/OOM/bottleneck/CI/reject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13EBD384-D835-415F-A556-6F2D17B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14550"/>
            <a:ext cx="3476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8A34CC9-962C-4B22-99C4-447763B6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145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50219878-85F3-42D1-B85C-7AFCBC2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1355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的输出不是 layer 列表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192A3E1A-D80A-4EA0-B9B2-E6250605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438400"/>
            <a:ext cx="33242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至少包含：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canonical logical op 与 phase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effective/padded local shape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dtype/layout/stride/fusion context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tensor lifetime / dependency edge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collective type/group/message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candidate or selected tactic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没有模型代码时只能用声明式模型规格、发布 opgraph 或人工 trace 近似。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7DBFDDF4-3689-4697-9DD5-A0CFB4C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00500"/>
            <a:ext cx="34766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CA5AAA8-8E99-4233-91D4-E6367F9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005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0BAFFF17-C5C4-4960-8B17-DD55CF7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0214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没有模型代码时能得出什么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FD5C0F3A-60BE-43E4-B2B9-9A3497D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324350"/>
            <a:ext cx="33242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可以验证：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artifact 能否被 parser/predictor/event simulator 消费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论文公开 profile/label 上的数值对齐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component 公式与校准算法在公开真测 CSV 上是否有增益/反例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不能验证：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业务模型真实图/route/调度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目标 GPU/NPU 的 absolute ground truth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vLLM/SGLang/Transformers 版本下的 SLA 与容量。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AB4216A0-DA91-4A55-B19F-999450D5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14550"/>
            <a:ext cx="30289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B3F7E9D-A109-417E-A42C-7AC8045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C856089D-C0D6-4248-81CD-B580664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355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Cost model 的查询键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C52D44DF-4A68-4038-8FFF-4BF57814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384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operator/fusion/tactic + dtype/layout + full local shape + hardware microarchitecture + compiler/runtime/driver fingerprint + resource context。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输出应包含 p50/p95、bias/uncertainty、support distance 与 fallback 决策。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942797BA-45F9-458D-A772-D5CFDCFF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57600"/>
            <a:ext cx="3028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5C88665-C4F8-4E64-89EA-B127BC9F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576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35718B5B-F46D-4BEE-B1EE-EE3D8F1F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785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绝对头 vs 排序头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267C28DD-688A-4BE9-A0C6-D1A16528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81450"/>
            <a:ext cx="2876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绝对 latency 头服务 SLA、容量、成本核算；ranking 头服务 compiler/autotuner top-K。ranking score 可以找候选，但没有校准毫秒语义。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F2204901-BE69-401D-A404-FDABF234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0289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A1B3F25-8F8E-43FC-9315-2CA9EDA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925CCCB2-9445-466C-A9E2-06E2CDD2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8787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三类模型的关系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AF525EE6-6ADE-479F-A814-F20C28D9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81600"/>
            <a:ext cx="2876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解析模型给下界/结构；学习模型吸收实现细节；实测提供事实锚点。灰盒不是二选一，而是让三者通过 route 与 support 域协同。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BED6E346-4FF3-41F0-91B6-90C4BC9D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29813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F7F4B23-224A-45A5-8158-1F649C85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667CA7BC-7804-4FFD-8558-A4A8E072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355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 Σcomponent 不够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631F4CD5-5C11-4E00-B49B-8AC67070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2828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CPU launch、多个 stream、collective、P2P、DMA、HBM/NIC 共享、PP bubble 与 scheduler queue 可以并发或争用。总墙钟取决于关键路径，而不是简单求和。</a:t>
            </a:r>
          </a:p>
        </p:txBody>
      </p:sp>
      <p:sp>
        <p:nvSpPr>
          <p:cNvPr id="453" name="card">
            <a:extLst xmlns:a="http://schemas.openxmlformats.org/drawingml/2006/main">
              <a:ext uri="{FF2B5EF4-FFF2-40B4-BE49-F238E27FC236}">
                <a16:creationId xmlns:a16="http://schemas.microsoft.com/office/drawing/2014/main" id="{48478435-514C-4C04-959B-F7BB1D8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29813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B8C2886-6D98-4D93-8768-5B139597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text">
            <a:extLst xmlns:a="http://schemas.openxmlformats.org/drawingml/2006/main">
              <a:ext uri="{FF2B5EF4-FFF2-40B4-BE49-F238E27FC236}">
                <a16:creationId xmlns:a16="http://schemas.microsoft.com/office/drawing/2014/main" id="{CDF438DB-89F1-4691-8631-E54BBB2D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690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误差归因顺序</a:t>
            </a:r>
          </a:p>
        </p:txBody>
      </p:sp>
      <p:sp>
        <p:nvSpPr>
          <p:cNvPr id="456" name="text">
            <a:extLst xmlns:a="http://schemas.openxmlformats.org/drawingml/2006/main">
              <a:ext uri="{FF2B5EF4-FFF2-40B4-BE49-F238E27FC236}">
                <a16:creationId xmlns:a16="http://schemas.microsoft.com/office/drawing/2014/main" id="{6879CD86-5538-470D-AEBC-AD8A9990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71900"/>
            <a:ext cx="2828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1) Input/phase 是否同一任务？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2) L1 graph/shape/group 是否可比？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3) L2 component 的 route/单位/标签是否正确？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4) L3 overlap/queue/critical path 是否闭合？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不应先看总时长再倒推原因。</a:t>
            </a:r>
          </a:p>
        </p:txBody>
      </p:sp>
      <p:sp>
        <p:nvSpPr>
          <p:cNvPr id="457" name="card">
            <a:extLst xmlns:a="http://schemas.openxmlformats.org/drawingml/2006/main">
              <a:ext uri="{FF2B5EF4-FFF2-40B4-BE49-F238E27FC236}">
                <a16:creationId xmlns:a16="http://schemas.microsoft.com/office/drawing/2014/main" id="{9B75751C-8676-4E2B-8110-B2F1AB96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81550"/>
            <a:ext cx="2981325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E381C16-E080-41E6-94F1-AB7C90C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815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text">
            <a:extLst xmlns:a="http://schemas.openxmlformats.org/drawingml/2006/main">
              <a:ext uri="{FF2B5EF4-FFF2-40B4-BE49-F238E27FC236}">
                <a16:creationId xmlns:a16="http://schemas.microsoft.com/office/drawing/2014/main" id="{8B9E10EF-E538-4247-A2E8-CD49DEB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025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明确结论的证据门槛</a:t>
            </a:r>
          </a:p>
        </p:txBody>
      </p:sp>
      <p:sp>
        <p:nvSpPr>
          <p:cNvPr id="460" name="text">
            <a:extLst xmlns:a="http://schemas.openxmlformats.org/drawingml/2006/main">
              <a:ext uri="{FF2B5EF4-FFF2-40B4-BE49-F238E27FC236}">
                <a16:creationId xmlns:a16="http://schemas.microsoft.com/office/drawing/2014/main" id="{51F417CB-0781-4644-B9D0-B352142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05400"/>
            <a:ext cx="2828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业务绝对结论需要：目标模型代码或等价可执行 IR；目标 runtime 配置；至少一个目标硬件 profile/ground truth；相同 workload/phase/topology；component 与 E2E 两级 holdout。</a:t>
            </a:r>
          </a:p>
        </p:txBody>
      </p:sp>
      <p:sp>
        <p:nvSpPr>
          <p:cNvPr id="461" name="rule">
            <a:extLst xmlns:a="http://schemas.openxmlformats.org/drawingml/2006/main">
              <a:ext uri="{FF2B5EF4-FFF2-40B4-BE49-F238E27FC236}">
                <a16:creationId xmlns:a16="http://schemas.microsoft.com/office/drawing/2014/main" id="{02C86A1C-D196-4C2C-8624-D8248AAC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text">
            <a:extLst xmlns:a="http://schemas.openxmlformats.org/drawingml/2006/main">
              <a:ext uri="{FF2B5EF4-FFF2-40B4-BE49-F238E27FC236}">
                <a16:creationId xmlns:a16="http://schemas.microsoft.com/office/drawing/2014/main" id="{1EF5615C-F4C1-4FE7-8475-385E0F1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在没有 GPU/NPU 与模型代码的阶段，我们验证的是链路、机制和实验设计，不是业务性能本身。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已运行配置的 what-if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编译器候选筛选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部署前绝对性能规划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D1D1C47C-25AD-4E42-A34A-6FAC8203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11 篇论文不是同一个回归问题：先分预测对象，再比较方法与数字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96957657-1E7B-44A7-8440-8E02A4BF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65A269F5-7550-48E5-8AD1-C82F9349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输入是已有 trace；重点是图、时钟与关键路径是否忠实。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952067A0-147E-4DA4-B9F1-678FAD49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输入是模型/策略/请求规格；必须生成目标 shape，并给出绝对 cost。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94DDE933-D840-40B9-A6F7-E07930EE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输入是 IR/schedule 候选；目标是少量真测预算下找到最快候选。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E46BCEB4-6D9A-451E-9EAC-C401C5BB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9960FEA-4DE1-43FD-AFB4-FBD2B6A5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3B4D6690-3AF4-4D5C-949B-930A2348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Daydream · ATC'20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A3E929AD-CD40-4432-8210-F87C3A55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CUPTI trace→依赖图→图变换→回放。适合评估未实现优化；复用旧 task duration。BERT-Large AMP&lt;3%、fusion&lt;7% 是特例，跨模型完整口径约 13%。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A72D43D7-E3E6-49E7-9ED6-9976D72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81275"/>
            <a:ext cx="347662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7D4153F-61E9-4753-9C3F-74679BF4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8127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0E984B4A-8F38-457B-B0FA-AB21632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60223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dPRO · MLSys'22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701FB7AC-08C9-4C63-AA4F-1583AAAE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905125"/>
            <a:ext cx="33242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多 rank trace 校时→全局 DFG→关键路径/组合优化。多数误差&lt;5%、最大5.6%；大规模实验相对 XLA 默认策略最高3.48×。必须采目标集群 trace；实证偏 DP/PS/AllReduce。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5FD83AE1-E3D2-4CF5-A788-C9C48B2B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38600"/>
            <a:ext cx="3476625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9129C94-0E24-4FF9-8501-2D3608D4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386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5E7B7610-8F9F-4AB4-9754-3D46127F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0595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这一类回答什么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7B79D560-7C39-42DB-B661-AD23C53A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362450"/>
            <a:ext cx="332422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回答“已经跑过的基线如果改图/调度，会快多少？”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强项：Observed-L1、真实依赖、诊断与 what-if。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短板：新 shape、新 kernel、新 GPU 的 L2 外推不是其核心能力。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73.8% 是 dPRO 对 Daydream 的后测，不是 Daydream 自报。</a:t>
            </a:r>
          </a:p>
        </p:txBody>
      </p:sp>
      <p:graphicFrame>
        <p:nvGraphicFramePr>
          <p:cNvPr id="458" name=""/>
          <p:cNvGraphicFramePr/>
          <p:nvPr/>
        </p:nvGraphicFramePr>
        <p:xfrm>
          <a:off xmlns:a="http://schemas.openxmlformats.org/drawingml/2006/main" x="3752850" y="1123950"/>
          <a:ext xmlns:a="http://schemas.openxmlformats.org/drawingml/2006/main" cx="302895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"/>
                <a:gridCol w="342900"/>
                <a:gridCol w="1104900"/>
                <a:gridCol w="942975"/>
              </a:tblGrid>
              <a:tr h="4841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论文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主层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核心机制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原始效果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Habitat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wave scaling+MLP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6GPU/5模型 11.8%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nn-Meter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L1/L2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fusion探测+分kernel回归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benchmark 99.0/99.1/83.4；unseen 89.2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Proteus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L1/L3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Strategy Tree+HTAE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avg3.0%; max14.68%</a:t>
                      </a:r>
                    </a:p>
                  </a:txBody>
                  <a:tcPr marL="91440" marR="91440" marT="45720" marB="45720"/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Vidur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L1/L3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shape推导+profile+event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作者PDF&lt;9%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NeuSight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tile/wave+roofline+util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9.7/7.3%; OOD8.1%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18" name="card">
            <a:extLst xmlns:a="http://schemas.openxmlformats.org/drawingml/2006/main">
              <a:ext uri="{FF2B5EF4-FFF2-40B4-BE49-F238E27FC236}">
                <a16:creationId xmlns:a16="http://schemas.microsoft.com/office/drawing/2014/main" id="{A8061865-9C16-454B-B2CF-93343C2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24325"/>
            <a:ext cx="3028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4D758DF-618D-45D5-A66A-0AAD8E1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243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617FE382-BB79-4306-834F-5D6816DE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1452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共同前提与差异</a:t>
            </a:r>
          </a:p>
        </p:txBody>
      </p:sp>
      <p:sp>
        <p:nvSpPr>
          <p:cNvPr id="421" name="text">
            <a:extLst xmlns:a="http://schemas.openxmlformats.org/drawingml/2006/main">
              <a:ext uri="{FF2B5EF4-FFF2-40B4-BE49-F238E27FC236}">
                <a16:creationId xmlns:a16="http://schemas.microsoft.com/office/drawing/2014/main" id="{81A3B700-A774-48DA-AE7E-6E417CF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48175"/>
            <a:ext cx="28765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共同点：需要明确目标 model/shape/hardware/runtime。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差异：Proteus/Vidur 重点生成系统图；Habitat/nn-Meter/NeuSight 重点 component cost。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不能直接横比 3%、9%、11.8%：数据、目标、指标和是否含通信/调度均不同。</a:t>
            </a:r>
          </a:p>
        </p:txBody>
      </p:sp>
      <p:graphicFrame>
        <p:nvGraphicFramePr>
          <p:cNvPr id="463" name=""/>
          <p:cNvGraphicFramePr/>
          <p:nvPr/>
        </p:nvGraphicFramePr>
        <p:xfrm>
          <a:off xmlns:a="http://schemas.openxmlformats.org/drawingml/2006/main" x="7143750" y="1123950"/>
          <a:ext xmlns:a="http://schemas.openxmlformats.org/drawingml/2006/main" cx="2981325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"/>
                <a:gridCol w="800100"/>
                <a:gridCol w="781050"/>
                <a:gridCol w="790575"/>
              </a:tblGrid>
              <a:tr h="4686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论文</a:t>
                      </a:r>
                    </a:p>
                  </a:txBody>
                  <a:tcPr marL="91440" marR="91440" marT="45720" marB="45720">
                    <a:solidFill>
                      <a:srgbClr val="A36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输入表示</a:t>
                      </a:r>
                    </a:p>
                  </a:txBody>
                  <a:tcPr marL="91440" marR="91440" marT="45720" marB="45720">
                    <a:solidFill>
                      <a:srgbClr val="A36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训练目标</a:t>
                      </a:r>
                    </a:p>
                  </a:txBody>
                  <a:tcPr marL="91440" marR="91440" marT="45720" marB="45720">
                    <a:solidFill>
                      <a:srgbClr val="A36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A36C74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program features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weighted MSE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搜索 top-K</a:t>
                      </a:r>
                    </a:p>
                  </a:txBody>
                  <a:tcPr marL="91440" marR="91440" marT="45720" marB="45720"/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TenSet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真测 tensor programs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MSE/ranking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预训练/迁移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TPU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XLA graph+tile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rank/log runtime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tile/fusion</a:t>
                      </a:r>
                    </a:p>
                  </a:txBody>
                  <a:tcPr marL="91440" marR="91440" marT="45720" marB="45720"/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TLP/MTL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schedule primitive序列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LambdaRank/MTL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跨硬件 warm start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23" name="card">
            <a:extLst xmlns:a="http://schemas.openxmlformats.org/drawingml/2006/main">
              <a:ext uri="{FF2B5EF4-FFF2-40B4-BE49-F238E27FC236}">
                <a16:creationId xmlns:a16="http://schemas.microsoft.com/office/drawing/2014/main" id="{42CFB4C3-3407-41E8-BAF5-C5F2680C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858A438-67C3-4A18-BA85-211604F9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D4740371-D2D7-4C0C-9619-128C6727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833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成功标准不同</a:t>
            </a:r>
          </a:p>
        </p:txBody>
      </p:sp>
      <p:sp>
        <p:nvSpPr>
          <p:cNvPr id="426" name="text">
            <a:extLst xmlns:a="http://schemas.openxmlformats.org/drawingml/2006/main">
              <a:ext uri="{FF2B5EF4-FFF2-40B4-BE49-F238E27FC236}">
                <a16:creationId xmlns:a16="http://schemas.microsoft.com/office/drawing/2014/main" id="{3D4E822C-1B68-4C3C-98AA-8A8F3A3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2828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这条线关心“测少量点能否找到更优 schedule”。Ansor/TenSet/TLP 的加速倍数是搜索时间或最终程序加速，不是 latency MAPE。</a:t>
            </a:r>
          </a:p>
        </p:txBody>
      </p:sp>
      <p:sp>
        <p:nvSpPr>
          <p:cNvPr id="427" name="card">
            <a:extLst xmlns:a="http://schemas.openxmlformats.org/drawingml/2006/main">
              <a:ext uri="{FF2B5EF4-FFF2-40B4-BE49-F238E27FC236}">
                <a16:creationId xmlns:a16="http://schemas.microsoft.com/office/drawing/2014/main" id="{08AE08D2-EE8E-4BB2-B70D-2207F9F4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29813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26A3FC1-7E55-41A7-A520-09DF3FA5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663A33DE-50C7-46E0-A3CF-06FA5F9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406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对灰盒的用途</a:t>
            </a:r>
          </a:p>
        </p:txBody>
      </p:sp>
      <p:sp>
        <p:nvSpPr>
          <p:cNvPr id="430" name="text">
            <a:extLst xmlns:a="http://schemas.openxmlformats.org/drawingml/2006/main">
              <a:ext uri="{FF2B5EF4-FFF2-40B4-BE49-F238E27FC236}">
                <a16:creationId xmlns:a16="http://schemas.microsoft.com/office/drawing/2014/main" id="{A9346866-21D7-4F01-BEF2-7902758F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43500"/>
            <a:ext cx="28289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把 compiler/tactic 候选生成与 ranking 作为 L2 的 shortlist；winner、绝对时延与 OOD 点仍需目标机测量。ranking head 不能直接接 SLA 输出。</a:t>
            </a:r>
          </a:p>
        </p:txBody>
      </p:sp>
      <p:sp>
        <p:nvSpPr>
          <p:cNvPr id="431" name="rule">
            <a:extLst xmlns:a="http://schemas.openxmlformats.org/drawingml/2006/main">
              <a:ext uri="{FF2B5EF4-FFF2-40B4-BE49-F238E27FC236}">
                <a16:creationId xmlns:a16="http://schemas.microsoft.com/office/drawing/2014/main" id="{42590DF3-D9FD-4E92-B61B-26A8E85F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0BEF1E38-98BB-44F2-9001-8140774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先问 Observed/Generated、Absolute/Ranking、Interpolation/OOD；否则“精度”这个词没有可比含义。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Daydream：局部图回放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我们拿什么 / 不拿什么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dPRO：全局 DFG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9D46F2BC-6074-4F6C-9243-0880325E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系统线 I：性能预测首先是图和事件是否正确，其次才是 task duration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EF7B9AFD-9151-4179-A193-EC2539E4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3EF3A8DE-E63E-4780-AC82-B963520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从已观测基线 trace 出发，用图变换评估尚未实现的优化。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9E3325A8-F0ED-4780-9417-ACE66B62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把跨机器计算与细粒度通信校时、拼成可诊断的全局关键路径。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39D78678-3E2B-4230-83A9-C0F2BB0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两者适合 observed configuration 的 what-if；不承担新硬件/新 shape 的 L2。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9E7B60C5-508A-4BAA-BE05-3C2F40D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E7E01F9-72B1-4C69-BFC9-077DC9A2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F2C9D26D-DACE-4B8F-B301-F839E2B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51E89681-D3A8-4CEB-889B-5BF2BC86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Profiler 只能告诉你“当前哪里慢”，却不能直接回答 AMP、kernel fusion、通信合并等优化落地后 iteration 会快多少。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977BDB97-5F5C-4DA7-95A0-8CAE8536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19325"/>
            <a:ext cx="3476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BD90578-D0C4-4AD5-89C2-FBC3C0F5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193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B5B045D7-E2FE-43EA-AFC2-4C0041E2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2402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 / 理论结构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ED488C8F-A561-49C3-8E4F-C9158E0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43175"/>
            <a:ext cx="33242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CUPTI 与 framework layer 映射构建 CPU/GPU/communication DAG；以 select / scale / insert / remove / schedule 作为图变换原语；按依赖最早就绪时间回放。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重要纠正：它不是“所有 task 串行”，而是允许 DAG 中可并发的 CPU、GPU、通信重叠；单 CUDA stream 是当时 workload 的经验观察。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62A0DE27-3AC3-4771-9347-8964B8D3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105275"/>
            <a:ext cx="34766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EE69B67-577A-4BC9-9288-68316B34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10527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973E6ED6-8329-4AA2-98B0-1BD3F639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12623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代表结果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B3B31765-1AC7-4FD8-B051-FEF9DFAF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29125"/>
            <a:ext cx="33242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BERT-Large：AMP 改善预测误差 &lt;3%，kernel fusion &lt;7%；正文跨模型 AMP/FusedAdam 约在 13% 内。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34812208-F980-4441-A9DE-09726B51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219700"/>
            <a:ext cx="34766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C5B90EF-1812-435F-B2BE-99E08A23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2197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EC4F8751-CA9B-4EB5-A8F0-A6B9198A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2406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AF37F2D3-CB3E-4BB4-902A-B6549B75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543550"/>
            <a:ext cx="3324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直接复用旧 task duration；新 shape、新 kernel、换卡或未生成的 TP/PP 图需要外部 cost/graph。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F5AC20BE-817A-474F-9396-08C6A136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99D2F18-5593-415E-937C-6638EDC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F3549486-3571-4EB3-AAA9-14B08513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C84EB496-29B2-4714-9DB1-DF95F565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分布式 trace 有跨机时钟偏差；collective 粗事件掩盖 chunk/hop；多种优化会改变彼此收益，不能单独相加。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F2B7E38A-4023-4F59-8C8B-534EB5DF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3028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7696417-D644-4320-B104-5E8DA626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B7FF2A1C-1A80-4D12-BF9D-4FC5D7D1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402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 / 理论结构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07417384-5F64-4CE2-89FA-EEC65567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43175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local DFG + 细粒度 SEND/RECV；用依赖约束做时钟对齐；对 worker/link 建 FIFO 资源队列；在全局关键路径上联合搜索 fusion、tensor partition、recomputation 与 communication 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它没有“串行假设”；论文称可扩展到 model/pipeline parallel，但实证主要仍是 TF/MXNet、DP/PS/AllReduce。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5939F0C2-8F3A-425A-82C5-E16FD05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24325"/>
            <a:ext cx="3028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7B68F13-667F-40D3-A60C-015F0953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243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93E4B5D3-5A20-4C7B-8425-20B4E65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1452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代表结果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BD33E4BC-1038-4154-9962-F673EC6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48175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多数预测误差 &lt;5%，128×V100 最大 5.6%；大规模实验相对 XLA 默认策略，组合优化最高 3.48×。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95F0DF02-15D8-4B7E-B491-029560C8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9700"/>
            <a:ext cx="30289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5B64A98-8447-4407-83B7-CA3912C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97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598720B8-50F4-45BD-AC49-D9CC4F9F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2406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CF9092DB-5BA1-463C-B0AB-68B7A02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43550"/>
            <a:ext cx="2876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必须在目标集群采 trace；适合诊断/校准，不是纯离线新硬件模型。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917D2271-F250-4E32-A993-502B045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815E570-2289-45EC-9754-679DC88C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559EDB36-0D66-49FD-A56B-A720188F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演进关系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3DBEA51C-CA8D-4DB9-A86E-47A712E4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Daydream：一台/少量设备上的依赖图 what-if。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dPRO：跨 rank/机器的全局 DFG 与细通信。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共同核心不是更复杂的回归器，而是事件语义和资源约束更完整。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D97ABD10-8653-4C91-A2C6-4560A4E0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52675"/>
            <a:ext cx="29813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D05FFC3-D8E8-408C-AFBB-890889A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526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20742206-3E5B-4577-832F-D35CF3C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7363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73.8% 的正确口径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431AA146-6631-4541-9956-5CB589E6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76525"/>
            <a:ext cx="28289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“大集群误差最高 73.8%”来自 dPRO 2022 对 Daydream 的后测比较，不是 Daydream 原论文自报；应作为跨规模/通信建模不足的后续证据。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24F56C45-5DF3-48AF-B6F0-106161B8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2994658-6C3A-4776-9526-5163B5B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3CF7AAC5-F917-4796-8545-9085E820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833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纳入方案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CCC9B15A-2576-4EBF-9E26-61676325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2828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observed trace 作为 L1/L3 验证锚点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canonical graph + clock alignment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per-resource event queue / critical path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图变换用于优化 what-if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0CE1AF63-8CE0-4D96-B5D1-851AC271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29813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D2B571B-4DD4-444A-B33A-CD3CB559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37B6B9D7-EF1B-40F9-BDC4-E9BD647F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7393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不直接照搬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2B21CA88-8D96-446B-8D9A-04BAC122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76825"/>
            <a:ext cx="2828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不把旧 kernel duration 当跨 shape/跨卡 cost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不用 scope 名称代替 concrete op/kernel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不把目标集群 trace 当离线外推能力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不把有限 DP 实证泛化为现代 TP/PP/EP/MoE 已验证</a:t>
            </a:r>
          </a:p>
        </p:txBody>
      </p:sp>
      <p:sp>
        <p:nvSpPr>
          <p:cNvPr id="453" name="rule">
            <a:extLst xmlns:a="http://schemas.openxmlformats.org/drawingml/2006/main">
              <a:ext uri="{FF2B5EF4-FFF2-40B4-BE49-F238E27FC236}">
                <a16:creationId xmlns:a16="http://schemas.microsoft.com/office/drawing/2014/main" id="{6A52613E-D690-47A0-90C7-D75256AE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D6AB4C01-BF7E-4496-A1DD-1CF91078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DAG 调度语义正确 ≠ 输入 task duration 正确；系统线必须与独立的 component cost 层组合。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Proteus：策略编译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共同启示与分界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Vidur：请求级事件模拟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81ED6266-A570-49ED-8C26-056D59C6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系统线 II：从“回放已有图”走向“生成目标策略图与动态请求事件”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9EC5C22B-D298-45A5-B15D-814D05C0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5F5DB8F7-D33E-4D2F-8162-3E9BDAB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训练策略尚未部署时，从 Strategy Tree 编译 DP/TP/PP/ZeRO/recompute 执行图。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34F84F44-6649-434D-A9FD-7CB99B6B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推理中 prefill/decode、KV、continuous batching 和 scheduler 共同决定 SLA。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849C2358-058F-4654-A3A5-28E8E128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L1 显式生成是共同进步；但两者的 L2 仍依赖目标硬件 profile。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9AF9A6B3-42A0-499D-8D7A-DC80B982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B76D49D-471F-4F77-88D6-10435EDD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C495AF5B-A7A4-4A84-B3DD-21810B3B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解决的问题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2CD948D1-C28D-4254-A98C-B9323F3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在模型和并行策略尚未真正部署时，预测训练 iteration、显存与策略排序；不能先要求完整目标集群 trace。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D6E4A238-3974-44A4-941D-95B2350C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19325"/>
            <a:ext cx="3476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854A2FC-6E68-4214-AE49-7D51A7BF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193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E79B5243-D59B-4186-9B24-3FB2E00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2402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 / 理论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4EF96476-BE61-4C42-A64B-24061BF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43175"/>
            <a:ext cx="33242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Strategy Tree 统一表达 DP/TP/PP/ZeRO/recompute；编译 partition/layout transformation、collective 与 control edge；HTAE 模拟 topology、带宽共享、重叠和 tensor lifetime。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通信近似 T≈α+Bytes/β；profile 得到重叠增幅 γ，官方实现为 T=(1+γ)×Tbase。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ADFC6B92-E513-4781-B4F9-8D6C6118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267200"/>
            <a:ext cx="3476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342CD34-93D6-4307-92EB-8B25725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2672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93CFDACB-F538-4BF7-9B31-2E698CCD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2881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代表结果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5B54197E-B24A-420F-B9EE-BC75138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591050"/>
            <a:ext cx="3324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180 个结果平均误差 3.0%，最大 14.68%；2 个 OOM 误判。策略排序仅 GPT-2 的有限候选组有证据，不是普遍保证。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BBFAF12D-6EDB-46B0-ADCF-B75317FC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248275"/>
            <a:ext cx="3476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414E587-3861-4A9D-8010-AC311A4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24827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51B9DF81-DC58-461B-8EE6-87C0C71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26923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关键短板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29BC0D70-678A-4446-ACEC-B80D575D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572125"/>
            <a:ext cx="3324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新 shape op cost 仍需目标硬件 microbenchmark；γ 需按模型+机器 profile；动态 MoE/变长有限。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3BE6C112-562B-4A29-951E-EFBE1EB2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64E9E1C-2EDC-4A32-BEB4-103E554C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81213632-3144-431D-A1DC-69E4E2C9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解决的问题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5E0CD8BE-9FD7-458C-B0B9-1AC3F57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给定 LLM、GPU 池、TP、batch 与请求 trace，搜索部署配置、容量和 scheduler，不消耗数万 GPU 小时枚举。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85043B31-87D8-48FB-B2D0-517407F8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30289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12FDF37-B0AB-40E1-974D-0527152E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08BAE8EC-4EA6-477E-BB29-1D32B408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402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 / 理论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1310F88D-CAA7-4FA7-AB11-A0BF964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43175"/>
            <a:ext cx="2876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声明式模型规格推导分片 shape；把 token/attention/communication 分型；目标 GPU 少量 profile 后回归插值；三层 scheduler 做离散事件模拟。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prefill attention 用 sqrt(Σp²) 表达 ragged batch；decode 以总 KV bytes 表达 memory work。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CAB8F7FB-058E-4B2C-AF8E-6597F952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67200"/>
            <a:ext cx="30289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CEEF6E5-8421-42BA-B0F7-E0A5E42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672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BA0CA5B7-ED6B-4BB2-BFAF-0126DD60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881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代表结果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CB8C3F11-0ADE-472D-A842-63A4AAE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91050"/>
            <a:ext cx="2876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作者/微软 PDF 写 request latency &lt;9%；MLSys proceedings 摘要写 latency/throughput &lt;5%，版本口径不同。42K GPU h→约1 CPU h 仅 70B 特定搜索案例。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CEDFA2DF-F1CE-4440-AD93-5B25ADF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3028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26F5C03-61E3-47B8-9096-2E7745F2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0758EA4F-319B-483C-B6BB-199504DF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26923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关键短板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8E51FBA4-B358-4161-A12C-89D4E902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721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需要每种目标 GPU profile；靠近 95% capacity 时误差放大；聚焦推理，不覆盖训练。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A7FC6B0D-7745-4252-ADC4-380F2C0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265C529-3735-492D-BB88-B9BF3F4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8708FBFA-A6E6-4DF6-8CEA-5B3EA33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的两种动态性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E224331D-719A-4936-AC5B-14C1F479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Proteus 主要生成并行训练策略图；Vidur 进一步生成随 request 状态变化的 batch、KV 与 scheduler events。静态一个 batch/seq 不能代表 serving 分布。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4CFD86F0-7689-4FA9-9D16-575D126E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4789C1B-81D8-47E5-BEFA-E5BEA9F8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7BF7DDD0-DEF6-45FA-9D43-32FBB138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831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为什么系统误差会放大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2A2D4B21-9A28-4B39-A89D-2D0727B6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接近容量点时，service time 的小偏差会使 queue length 与尾时延非线性增长；训练中 stage imbalance 或通信误差会改变 PP bubble/critical path。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18695A3F-9CAE-4214-9A17-BD8338BD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AB17B6F-252A-4817-B5C4-2BF72E8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1A2C88CD-095F-4D27-A0D5-2D1A1254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833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纳入方案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5C3C4971-5D50-4A05-8515-1E319B10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2828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目标配置→per-rank graph/shape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dynamic workload state distribution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tensor lifetime / OOM simulation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scheduler/event model 可插拔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L2 cost 作为独立接口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F84786C8-0CC6-4542-A35F-93690F31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81550"/>
            <a:ext cx="2981325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D59921C-D259-4419-9483-2070ADC1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815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E2D958A1-3775-480D-85A9-462E9B80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025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仍需真机验证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FE96DA9D-A07F-46C8-8972-237EE50D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05400"/>
            <a:ext cx="2828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模型/runtime 版本变化会改变 graph、kernel 与 scheduler；目标 profile 插值远离采样区间不可靠。我们需要用 Transformers/vLLM/SGLang/训练框架的真实可执行图和目标卡重新闭环。</a:t>
            </a:r>
          </a:p>
        </p:txBody>
      </p:sp>
      <p:sp>
        <p:nvSpPr>
          <p:cNvPr id="453" name="rule">
            <a:extLst xmlns:a="http://schemas.openxmlformats.org/drawingml/2006/main">
              <a:ext uri="{FF2B5EF4-FFF2-40B4-BE49-F238E27FC236}">
                <a16:creationId xmlns:a16="http://schemas.microsoft.com/office/drawing/2014/main" id="{92898C80-6DF4-4B54-A05A-8AB8B9C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A1C6AE8F-C02E-46BB-B1D1-E801B9C6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目标执行图必须显式生成；L1 不应从旧时长外推，L2 也不能被系统模拟器的高精度数字掩盖。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Habitat：机理缩放+分支学习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NeuSight：机制约束利用率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nn-Meter：先探测离散路径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0B5195D0-684C-4D52-9D48-95830BE9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Component 线：进步不在“更大 ML”，而在不断缩小 ML 的责任范围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1E7E6D6E-019F-47B1-84CB-192C427F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55CE411A-F2F2-414A-A661-549405E5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同模型/shape 从源 GPU 外推目标 GPU；kernel-alike 与 kernel-varying 分开。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BE4362FC-5A10-41C2-902B-7A49FAEF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闭源 edge backend 先发现 fusion/kernel 规则，再在每条路径内自适应采样。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100E573B-2462-4F51-982F-276ED4CC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把 tile、wave、roofline 写进结构，学习 utilization 而不是裸 latency。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0996D37C-A5C3-4FA2-9C01-A517CBD0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7BF8430-34CA-413B-9D92-F41B629B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E1127285-4427-4414-AD66-66A33E15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背景与方法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936497F6-4DAA-4AE0-B2DA-7DBCCCF0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kernel-alike 用 wave 数/实测带宽/时钟与 roofline-derived γ 外推；Conv/LSTM/BMM/Linear 等可能换 kernel 的算子用专属 MLP；最后按 op 求和。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6E14D67E-29AC-458D-A68D-C54D97B9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81225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5A1B32E-C8BC-4EE5-969F-A7CBD85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812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5E103D11-548E-4DEC-814D-61135A7D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2021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理论直觉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FD5AEBDA-25AD-47F4-B44D-E5583CC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05075"/>
            <a:ext cx="3324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先以计算/内存瓶颈比 R=P/D 判断 scaling 区间，再用 γ 在目标 GPU 的 compute 与 memory scaling 间插值；如果实现路径会改变，则不相信单一 scaling 公式。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DB2E79FA-4CFF-45C0-A7B4-F270B66D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533775"/>
            <a:ext cx="3476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835FA0E-69DA-486D-979A-52D76EB7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53377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E19AF35B-4B1E-46AE-BC6F-A9BA2E7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55473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E98D3D2C-044F-48DF-963B-52927A8B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57625"/>
            <a:ext cx="3324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6 GPU×5 模型平均误差 11.8%。NeuSight 后续按其数据重训的 OOD 测试给出 inference 220.9%、training 725.8%，不是 Habitat 原文结果。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E540E57C-8750-4679-A5FF-D9B3838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19625"/>
            <a:ext cx="3476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F55C067-C6F8-4046-A66D-CADC522E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196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7A13BC43-1C2F-4264-ACD6-D85E1665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405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 / 启示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CD550989-0A57-4F2C-A69A-AD62F570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943475"/>
            <a:ext cx="33242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固定同一 batch/shape；不建模通信/多流。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继承：机制 route 分流。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不继承：无 support 边界的 latency MLP 与串行求和。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926FC7AD-7D01-42A9-83DE-D671ACA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2ECC5B1-08A4-4972-9E38-3ED2587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9999A8FB-78F4-4DA5-BA15-88653F0E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背景与方法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3A0E9005-D250-4FAC-BDA0-C50A69B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pair/branch 小图探测 fusion 规则；DFS 合成实际 kernel；每个 kernel 建回归器；高误差 channel 邻域 [0.4C,1.2C] 继续采样。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ED030D78-ABC6-48BF-8749-0C9AC0E2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81225"/>
            <a:ext cx="3028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9AB8912-504E-4C93-8DCB-1D42C8FC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812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21ADE942-31F7-4D03-B06C-156710B7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021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核心贡献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8738A243-F116-4A6A-9F10-B7D6BE61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050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它把“会不会融合/选哪条 kernel 路径”当离散问题，而不是让一个连续回归器硬拟合阶跃；自适应采样聚焦 change point 附近。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EAC5012F-C901-4234-BF71-B392BCED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39F7C16-1CDA-46DE-B177-E660F321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1B7D26F0-B7A1-408D-8AD1-5B097181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5473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16E81D24-0962-4C23-A084-67FF93D0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57625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26K benchmark headline，±10%：移动 CPU 99.0%、GPU 99.1%、Intel VPU 83.4%；更严格 unseen-model k-fold 平均 89.2%。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C00ECC8E-4933-4916-A418-FC92F8C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19625"/>
            <a:ext cx="3028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A1BD114-09D9-445E-B3C7-A38CF198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196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ECF4185E-5DEE-420E-8BBE-7C1E2534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405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 / 启示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6882279C-B223-4FEC-83DC-88347064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43475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2021 edge CNN inference、近似串行 kernel；换设备/backend 要重探测和训练。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继承：route gate、边界采样、完整 fingerprint。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不泛化：服务端多流/LLM/训练。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84135915-C75A-40AA-8E45-FA24176C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17E4A20-5E44-45C8-BA83-D0799F1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3F4435D5-D577-4650-AB62-F8455DF8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背景与方法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38621AC6-5CB0-4E75-811C-E527230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解析 tiles、waves 与 roofline peak；MLP 学不同 wave 下的 utilization 参数，再计算 latency。目标是 joint model+GPU OOD 时保持物理结构。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108ABDA0-937F-4CEF-88C3-FD10296E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81225"/>
            <a:ext cx="29813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80FAC05-B161-4FE7-A8AB-E99E1719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8122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EC49BB11-6BDA-4E0D-9317-68564FC8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20218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机制方程（概念）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229D40E9-1B26-4A72-B081-27D17A03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05075"/>
            <a:ext cx="2828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latency ≈ waves × tile_work ÷ [roofline_peak × utilization]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论文与代码的参数实现并不完全一致；准确说是 roofline 上限约束，不是严格双边钳制。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486D93AB-44B9-4E8B-B542-2A2B702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33775"/>
            <a:ext cx="2981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CDE0C53-6A50-4134-A14C-D291FB69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337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CDFA5B13-DEA2-4750-BBB6-A7BBDBA3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5473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82AC1E97-19BA-4D3D-A80A-6954AAE9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57625"/>
            <a:ext cx="2828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inference 9.7%、training 7.3%、OOD GPU 8.1%；GPT-3/H100 单例：基线 121.4%/30.8%→2.3%。单例不能代表整体。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AD0D481E-877A-40E5-9488-59117299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29813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20AAF1F-203F-4AAB-A6AC-AF5228DD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2388F840-5737-4A7D-B1A9-C1FA52F5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4058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 / 启示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BE38B0A6-6915-46CE-9B95-470ACF99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2828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依赖 tile/grid/tactic 可获得；operator family/dtype 有限；新架构仍需适配。4-GPU 结果论文内部 5.4% vs 7.7% 口径不一致。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继承：tile/wave/roofline + 受上限约束的利用率；工程扩展：segment residual、route OOD 与实测 fallback。</a:t>
            </a:r>
          </a:p>
        </p:txBody>
      </p:sp>
      <p:sp>
        <p:nvSpPr>
          <p:cNvPr id="453" name="rule">
            <a:extLst xmlns:a="http://schemas.openxmlformats.org/drawingml/2006/main">
              <a:ext uri="{FF2B5EF4-FFF2-40B4-BE49-F238E27FC236}">
                <a16:creationId xmlns:a16="http://schemas.microsoft.com/office/drawing/2014/main" id="{A1A10820-2A80-454B-B429-0310C59C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480621A0-9943-4B0A-87B4-AE41A178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推荐顺序：先判 kernel/tactic → 解析 tile/wave/roofline → 我们在同机制段学 residual → OOD 拒绝并实测。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Ansor：生成与搜索闭环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进入灰盒的位置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TenSet：离线真测题库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633AC1B1-EC26-4DFB-BBC7-76ED04EB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编译器线 I：ranking cost model 的目标是少测点找到好候选，不是直接报 SLA 毫秒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E837D593-90E6-4A22-AB19-313314EE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16A81186-7B09-4D61-96EF-57169D9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sketch+annotation 生成完整 tensor program，用 cost model shortlist，再上目标机回填。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F71F1E8F-820C-4859-A9CB-6828EB94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把大规模真实 runtime、预训练与跨 task/hardware warm start 系统化。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9BA84A43-6D03-42DE-9DC4-77ABF485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ranking 适合 R2 top-K；winner 和绝对值仍回到 measurement cache。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0A18193D-23FF-4DED-BF6B-9188023B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16239B0-A5BE-4BF4-8EEA-D550B93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05671DE9-5C14-4BB7-996B-F6F0D58B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6F1ACDE3-A31A-4F10-8CAE-D063E373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专家模板限制搜索空间；逐个实测候选过于昂贵；还要在多个 subgraph/task 间分配 measurement budget。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1DFC411D-330D-46A2-867F-BCD1932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09800"/>
            <a:ext cx="3476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CFA36B7-0D64-426A-842F-6C1036CE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098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92E51A99-0BB1-4F8A-B42B-49B2F524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2307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C71B46A8-9BAB-4178-A78B-2E7FC69C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33650"/>
            <a:ext cx="33242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生成：sketch 定高层结构，annotation 完成 tile/unroll/vectorize/parallel。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搜索：GBDT 预测同一 task 内归一化 throughput，训练用 throughput-weighted squared error；遗传搜索挑候选。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闭环：目标机实测回填；task scheduler 分预算。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A301AB66-7262-40CA-A8BD-31660CC5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10025"/>
            <a:ext cx="3476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C86BD49-6E8C-4183-9836-54CA884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100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2AFD9454-3EF8-405D-889A-4C9F114A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0309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效果口径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359D7D9E-2EA6-403A-B920-2F50CCD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333875"/>
            <a:ext cx="3324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相对最好替代方案 E2E 最高 Intel 3.8×、ARM 2.6×、GPU 1.7×；BERT 达 AutoTVM 同质量的 wall time 少 45.1×。不是 latency MAPE。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69361D86-C164-44C9-B9AA-0B338E2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038725"/>
            <a:ext cx="3476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A8EE117-B68A-4158-88E2-C2435307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0387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E7071429-E1EA-4881-8632-392A762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0596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2E1D6D6D-BF87-4BB0-9E40-D30AB574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362575"/>
            <a:ext cx="3324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Ansor 原 cost model 不是 RankLoss，而是 GBDT + weighted MSE；输出是 task 内相对分数。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E8972F26-A97D-45B2-9C8F-C456881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10E6F3F-96AA-4BD0-BC87-637AF58D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8846995F-C9A3-40A7-BDDE-2947F82B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6296099D-3AD7-4225-8750-10B92D04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缺统一、可复用的 tensor program 真测数据，导致每个硬件/任务都从零收集；cost model 难以公平比较。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D97B936D-978F-4C68-B8A7-3B32FCA5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30289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D8334B9-F1AE-4AA6-BEAF-AF5C9121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0E6B98C2-0708-4B58-902C-45E8E15F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307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5902D751-AEEE-408A-AAF6-E9A606D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33650"/>
            <a:ext cx="2876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约 52M 条真实 runtime（不同一手版本有小幅数量差异）；覆盖 6 类硬件、2,308 subgraphs 与 13,848 tasks；比较 MLP/XGBoost/LSTM 与 MSE/ranking；少量目标测量学习 local residual；top-3 再做 E2E 组合实测。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4D9468D6-0B0F-41D7-AA3C-D21D090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10025"/>
            <a:ext cx="3028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3F33DE4-1B87-478D-9FE1-2B0F487E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100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BFBBA41D-9B2E-4189-87E9-7609482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309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效果口径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12D0C326-1CEA-4BF1-AB4B-582FA216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33875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总体最好，但非所有模型/top-k 均第一；达到同搜索质量最多快约 10×。数据有真实 runtime；ranking score 无毫秒单位。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1A7DC7BF-2686-4B31-AC47-F8E0D395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38725"/>
            <a:ext cx="3028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FD090F6-7F2C-4864-8DF9-2A3A8863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387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AC1A421E-ECD1-4DDC-B5C7-3464C646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0596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AC2E5936-1CA8-445B-A513-A644DF68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6257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旧 TVM/静态 inference；跨硬件仍需目标标签；局部 subgraph 最优之和不保证 E2E 最优。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D57169E7-9462-4D1D-AE4E-D0155F60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9558662-FC8D-4CE3-ABD1-A22988EB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433C9FAC-AFC4-4320-A7B4-20DE433D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我们采纳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28931D9F-F0E9-4515-8B23-17B6E708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candidate/schedule 生成器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ranking head 做 shortlist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真实 runtime 统一 schema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target-domain local residual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measurement budget / active loop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1DD196E8-54F0-4D3D-89A5-C41F39D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29813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A5848EC-81EF-4427-B9AB-2D8821F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B1CD08B0-E36F-4C84-9B33-45E308AA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287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我们必须分开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AFAF9757-024C-4B92-B4CC-8A700E68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2828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ranking score：只保相对顺序。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absolute head：输出 ms + uncertainty。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E2E simulator：把多个 component/资源事件组合。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三者可共享表征，不能共享输出语义。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D0178D03-527C-43CE-B166-7B3656CB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29813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5474806-73AB-4BF8-BD6B-2BEA516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180645FA-124D-461B-813D-60CE267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30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为何 local 最优不等于 E2E 最优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86E3084A-431D-4A9C-9942-732A52A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2828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不同 tactic 会影响 fusion、memory footprint、stream concurrency 与 graph schedule；单 op 快可能增加全图 memory/serialization。需要 top-K 在 L3 或真机上联合评估。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0DE7BD16-3A5B-4D0F-A42E-5EB2834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29813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D0523F1-3C35-46C7-8F3A-7066F0A4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9E54D9ED-B057-4793-BF9C-8AFA833A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072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对灰盒的具体落点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51014218-0E9F-492A-A48D-9A4D9C00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10150"/>
            <a:ext cx="28289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L1 生成候选 route；L2 ranking 先筛；R0 cache 命中返回事实值；未命中 winner 做 microbenchmark；测量同时更新 absolute residual、ranking 与 support/OOD 统计。</a:t>
            </a:r>
          </a:p>
        </p:txBody>
      </p:sp>
      <p:sp>
        <p:nvSpPr>
          <p:cNvPr id="453" name="rule">
            <a:extLst xmlns:a="http://schemas.openxmlformats.org/drawingml/2006/main">
              <a:ext uri="{FF2B5EF4-FFF2-40B4-BE49-F238E27FC236}">
                <a16:creationId xmlns:a16="http://schemas.microsoft.com/office/drawing/2014/main" id="{0FB0B410-260F-4EE6-91F5-230E72A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1D59FD0F-3C19-450E-A39E-1B75B71A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搜索头与绝对头可以共享编码器，但最终 winner、域外点和容量数字必须回到目标机实测。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TPU cost model：图表征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灰盒的迁移策略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TLP / MTL-TLP：序列表征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CBF02B99-EF51-45DE-9E6A-8BAA4079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编译器线 II：结构表征能提升迁移，但 OOD 时解析先验可能反而更可靠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F72CFE4B-3957-45CA-A122-BF021B3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BC256422-D408-408D-93D6-A32B317F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用 GNN 编码 XLA kernel graph、shape/layout/tile；不同目标使用不同 loss。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00B38A82-B284-4E63-B993-DBB9EFA7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TVM schedule primitive 序列表征 + ranking；多硬件共享 backbone。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694058A2-F155-4CF0-8493-5635171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结构表征用于 warm start；support 不足时回退 analytic/microbenchmark。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F2CFA04F-5B25-4EF3-9AF1-CBC086A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A0D238F-B348-45D4-A6E2-3F80B57B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72B13D98-1679-4660-B1AF-BA04FB4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问题与方法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37DFC017-9780-4FE3-ACF9-EAD92A9C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XLA tile/fusion 候选巨大。GraphSAGE 编码 kernel graph、shape/layout/tile 与可选 FLOPs/bytes；tile 用 pairwise ranking，fusion 用 log-runtime MSE 后求和。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1941C99D-1D96-445A-900C-0465B410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90750"/>
            <a:ext cx="3476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79A0059-9BE2-4F1B-A8FE-8C04F7D0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1907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B253BA53-09FA-47AF-B2C6-DF36F929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2117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关键反例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BBB0CA08-1860-4C24-A71F-AB1DDFED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14600"/>
            <a:ext cx="3324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Tile-Size APE（选路后程序级 regret-like 指标）：随机 split learned 3.7% vs analytic 6.1%；manual OOD learned 6.3% vs analytic 2.3%。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fusion ≥5µs：runtime MAPE 4.5% vs 31.1%。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4A672EE4-34BB-477A-8A99-5AC576AF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4575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8EACFBA-BB3D-42BF-A791-416A501A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45757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E0B5356F-136C-489E-992E-F876791F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47853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怎么理解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9E0A5222-D9A6-47BF-ACA4-071499F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781425"/>
            <a:ext cx="33242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学习模型能吸收编译器实现细节，但随机 split 的邻近分布优势不等于外推能力；域外结构时，手写机制先验可能更稳。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7D3EDC8E-7BC4-42C9-A808-04149063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19625"/>
            <a:ext cx="3476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909BE90-FCD0-4C76-823A-2E9E21EE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196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0B0AD9C9-D39F-4411-AEF7-822B07F4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405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10EDE24C-8DB6-4756-81F8-9671D8B1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943475"/>
            <a:ext cx="33242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强绑定 XLA/TPU；约 25M tile、208M fusion 样本；假设 kernel 串行；论文分别有 TPU v2/v3 测量，不证明 v2→v3 zero-shot。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588B8DEA-7582-47E5-AD02-A31003CC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913B36C-A5D0-4034-874F-E0967FC1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EA6AF788-12C8-438E-B32C-52AE448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问题与方法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3B044056-485A-4F97-8420-EFB804D2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手工提取最终 program 特征耗时；新硬件标签不足。TLP 将 primitive type/id/参数序列输入 attention+LambdaRank；MTL 共享 backbone、每硬件独立 head，缺失 label 跳过 loss。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2CF137DF-282F-447B-AEB2-77C0FDD2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30289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BB9B885-60EC-4DC9-8B61-E422DEBC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2857CE9D-5817-419D-812C-751A6314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117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效果口径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97F7F7C1-F478-40F8-9BE1-C956D793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1460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达到 TenSet-MLP 同质量：TLP 搜索时间 CPU 9.1×、GPU 3.0×；MTL-TLP 4.7×/2.9×。所谓 7% 目标数据仍约 500K 有标签记录，采集需几十小时。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AFAACD36-744D-4D59-8250-35D93A3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57575"/>
            <a:ext cx="3028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EAA575F-C8C5-4E31-BB8C-EED50F24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575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61AEE9C2-798F-4B00-B5CD-586DE21D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7853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怎么理解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01B8414A-2371-4BC4-A3F1-0440BAC8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8142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这是新硬件调优的 warm start，而不是 zero-shot。多任务共享减少目标域数据，但输出依然是候选排序，不是绝对 latency。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89D53B20-BBBC-47F0-9996-B1BADC2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19625"/>
            <a:ext cx="3028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BFDB112-DBFD-46B1-8A21-F697CC9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196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B0C0E8B1-7479-4646-9E54-D7366CB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405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2F1C271B-ACD2-4AAA-A6E0-B95350E2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43475"/>
            <a:ext cx="2876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绑定 TVM schedule primitive/版本；未做 CPU↔GPU MTL；需要目标域标签；无系统级 L3。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2386AFAD-8753-4FF7-B952-00F98C34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153D2A7-AD43-41BF-9893-6C2C616A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766A84C2-D30C-4A27-B5ED-4CC37CE8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迁移不等于无测量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C65489BE-9E41-4BE1-8FF0-E74AA259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新硬件可以复用结构编码与共享 backbone，但必须预留少量目标标签或 discovery benchmark；否则无法确认 route、峰值、cache 与 runtime 差异。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99077CA6-2872-4280-A789-F5C5FBBD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C329FA8-F7B9-4DCC-A33E-BFC12356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382FA506-9A12-45C8-816F-73777F98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2307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灰盒的三种 domain 状态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4F8B91DD-10DB-481F-8580-EEB843E7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In-domain：learned residual。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Near-domain：analytic + calibrated residual。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OOD：analytic 仅初筛；winner/绝对值必须 microbenchmark。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由 support 与 route novelty 判定。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8F675F82-8162-481C-A578-60C02D4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29813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D331D4E-1A6D-4EBA-9706-42C4FFE2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076BE679-D82E-4B17-810B-06B2912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30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表征与目标解耦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885139CC-EE6F-4766-8268-6F76F877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28289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同一个 graph/schedule encoder 可以接：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ranking head：候选 top-K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absolute head：log latency / utilization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uncertainty/OOD head：support distance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但需要分别校准与评估。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F740B4CB-8E26-4847-A8F6-4F3DD22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05350"/>
            <a:ext cx="29813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2D1A03A-A23E-47B3-BE32-CA1D56BB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053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21793A57-763B-452A-A601-1FAD5342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263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验证门槛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FCAB7384-8578-4475-A329-4FCD5A0F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29200"/>
            <a:ext cx="28289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必须使用严格 shape/route/hardware OOD split；随机 program split 仍可能让结构/shape 相近的程序分处 train/test，OOD 强度弱于 manual dissimilar split。报告 ranking、absolute MAPE、underprediction 与 fallback coverage。</a:t>
            </a:r>
          </a:p>
        </p:txBody>
      </p:sp>
      <p:sp>
        <p:nvSpPr>
          <p:cNvPr id="453" name="rule">
            <a:extLst xmlns:a="http://schemas.openxmlformats.org/drawingml/2006/main">
              <a:ext uri="{FF2B5EF4-FFF2-40B4-BE49-F238E27FC236}">
                <a16:creationId xmlns:a16="http://schemas.microsoft.com/office/drawing/2014/main" id="{DC1ED4D4-A5B3-4438-BA8C-99157DC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722F762A-445E-45F0-BCBC-D7B89F6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TPU manual-OOD 反例说明：ML 与解析模型不是线性替代关系，真正稳健的是 support-aware 的组合。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L1 图与 shape 契约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L3 与证据契约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L2 成本与测量契约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36A8FDBA-6406-4477-9895-7F954376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跨论文综合：不是“选一篇照抄”，而是把各路线的有效机制拼成工程契约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32E4346D-6087-42C4-A4F4-A166B6BD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BD50C308-7E4A-44FD-AFCE-71153C9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目标策略图必须生成；trace 只用于核对与校准。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3F07D6A7-B865-45FD-A746-A0BC9A3D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先判 route；域内解析+残差，未知点走 measurement fallback。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A4950C19-E79D-4265-85FA-3A3EE2AE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按资源事件形成关键路径，并明确证据等级与不可承诺项。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9D65EEAD-7E79-4E46-A642-EE08AC43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95A72D9-8944-4D2F-B1E8-8B6B31A2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D89C6634-87A9-4C21-8C54-F45E33FE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四条规则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2C877202-9CEF-4B12-80E2-A11EE047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1. 目标 graph/shape 显式生成：Proteus、Vidur。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2. baseline trace 作为 observed anchor：Daydream、dPRO。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3. per-rank signature 含 op/fusion/tactic/dtype/layout/full local shape/software/topology。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4. dynamic serving/MoE 使用 token/context/expert-load 分布，不用平均 batch。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图或 phase 不可信时停止端到端结论。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C4C55901-E882-41FF-9108-8A464EC9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486150"/>
            <a:ext cx="34766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6B46D38-6012-467E-9201-D779697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4861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739CCFB6-4F93-4296-AE52-3499ADEB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5071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的 canonical schema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27DD872F-788D-4B22-BC88-B328A4AA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0"/>
            <a:ext cx="33242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逻辑层：phase → module/op → tensor semantics。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实现层：fusion group → backend op → tactic/kernel。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张量层：nominal/valid/padded shape、dtype/layout/stride。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并行层：rank coordinates、group members、message bytes。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资源层：stream/device/link/dependency。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版本层：model commit、framework/compiler/runtime/driver。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F10A8BBC-1314-4E46-BB90-3B5E04AF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425E816-DC11-422A-88A3-E418E57E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5D86B17C-3E09-43FD-B074-46A64F2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R0–R3 路由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902DFBC2-C117-486E-B708-C353B442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R0 exact cache：同 fingerprint 真测。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R1 interpolation：同 route、域内 shape。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R2 gray residual：tile/wave/roofline × learned utilization/residual。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R3 OOD measurement：新 tactic、越界、uncertainty 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绝对 latency+区间服务 SLA；ranking 服务 shortlist。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AD2E7A11-D1F9-4A73-9ACA-540F0AB5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86150"/>
            <a:ext cx="30289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5E73064-1B09-4D3D-ADBB-26433B9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861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1EDB0798-2424-4FF8-A805-167742A9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071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数据闭环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735FC3EE-CBFA-412F-A1D4-7AF4579D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2876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先探测 fusion/tactic 路由：nn-Meter。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边界主动采样：nn-Meter。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roofline 上限约束 utilization：NeuSight。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目标域 local residual：TenSet。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多任务 warm start：MTL-TLP。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winner 真测回填：Ansor/TenSet。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cache key 绑定软件/硬件/环境。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同时报告 coverage、fallback rate、P95 underprediction 和 segment correction。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D39894B4-C103-4A54-A1BC-9199E9B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686462C-20AA-4B33-994F-527A1A79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5D75854A-6773-4BDD-B39E-FEB4BCCF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系统与输出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9CA0641C-470E-4C45-8FF1-25B2DB31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per-resource event queue 表达 stream/collective/link/KV/CPU。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overlap、争用、同步、queue、pipeline 不能默认 Σkernel。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输出：mean/P95/P99、throughput、OOM、bottleneck、CI/support、reject reason。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端到端误差需按 L1/L2/L3 逐层归因。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8C4E515E-F8DC-44A2-9704-EB81DB3D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29813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C7A9031-4359-4DF0-A340-97A2C770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F1E9EDFA-63F6-4020-8D0C-EFEC228B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071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CC7092B4-BE32-43CB-8357-52F12686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28289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SM：链路冒烟。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AR：作者 artifact 数值对齐。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EX：公开真测数据上的新实验。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DX：profiling 诊断/门禁。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GT：目标模型+目标硬件 ground truth。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6B8A4364-ABE5-406E-A4C5-9FAB0D1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29813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3032D0D-8072-427F-BE52-90D7266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E7D6D77C-EFA0-4190-A50F-56FC4B5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834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不能越级承诺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5AD603B0-4797-4EA0-BA82-AE1D0D30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86350"/>
            <a:ext cx="28289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没有模型代码/runtime/目标卡时，只能验证软件链路、公式与离线实验设计；不能承诺业务绝对值。没有同 workload/phase/topology 的 profiling pair，也不能把总时长比当仿真误差。</a:t>
            </a:r>
          </a:p>
        </p:txBody>
      </p:sp>
      <p:sp>
        <p:nvSpPr>
          <p:cNvPr id="433" name="rule">
            <a:extLst xmlns:a="http://schemas.openxmlformats.org/drawingml/2006/main">
              <a:ext uri="{FF2B5EF4-FFF2-40B4-BE49-F238E27FC236}">
                <a16:creationId xmlns:a16="http://schemas.microsoft.com/office/drawing/2014/main" id="{E91CF7B0-D526-4E17-985F-34F1D72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text">
            <a:extLst xmlns:a="http://schemas.openxmlformats.org/drawingml/2006/main">
              <a:ext uri="{FF2B5EF4-FFF2-40B4-BE49-F238E27FC236}">
                <a16:creationId xmlns:a16="http://schemas.microsoft.com/office/drawing/2014/main" id="{E8ABF389-1A5D-4D91-8CAC-E119C05A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“硬编码→拟合→灰盒”是工程抽象，不是论文单线年代史；真正演进发生在 L1、L2、L3 与测量闭环四处。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编译器 / kernel 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对方案的落地含义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runtime / autotuning 层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11C83741-AFA5-4707-BB99-1BF4227E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工业共同范式：解析模型负责缩小搜索域，真测负责选 tactic 与版本化事实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68E2E886-4EEC-45C2-91E2-20838228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6FBE191A-E6C9-4A98-8D28-54B31CB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OpenXLA、CUTLASS、nvMatmulHeuristics 都把 FLOPs/bytes/tile/launch 写进模型。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D80728EA-667F-4DD1-B02F-8797F689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TensorRT、Triton、hipBLASLt 在显式 shape/algorithm 区间内实测并缓存。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77B27647-185F-4766-A2D6-8921FF9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工业实践支持“route-aware mechanism baseline + bounded calibration + exact cache”。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15D456DC-7B68-40C4-8B37-73E1DE43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97B32DD-11AF-4E80-842A-C7C2A863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CF918453-377A-4888-8518-565E26C4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OpenXLA GPU fusion cost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D002E5F2-C445-416F-A136-B04E30FF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分解 FLOPs、DRAM/L2/shared 访问、launch dimensions 与 coalescing；解析各 component 后再用经验 overlap/throughput 系数组合，用于 fusion 决策而非通用 E2E SLA。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07D3B66B-B592-4380-8902-3C8E73B1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90800"/>
            <a:ext cx="3476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8803000-4A44-4D5F-853C-2748D262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908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AEC14D26-19CB-4744-8550-CD81371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6117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CUTLASS / Matmul heuristics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B912E08C-4EAC-4A71-8474-4CE3010D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914650"/>
            <a:ext cx="3324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显式枚举 CTA tile、warp tile、instruction tile、stages、cluster 与 split-K；依据 SM、shared memory、register、occupancy 与 wave 排候选。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4A4664B1-D741-469A-BD03-EA6FDBC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57650"/>
            <a:ext cx="3476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88A4245-A68C-49B1-AC44-149E1A08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576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15EF03FE-4D89-4C0E-A755-DC47D2B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0786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共同特点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426F30AD-D7FD-46B2-AE5B-F5A43B68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381500"/>
            <a:ext cx="33242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预测对象是 tactic/config，不是 model 名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计算量与内存量可解析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离散实现选择显式存在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结构模型主要做 pruning/ranking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最终 winner 常需 benchmark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软件版本与设备规格是 cache fingerprint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15EDC434-52F0-4287-8F56-F09133EA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BC33C34-9E2D-420D-9420-E4696614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9AF7A3A3-B411-4234-8D3F-6D59AFB7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TensorRT tactic timing cache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DFA595B4-987C-4C0C-BDAC-CE046157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builder 为具体 layer、shape、precision、format 枚举 tactic 并 timing；结果写入 timing cache。动态 shape 用 optimization profile 的 min/opt/max 管理，不把任意 shape 当连续域。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46AFE6A9-86DB-47C1-836B-988878C4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90800"/>
            <a:ext cx="3028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8B7AEC0-EF8B-4515-8F82-31AE028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908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0033A288-C9F9-4B1E-BD7A-C266BEA8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17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Triton / autotuning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AF4B864A-57F0-4209-B34D-551B046F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以 key 参数分区（如 M/N/K、dtype、layout）缓存最佳 config；候选由 program config 空间定义，真实运行计时选择。远离训练/调优区域并没有自动准确外推保证。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60C14F31-0346-4D75-B25B-8EAE8FB9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30289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4312C26-DF84-46CE-9142-AAB164D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7641B2CA-A1AD-47AC-8189-FA3A388E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786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为什么“实测”仍然必要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9E4F7687-2A9D-4E7B-83E4-BEA244D9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81500"/>
            <a:ext cx="28765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峰值规格不包含：编译器 codegen、memory coalescing、bank conflict、register spill、instruction mix、launch overhead、cache state、driver/library tactic 实现。解析模型能排除明显差方案，无法替代版本相关事实。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2CC478B0-8D4C-473E-9512-E659164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D92C8E4-1814-4DEB-B56D-F013B337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9209F9E6-FDD6-42E1-B151-184E88AD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组件字段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B7DD8BFF-867A-4678-A5B7-E799A34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component signature = op/fusion + dtype/layout + full shape + route/tactic/tile + device arch + compiler/runtime/driver + resource mode。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98AF6544-1667-447B-8AD4-6EB123B9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9813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58F685E-5C8E-467F-9B03-9F4520E6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A7E0B966-8F45-4C2F-A1B8-EF751DCE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974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分段变量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C5220C57-800A-4C7D-9B8B-AF43FF34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2828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优先使用机制段：route/fusion/tactic、arithmetic-intensity regime、waves/tail-fill、message bucket/topology class、prefill/decode/phase；避免仅按数值 shape 等宽分箱。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64BDEC2E-DD8C-46F4-A02D-B6C5EDEA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29813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5B4942D-71A0-4E60-B550-BB395EAA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2B4A9B7E-4CF4-44BF-B069-DF6CB029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500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 microbenchmark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C9394082-A81A-4B1E-9A3C-9E21279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28289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exact miss + route unseen；越过 optimization profile；support distance 高；uncertainty/underprediction risk 高；runtime/driver fingerprint 改变。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1EA5D22E-4B16-4674-BA64-DF22F29A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43475"/>
            <a:ext cx="2981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01609D8-5DE1-492D-9E3A-38499FAF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434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51A31818-0FB5-477E-B4A1-4AEDB885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6443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工程结果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BC6932B3-2DC6-49A5-9F8B-76167072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67325"/>
            <a:ext cx="2828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cache 不是训练集附属品，而是生产事实库；模型只负责扩大 cache 的覆盖范围。所有预测都携带 support 与 fallback reason。</a:t>
            </a:r>
          </a:p>
        </p:txBody>
      </p:sp>
      <p:sp>
        <p:nvSpPr>
          <p:cNvPr id="445" name="rule">
            <a:extLst xmlns:a="http://schemas.openxmlformats.org/drawingml/2006/main">
              <a:ext uri="{FF2B5EF4-FFF2-40B4-BE49-F238E27FC236}">
                <a16:creationId xmlns:a16="http://schemas.microsoft.com/office/drawing/2014/main" id="{4A560DDA-C904-4A0E-A8EB-A4E348C7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text">
            <a:extLst xmlns:a="http://schemas.openxmlformats.org/drawingml/2006/main">
              <a:ext uri="{FF2B5EF4-FFF2-40B4-BE49-F238E27FC236}">
                <a16:creationId xmlns:a16="http://schemas.microsoft.com/office/drawing/2014/main" id="{8C3D1CBD-C612-4C77-BFFD-E4FED51E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工业系统普遍不是“解析或 ML 或实测”三选一，而是解析 shortlist → 少量真测 → 严格 fingerprint cache。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L0 / L1：问题定义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L3 / L4：系统与闭环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L2：成本路由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7346E772-3551-4160-A8FB-C6E60E1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统一灰盒架构：L0–L4 把输入合同、目标图、component cost、系统事件和数据闭环解耦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BB4DFCE4-EBCE-4DE8-AD4C-98184AEC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8401EFB5-9E4F-4A43-B1F0-47B342E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没有完整输入合同就不生成“明确数字”；L1 输出 canonical per-rank graph。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54ACF91A-2168-458A-BD01-C26F7AC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exact cache 优先，机制域内插值，边界 top-K，域外实测。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7F1438EE-F017-42C9-903F-9A8B47F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事件模拟生成 E2E 输出；真测回填更新 cache、残差、门禁与采样策略。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3DCA3CBC-5664-494E-B043-D93693B2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7357F4F-8347-46DE-919A-D26F0D1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EAC89903-AEF3-49EA-8645-85A1740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L0 输入合同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7DC45A52-74B1-4728-BDFE-9CB25D19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模型/IR 与 commit；训练/推理 phase；请求/token/batch 分布；dtype/layout；DP/TP/PP/EP/CP；node/device topology；framework/compiler/runtime/driver；scheduler/memory flags。</a:t>
            </a:r>
          </a:p>
        </p:txBody>
      </p:sp>
      <p:sp>
        <p:nvSpPr>
          <p:cNvPr id="409" name="text">
            <a:extLst xmlns:a="http://schemas.openxmlformats.org/drawingml/2006/main">
              <a:ext uri="{FF2B5EF4-FFF2-40B4-BE49-F238E27FC236}">
                <a16:creationId xmlns:a16="http://schemas.microsoft.com/office/drawing/2014/main" id="{202E27A9-E180-4256-BBE7-682EB83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66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10" name="card">
            <a:extLst xmlns:a="http://schemas.openxmlformats.org/drawingml/2006/main">
              <a:ext uri="{FF2B5EF4-FFF2-40B4-BE49-F238E27FC236}">
                <a16:creationId xmlns:a16="http://schemas.microsoft.com/office/drawing/2014/main" id="{7B0D2107-AD57-4BAB-B3C8-2EE98CD5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14600"/>
            <a:ext cx="34766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60E73D0-CAE3-4378-B3B3-22E2FCEA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5146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124930C5-599A-4DFC-AF76-3C0C8552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5355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目标执行图</a:t>
            </a:r>
          </a:p>
        </p:txBody>
      </p:sp>
      <p:sp>
        <p:nvSpPr>
          <p:cNvPr id="413" name="text">
            <a:extLst xmlns:a="http://schemas.openxmlformats.org/drawingml/2006/main">
              <a:ext uri="{FF2B5EF4-FFF2-40B4-BE49-F238E27FC236}">
                <a16:creationId xmlns:a16="http://schemas.microsoft.com/office/drawing/2014/main" id="{ED1EF0EA-B2F5-4C3D-B276-154CF017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38450"/>
            <a:ext cx="33242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编译/展开每个 rank：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logical op → fusion group → backend route/tactic；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effective/padded local shape；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collective group/message；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stream/resource/dependency；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tensor lifetime 与 OOM 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输出 graph confidence 与不可解析字段。</a:t>
            </a:r>
          </a:p>
        </p:txBody>
      </p:sp>
      <p:sp>
        <p:nvSpPr>
          <p:cNvPr id="414" name="card">
            <a:extLst xmlns:a="http://schemas.openxmlformats.org/drawingml/2006/main">
              <a:ext uri="{FF2B5EF4-FFF2-40B4-BE49-F238E27FC236}">
                <a16:creationId xmlns:a16="http://schemas.microsoft.com/office/drawing/2014/main" id="{4512AFE0-51DE-4305-88B9-E8472368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200525"/>
            <a:ext cx="3476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4E857B4-3104-40D3-9BC6-B9D78AC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2005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60A26965-02BF-4FEB-9883-319A10DC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2214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门禁</a:t>
            </a:r>
          </a:p>
        </p:txBody>
      </p:sp>
      <p:sp>
        <p:nvSpPr>
          <p:cNvPr id="417" name="text">
            <a:extLst xmlns:a="http://schemas.openxmlformats.org/drawingml/2006/main">
              <a:ext uri="{FF2B5EF4-FFF2-40B4-BE49-F238E27FC236}">
                <a16:creationId xmlns:a16="http://schemas.microsoft.com/office/drawing/2014/main" id="{6CCB5489-9F0D-4F66-8965-2C97816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524375"/>
            <a:ext cx="33242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phase marker 与 op 证据一致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world size / parallel degrees 完整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rank coordinate / group 可重建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effective 与 padded shape 同时存在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operator abstraction 可 canonicalize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0 / missing / unmodeled 三态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失败：停止 timing comparison。</a:t>
            </a:r>
          </a:p>
        </p:txBody>
      </p:sp>
      <p:sp>
        <p:nvSpPr>
          <p:cNvPr id="418" name="card">
            <a:extLst xmlns:a="http://schemas.openxmlformats.org/drawingml/2006/main">
              <a:ext uri="{FF2B5EF4-FFF2-40B4-BE49-F238E27FC236}">
                <a16:creationId xmlns:a16="http://schemas.microsoft.com/office/drawing/2014/main" id="{827E35BA-0128-4D8E-9133-D409ADFB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C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052D1A0-F0B0-4E93-B89F-9B34939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FDCD5272-68A0-42CC-92E5-1541B2FE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R0 Exact</a:t>
            </a:r>
          </a:p>
        </p:txBody>
      </p:sp>
      <p:sp>
        <p:nvSpPr>
          <p:cNvPr id="421" name="text">
            <a:extLst xmlns:a="http://schemas.openxmlformats.org/drawingml/2006/main">
              <a:ext uri="{FF2B5EF4-FFF2-40B4-BE49-F238E27FC236}">
                <a16:creationId xmlns:a16="http://schemas.microsoft.com/office/drawing/2014/main" id="{1B115792-3E01-428B-A0A6-FA77633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同 fingerprint 实测：直接返回分布/统计</a:t>
            </a:r>
          </a:p>
        </p:txBody>
      </p:sp>
      <p:sp>
        <p:nvSpPr>
          <p:cNvPr id="422" name="card">
            <a:extLst xmlns:a="http://schemas.openxmlformats.org/drawingml/2006/main">
              <a:ext uri="{FF2B5EF4-FFF2-40B4-BE49-F238E27FC236}">
                <a16:creationId xmlns:a16="http://schemas.microsoft.com/office/drawing/2014/main" id="{6ECBDB50-A8B2-4500-A024-6C9645DB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145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B7DE98E-EEF6-4080-9520-B61F900B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F53C881C-9FB4-4124-87DA-2E865B3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355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 Interp</a:t>
            </a:r>
          </a:p>
        </p:txBody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1C78D9F1-3585-47B5-ABA4-CBFBADC1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384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同 route、域内 shape：分段插值/回归</a:t>
            </a:r>
          </a:p>
        </p:txBody>
      </p:sp>
      <p:sp>
        <p:nvSpPr>
          <p:cNvPr id="426" name="card">
            <a:extLst xmlns:a="http://schemas.openxmlformats.org/drawingml/2006/main">
              <a:ext uri="{FF2B5EF4-FFF2-40B4-BE49-F238E27FC236}">
                <a16:creationId xmlns:a16="http://schemas.microsoft.com/office/drawing/2014/main" id="{244BD8EA-4F5A-45EB-A58B-8A406E6A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57AC544-082A-4466-ABAC-7416F5A1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A92815FF-1C09-4C23-9612-AF032D5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261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R2 Gray</a:t>
            </a:r>
          </a:p>
        </p:txBody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862E757A-747D-40FA-B54C-58D875C2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tile/wave/roofline + bounded residual + ranking top-K</a:t>
            </a:r>
          </a:p>
        </p:txBody>
      </p:sp>
      <p:sp>
        <p:nvSpPr>
          <p:cNvPr id="430" name="card">
            <a:extLst xmlns:a="http://schemas.openxmlformats.org/drawingml/2006/main">
              <a:ext uri="{FF2B5EF4-FFF2-40B4-BE49-F238E27FC236}">
                <a16:creationId xmlns:a16="http://schemas.microsoft.com/office/drawing/2014/main" id="{B658D50C-3E0B-482F-9EB0-8FC9E0A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9AE7C5E-A8C5-4B9E-BB2E-4BBD0D04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4D06238F-0993-4BEA-889D-96A7EC3D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1167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R3 Measure</a:t>
            </a:r>
          </a:p>
        </p:txBody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23EED1F0-9A49-4F11-A7D5-F5CAE386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96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新 route/越界/高风险：microbenchmark 回填</a:t>
            </a:r>
          </a:p>
        </p:txBody>
      </p:sp>
      <p:sp>
        <p:nvSpPr>
          <p:cNvPr id="434" name="card">
            <a:extLst xmlns:a="http://schemas.openxmlformats.org/drawingml/2006/main">
              <a:ext uri="{FF2B5EF4-FFF2-40B4-BE49-F238E27FC236}">
                <a16:creationId xmlns:a16="http://schemas.microsoft.com/office/drawing/2014/main" id="{BEA4A66D-1E2B-44D3-B911-D029E0C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86350"/>
            <a:ext cx="30289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49557E3-8864-46BD-BE61-261A3FC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863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EF62CA1B-E79A-468A-B9B6-707F9356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1073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双输出头</a:t>
            </a:r>
          </a:p>
        </p:txBody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C1D8841A-3E24-4258-A41B-10B7ED8D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410200"/>
            <a:ext cx="2876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absolute head：ms/bytes/resource + CI。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ranking head：candidate score/top-K。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两者共享 signature/encoder，不共享校准语义。</a:t>
            </a:r>
          </a:p>
        </p:txBody>
      </p:sp>
      <p:sp>
        <p:nvSpPr>
          <p:cNvPr id="438" name="card">
            <a:extLst xmlns:a="http://schemas.openxmlformats.org/drawingml/2006/main">
              <a:ext uri="{FF2B5EF4-FFF2-40B4-BE49-F238E27FC236}">
                <a16:creationId xmlns:a16="http://schemas.microsoft.com/office/drawing/2014/main" id="{017DB647-88F7-4C8A-B7EA-3E68B74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4628D57-D135-48FC-91C9-DC1A52CC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7E56934D-C920-4058-8EEA-416E198F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 事件模拟</a:t>
            </a:r>
          </a:p>
        </p:txBody>
      </p:sp>
      <p:sp>
        <p:nvSpPr>
          <p:cNvPr id="441" name="text">
            <a:extLst xmlns:a="http://schemas.openxmlformats.org/drawingml/2006/main">
              <a:ext uri="{FF2B5EF4-FFF2-40B4-BE49-F238E27FC236}">
                <a16:creationId xmlns:a16="http://schemas.microsoft.com/office/drawing/2014/main" id="{F162C58A-E20D-49CA-BE36-511FD1CA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per-resource queues：CPU launch、GPU/NPU stream、DMA、HBM、collective group/link、KV cache、scheduler。按依赖 earliest-ready 与资源 availability 形成 critical path。</a:t>
            </a:r>
          </a:p>
        </p:txBody>
      </p:sp>
      <p:sp>
        <p:nvSpPr>
          <p:cNvPr id="442" name="card">
            <a:extLst xmlns:a="http://schemas.openxmlformats.org/drawingml/2006/main">
              <a:ext uri="{FF2B5EF4-FFF2-40B4-BE49-F238E27FC236}">
                <a16:creationId xmlns:a16="http://schemas.microsoft.com/office/drawing/2014/main" id="{5DEA406C-30D4-4730-A3A4-6F16A49C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9813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11C7F30-6A7B-45B7-ABFB-3678BBFF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7900C7AD-83BC-4C54-9F6E-F0D4FFB1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974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45" name="text">
            <a:extLst xmlns:a="http://schemas.openxmlformats.org/drawingml/2006/main">
              <a:ext uri="{FF2B5EF4-FFF2-40B4-BE49-F238E27FC236}">
                <a16:creationId xmlns:a16="http://schemas.microsoft.com/office/drawing/2014/main" id="{DA3D90D8-650D-4CAD-BD17-3FA0D7E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2828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iteration/request latency；TTFT/TBT/E2E；throughput/capacity；P95/P99；peak memory/OOM；bottleneck attribution；prediction interval；coverage/fallback。</a:t>
            </a:r>
          </a:p>
        </p:txBody>
      </p:sp>
      <p:sp>
        <p:nvSpPr>
          <p:cNvPr id="446" name="card">
            <a:extLst xmlns:a="http://schemas.openxmlformats.org/drawingml/2006/main">
              <a:ext uri="{FF2B5EF4-FFF2-40B4-BE49-F238E27FC236}">
                <a16:creationId xmlns:a16="http://schemas.microsoft.com/office/drawing/2014/main" id="{A574898A-D75E-4D01-8093-AC892157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29813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6F3DE8A-4705-4D06-9FD0-8D45B149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47C3E409-B121-4522-B5BB-B9C114A5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166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L4 数据闭环</a:t>
            </a:r>
          </a:p>
        </p:txBody>
      </p:sp>
      <p:sp>
        <p:nvSpPr>
          <p:cNvPr id="449" name="text">
            <a:extLst xmlns:a="http://schemas.openxmlformats.org/drawingml/2006/main">
              <a:ext uri="{FF2B5EF4-FFF2-40B4-BE49-F238E27FC236}">
                <a16:creationId xmlns:a16="http://schemas.microsoft.com/office/drawing/2014/main" id="{E3028495-0582-4B68-BA50-EAAB6025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9550"/>
            <a:ext cx="2828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prediction↔measurement 对齐；segment bias 检测；route change-point 采样；target-domain residual；cache/version invalidation；模型/门禁评估。</a:t>
            </a:r>
          </a:p>
        </p:txBody>
      </p:sp>
      <p:sp>
        <p:nvSpPr>
          <p:cNvPr id="450" name="card">
            <a:extLst xmlns:a="http://schemas.openxmlformats.org/drawingml/2006/main">
              <a:ext uri="{FF2B5EF4-FFF2-40B4-BE49-F238E27FC236}">
                <a16:creationId xmlns:a16="http://schemas.microsoft.com/office/drawing/2014/main" id="{BFC0EB60-2849-48B6-9753-689EE17D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67275"/>
            <a:ext cx="2981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C20B2F0-C6F3-46C9-8E67-1CF1374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672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0D7BFB20-3246-4A3E-AB41-3756EBDF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8823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拒绝也是输出</a:t>
            </a:r>
          </a:p>
        </p:txBody>
      </p:sp>
      <p:sp>
        <p:nvSpPr>
          <p:cNvPr id="453" name="text">
            <a:extLst xmlns:a="http://schemas.openxmlformats.org/drawingml/2006/main">
              <a:ext uri="{FF2B5EF4-FFF2-40B4-BE49-F238E27FC236}">
                <a16:creationId xmlns:a16="http://schemas.microsoft.com/office/drawing/2014/main" id="{B05FE907-2F8A-4BCE-8779-F08B542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9112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当 L1 不完整、route unseen、support 过低或 tail-underprediction 风险过高时，返回拒绝原因与最小测量建议；不生成伪精确数字。</a:t>
            </a:r>
          </a:p>
        </p:txBody>
      </p:sp>
      <p:sp>
        <p:nvSpPr>
          <p:cNvPr id="454" name="rule">
            <a:extLst xmlns:a="http://schemas.openxmlformats.org/drawingml/2006/main">
              <a:ext uri="{FF2B5EF4-FFF2-40B4-BE49-F238E27FC236}">
                <a16:creationId xmlns:a16="http://schemas.microsoft.com/office/drawing/2014/main" id="{D10B92B0-0C15-4E9E-99CE-1C7A004B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text">
            <a:extLst xmlns:a="http://schemas.openxmlformats.org/drawingml/2006/main">
              <a:ext uri="{FF2B5EF4-FFF2-40B4-BE49-F238E27FC236}">
                <a16:creationId xmlns:a16="http://schemas.microsoft.com/office/drawing/2014/main" id="{2A9E2B47-BF06-4680-A2F0-2FD9320A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架构的核心不是某个回归器，而是每层的输入/输出合同与失败语义都可被验证。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逻辑 / 张量语义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门禁与例子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实现 / 并行 / 版本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55AD11C9-8107-4D66-BFDA-DF66E6CA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L1 的关键产物是 canonical signature：把“同一个问题”定义到可比较、可缓存、可回放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90606E75-B12E-4FD6-9258-4A7F95C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7E66676B-A049-4D72-A745-4F56D74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先在逻辑层对齐 forward/backward/prefill/decode 和算子语义，再下钻 kernel。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CF4D4673-41D9-4DE6-BBD8-6798A926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route、tactic、rank group 与软件指纹决定 component cache 是否可复用。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6AF169E8-7303-4C5A-A7D8-BA21A80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signature 不完整时，两条 trace 的时长差没有可解释因果。</a:t>
            </a:r>
          </a:p>
        </p:txBody>
      </p:sp>
      <p:graphicFrame>
        <p:nvGraphicFramePr>
          <p:cNvPr id="454" name=""/>
          <p:cNvGraphicFramePr/>
          <p:nvPr/>
        </p:nvGraphicFramePr>
        <p:xfrm>
          <a:off xmlns:a="http://schemas.openxmlformats.org/drawingml/2006/main" x="76200" y="1123950"/>
          <a:ext xmlns:a="http://schemas.openxmlformats.org/drawingml/2006/main" cx="3476625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1476375"/>
                <a:gridCol w="1333500"/>
              </a:tblGrid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层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字段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为什么需要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Phase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train fwd/bwd/optim; prefill/decode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成本语义不同</a:t>
                      </a:r>
                    </a:p>
                  </a:txBody>
                  <a:tcPr marL="91440" marR="91440" marT="45720" marB="45720"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Logical op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GEMM/attention/norm/collective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跨框架 canonical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valid/padded shape,dtype,layout,stride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算法/bytes/route</a:t>
                      </a:r>
                    </a:p>
                  </a:txBody>
                  <a:tcPr marL="91440" marR="91440" marT="45720" marB="45720"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Context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mask,sparsity,fusion,workspace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实现路径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06" name="card">
            <a:extLst xmlns:a="http://schemas.openxmlformats.org/drawingml/2006/main">
              <a:ext uri="{FF2B5EF4-FFF2-40B4-BE49-F238E27FC236}">
                <a16:creationId xmlns:a16="http://schemas.microsoft.com/office/drawing/2014/main" id="{74453982-1992-4627-9032-38E9D0B1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581400"/>
            <a:ext cx="3476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F37F6E6-F696-40A1-B02A-33D790F6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5814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D6BF4A0C-4E69-4DFD-B747-6C1119AF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6023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394 vs 400 的启示</a:t>
            </a:r>
          </a:p>
        </p:txBody>
      </p:sp>
      <p:sp>
        <p:nvSpPr>
          <p:cNvPr id="409" name="text">
            <a:extLst xmlns:a="http://schemas.openxmlformats.org/drawingml/2006/main">
              <a:ext uri="{FF2B5EF4-FFF2-40B4-BE49-F238E27FC236}">
                <a16:creationId xmlns:a16="http://schemas.microsoft.com/office/drawing/2014/main" id="{4B1D986B-7DFD-47CE-8797-CB500B44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905250"/>
            <a:ext cx="3324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profiling 中多处出现 394 与 400：可能是 valid token/vision token 与 padded bucket extent。L1 应同时保存 nominal seq、valid count、padded extent、mask/index 与 bucket ID。</a:t>
            </a:r>
          </a:p>
        </p:txBody>
      </p:sp>
      <p:sp>
        <p:nvSpPr>
          <p:cNvPr id="410" name="card">
            <a:extLst xmlns:a="http://schemas.openxmlformats.org/drawingml/2006/main">
              <a:ext uri="{FF2B5EF4-FFF2-40B4-BE49-F238E27FC236}">
                <a16:creationId xmlns:a16="http://schemas.microsoft.com/office/drawing/2014/main" id="{78E7DA99-3D5F-4A02-B68C-1F51F2E0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848225"/>
            <a:ext cx="3476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D90FCAA-D36E-4D57-9E3B-A4C8A34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8482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059857AE-C57A-4E34-98CA-CC450FB9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8691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抽象层对齐</a:t>
            </a:r>
          </a:p>
        </p:txBody>
      </p:sp>
      <p:sp>
        <p:nvSpPr>
          <p:cNvPr id="413" name="text">
            <a:extLst xmlns:a="http://schemas.openxmlformats.org/drawingml/2006/main">
              <a:ext uri="{FF2B5EF4-FFF2-40B4-BE49-F238E27FC236}">
                <a16:creationId xmlns:a16="http://schemas.microsoft.com/office/drawing/2014/main" id="{0E459D47-EF57-40AF-9D1C-0EECC2BC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172075"/>
            <a:ext cx="3324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autograd scope（AddBackward0/CheckpointFunction）只作路径标签；concrete aten/op/kernel 才进入 component cost。逻辑 op 与 backend tactic 必须分层 join。</a:t>
            </a:r>
          </a:p>
        </p:txBody>
      </p:sp>
      <p:graphicFrame>
        <p:nvGraphicFramePr>
          <p:cNvPr id="463" name=""/>
          <p:cNvGraphicFramePr/>
          <p:nvPr/>
        </p:nvGraphicFramePr>
        <p:xfrm>
          <a:off xmlns:a="http://schemas.openxmlformats.org/drawingml/2006/main" x="3752850" y="1123950"/>
          <a:ext xmlns:a="http://schemas.openxmlformats.org/drawingml/2006/main" cx="30289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266950"/>
              </a:tblGrid>
              <a:tr h="3937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域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关键字段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Route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fusion group/backend op/tactic/kernel/tile</a:t>
                      </a:r>
                    </a:p>
                  </a:txBody>
                  <a:tcPr marL="91440" marR="91440" marT="45720" marB="45720"/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Parallel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global/local rank, DP/TP/PP/EP coords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Collective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type, members/axis, bytes, peer/topology</a:t>
                      </a:r>
                    </a:p>
                  </a:txBody>
                  <a:tcPr marL="91440" marR="91440" marT="45720" marB="45720"/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stream/device/link/memory space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Version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model/framework/compiler/runtime/driver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15" name="card">
            <a:extLst xmlns:a="http://schemas.openxmlformats.org/drawingml/2006/main">
              <a:ext uri="{FF2B5EF4-FFF2-40B4-BE49-F238E27FC236}">
                <a16:creationId xmlns:a16="http://schemas.microsoft.com/office/drawing/2014/main" id="{EFDE1CDB-5152-407C-B65F-A9C05E3D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30289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FC7304E-D14D-4B84-8AB9-F471F911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text">
            <a:extLst xmlns:a="http://schemas.openxmlformats.org/drawingml/2006/main">
              <a:ext uri="{FF2B5EF4-FFF2-40B4-BE49-F238E27FC236}">
                <a16:creationId xmlns:a16="http://schemas.microsoft.com/office/drawing/2014/main" id="{62D1CC08-4A57-4388-8E19-06D949E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023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通信不能用 raw group handle join</a:t>
            </a:r>
          </a:p>
        </p:txBody>
      </p:sp>
      <p:sp>
        <p:nvSpPr>
          <p:cNvPr id="418" name="text">
            <a:extLst xmlns:a="http://schemas.openxmlformats.org/drawingml/2006/main">
              <a:ext uri="{FF2B5EF4-FFF2-40B4-BE49-F238E27FC236}">
                <a16:creationId xmlns:a16="http://schemas.microsoft.com/office/drawing/2014/main" id="{8CE7BEFE-0106-43EF-A8DB-F687D651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0525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不同环境的 group handle 是本地运行时对象。应按 collective type + group members/parallel axis + message bucket 匹配；普通 tensor Broadcast 不能因名称含 broadcast 被归入 collective。</a:t>
            </a:r>
          </a:p>
        </p:txBody>
      </p:sp>
      <p:sp>
        <p:nvSpPr>
          <p:cNvPr id="419" name="card">
            <a:extLst xmlns:a="http://schemas.openxmlformats.org/drawingml/2006/main">
              <a:ext uri="{FF2B5EF4-FFF2-40B4-BE49-F238E27FC236}">
                <a16:creationId xmlns:a16="http://schemas.microsoft.com/office/drawing/2014/main" id="{9934E919-AD02-4250-BA8B-511C2CD0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48225"/>
            <a:ext cx="3028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0AEFA08-1605-42EC-BF10-57093833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482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text">
            <a:extLst xmlns:a="http://schemas.openxmlformats.org/drawingml/2006/main">
              <a:ext uri="{FF2B5EF4-FFF2-40B4-BE49-F238E27FC236}">
                <a16:creationId xmlns:a16="http://schemas.microsoft.com/office/drawing/2014/main" id="{76E45217-C1A4-4F7D-8932-5FA15A9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8691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 / missing / unmodeled</a:t>
            </a:r>
          </a:p>
        </p:txBody>
      </p:sp>
      <p:sp>
        <p:nvSpPr>
          <p:cNvPr id="422" name="text">
            <a:extLst xmlns:a="http://schemas.openxmlformats.org/drawingml/2006/main">
              <a:ext uri="{FF2B5EF4-FFF2-40B4-BE49-F238E27FC236}">
                <a16:creationId xmlns:a16="http://schemas.microsoft.com/office/drawing/2014/main" id="{7C949983-0FBA-4ECA-ABE9-5B0C9C7D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72075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duration=0 可能是占位、字段缺失或未建模，不等于真实零成本。schema 必须三态编码并保留 units/provenance，否则 calibration 会吸收 parser 错误。</a:t>
            </a:r>
          </a:p>
        </p:txBody>
      </p:sp>
      <p:sp>
        <p:nvSpPr>
          <p:cNvPr id="423" name="card">
            <a:extLst xmlns:a="http://schemas.openxmlformats.org/drawingml/2006/main">
              <a:ext uri="{FF2B5EF4-FFF2-40B4-BE49-F238E27FC236}">
                <a16:creationId xmlns:a16="http://schemas.microsoft.com/office/drawing/2014/main" id="{EE512241-1F7E-4254-ABCE-5058ED28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3C0B733-97ED-490C-84F5-6EE60B16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1AD76E60-035E-4A83-835B-56E7061D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可比性 gate</a:t>
            </a:r>
          </a:p>
        </p:txBody>
      </p:sp>
      <p:sp>
        <p:nvSpPr>
          <p:cNvPr id="426" name="text">
            <a:extLst xmlns:a="http://schemas.openxmlformats.org/drawingml/2006/main">
              <a:ext uri="{FF2B5EF4-FFF2-40B4-BE49-F238E27FC236}">
                <a16:creationId xmlns:a16="http://schemas.microsoft.com/office/drawing/2014/main" id="{C027ADFD-25ED-4C45-A376-0CF2A7C5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同 request/sample；明确 phase；同 topology/parallel coords；同 model/runtime flags；canonical op/collective join；units 与零值语义通过。</a:t>
            </a:r>
          </a:p>
        </p:txBody>
      </p:sp>
      <p:sp>
        <p:nvSpPr>
          <p:cNvPr id="427" name="card">
            <a:extLst xmlns:a="http://schemas.openxmlformats.org/drawingml/2006/main">
              <a:ext uri="{FF2B5EF4-FFF2-40B4-BE49-F238E27FC236}">
                <a16:creationId xmlns:a16="http://schemas.microsoft.com/office/drawing/2014/main" id="{C04B5193-8B56-4ABA-B8A6-17632A05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9813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2A837AE-3362-499A-B355-C5CC358B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4B8253CF-A5C6-4222-98F5-DE8CAAB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2307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cache key 例子</a:t>
            </a:r>
          </a:p>
        </p:txBody>
      </p:sp>
      <p:sp>
        <p:nvSpPr>
          <p:cNvPr id="430" name="text">
            <a:extLst xmlns:a="http://schemas.openxmlformats.org/drawingml/2006/main">
              <a:ext uri="{FF2B5EF4-FFF2-40B4-BE49-F238E27FC236}">
                <a16:creationId xmlns:a16="http://schemas.microsoft.com/office/drawing/2014/main" id="{51762CC1-37D4-4C36-BC5A-DEEAC22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2828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2D2D2D"/>
                </a:solidFill>
                <a:latin typeface="Arial"/>
                <a:ea typeface="Arial"/>
                <a:cs typeface="Arial"/>
              </a:rPr>
              <a:t>linear|B=1,M=4096,N=11008,K=4096|bf16|row/col|XMMA_64×128|H100-SXM|CUDA12.4|cuBLAS12.x|clock-policy-X</a:t>
            </a:r>
          </a:p>
        </p:txBody>
      </p:sp>
      <p:sp>
        <p:nvSpPr>
          <p:cNvPr id="431" name="card">
            <a:extLst xmlns:a="http://schemas.openxmlformats.org/drawingml/2006/main">
              <a:ext uri="{FF2B5EF4-FFF2-40B4-BE49-F238E27FC236}">
                <a16:creationId xmlns:a16="http://schemas.microsoft.com/office/drawing/2014/main" id="{F9795F68-ADF6-4CA8-881B-95372E1B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29813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837DC62-F5B4-49F7-B0AE-7B08DE98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051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0F072A36-1723-4B16-AA97-00C4E25B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2613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graph confidence</a:t>
            </a:r>
          </a:p>
        </p:txBody>
      </p:sp>
      <p:sp>
        <p:nvSpPr>
          <p:cNvPr id="434" name="text">
            <a:extLst xmlns:a="http://schemas.openxmlformats.org/drawingml/2006/main">
              <a:ext uri="{FF2B5EF4-FFF2-40B4-BE49-F238E27FC236}">
                <a16:creationId xmlns:a16="http://schemas.microsoft.com/office/drawing/2014/main" id="{5401DDE1-C75B-4558-8921-60BBF084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29025"/>
            <a:ext cx="28289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字段来源分为：compiler-derived、runtime-marker、profiler-observed、heuristic-inferred、unknown。端到端输出应携带最低 confidence；inferred/unknown 触发验证或拒绝。</a:t>
            </a:r>
          </a:p>
        </p:txBody>
      </p:sp>
      <p:sp>
        <p:nvSpPr>
          <p:cNvPr id="435" name="card">
            <a:extLst xmlns:a="http://schemas.openxmlformats.org/drawingml/2006/main">
              <a:ext uri="{FF2B5EF4-FFF2-40B4-BE49-F238E27FC236}">
                <a16:creationId xmlns:a16="http://schemas.microsoft.com/office/drawing/2014/main" id="{3E5EA445-8360-4D05-A9B0-CDAAB3E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00575"/>
            <a:ext cx="29813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ECE90D1-F74F-4B86-877C-89E24151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0057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400531F9-7F69-4711-99AE-CDF9177A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2153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 profiling pair 为什么未通过</a:t>
            </a:r>
          </a:p>
        </p:txBody>
      </p:sp>
      <p:sp>
        <p:nvSpPr>
          <p:cNvPr id="438" name="text">
            <a:extLst xmlns:a="http://schemas.openxmlformats.org/drawingml/2006/main">
              <a:ext uri="{FF2B5EF4-FFF2-40B4-BE49-F238E27FC236}">
                <a16:creationId xmlns:a16="http://schemas.microsoft.com/office/drawing/2014/main" id="{2E5D1561-F254-45FB-8629-1DA341CC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24425"/>
            <a:ext cx="28289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workload_id/schedule_id 两侧均 unrecorded；标注 decode 却出现 nll_loss_backward、FSDP pre_backward 与 attention grad；8 rank vs 4 rank；parallel degrees 未记录。它暴露 L1/可观测性缺口，而非 timing 精度。</a:t>
            </a:r>
          </a:p>
        </p:txBody>
      </p:sp>
      <p:sp>
        <p:nvSpPr>
          <p:cNvPr id="439" name="rule">
            <a:extLst xmlns:a="http://schemas.openxmlformats.org/drawingml/2006/main">
              <a:ext uri="{FF2B5EF4-FFF2-40B4-BE49-F238E27FC236}">
                <a16:creationId xmlns:a16="http://schemas.microsoft.com/office/drawing/2014/main" id="{881A7437-5490-4027-A685-97DB2EAA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5106B64E-31FF-43B1-8407-E92F9ED2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L1 signature 是测量、学习、缓存与仿真之间的公共主键；没有它，任何总时长对比都可能是在比较不同问题。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Route gate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风险、缓存与测量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机制残差与分段校准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3EE5F0FB-DF61-4AED-9659-2A5D32A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L2 成本层：先判离散 route，再决定 exact、插值、灰盒残差或 microbenchmark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47AD163C-B1CB-457E-A1BA-33D7797D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8DF65284-03ED-4408-963B-19F0BF09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算法/fusion/tactic 是类别变量；跨类别做连续插值会制造假规律。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7C26073B-0836-4C23-9B8E-F86C5B6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解析工作量与物理结构，学习 log-residual/utilization；只在有偏段校准。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CBE10D0A-3805-4D54-9328-9F0C0855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每次输出都附 support、uncertainty、coverage 与 fallback reason。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FEE5E8AB-B6F6-471C-8970-4F29CBD6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9BEF2CD-05BC-4FDE-B676-FC6BC46E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A9D18C09-6E5D-46C9-8887-63313476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 route 特征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1A486142-AE4C-47FD-A18C-E6A64B2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op family、dtype/layout/alignment、shape bucket、workspace、fusion context、compiler/runtime、kernel name/IR、tile/grid/block、architecture capability。生产中拿不到 post-kernel metadata 时需 route classifier 或 top-K benchmark。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BE40054C-9F34-4378-9BFC-B0672CEE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600325"/>
            <a:ext cx="3476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FF8E34D-340C-4E2F-A9BF-EE78F1D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6003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1B30D7C4-27B9-4AF7-8657-D8CA3F7E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6212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离散触发器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BAD09F51-008E-42E0-AB0C-37F02049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924175"/>
            <a:ext cx="33242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algorithm family 变化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Tensor Core↔SIMT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fused↔unfused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attention implementation 变化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collective algorithm/protocol 变化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memory layout/cast 变化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compiler guard/graph break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156348F7-EC9F-45C9-AC17-17A47FC9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76700"/>
            <a:ext cx="3476625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BD21873-3882-4292-8D9C-16E3E81F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0767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8BE75307-D922-45B0-8477-6FC2371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0976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未知 route 的默认动作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41901D88-AD6A-4A2A-9905-DCFD3F23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00550"/>
            <a:ext cx="33242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本轮 H100 source 没有 XMMA/CUTLASS 路由，而 target 大多数为 source-unseen route；零样本 gray 变差与此高度一致，但尚无 route ablation，不能写成确定因果。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工程策略：默认进入 top-K microbenchmark；阈值待 G3 真机验证后固化。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BC5C6500-CA7F-44D0-AFC8-BF1E34E4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728C15B-606A-4BCA-9E81-6776E0B6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3146C394-1610-40DD-B8B2-30B30FA8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机制基线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D385D754-8302-457D-97F1-DCCEEFE8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GEMM/attention/vec 分 family 解析 FLOPs、bytes、arithmetic intensity、tiles、waves、tail fill；roofline 给 peak/bound；模型学习 log(y/t_base) 或 utilization，避免裸 latency 无界外推。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59CCAF43-680F-4390-B136-613C6D7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0325"/>
            <a:ext cx="30289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47C8145-A80B-4D92-B4BC-BB761FB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03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172CA540-DF45-43F0-8336-E72C0D5C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212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预注册分段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F625C24C-7D58-44F5-B034-FE95B7D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24175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route/family；AI/roof ratio &lt;0.5、0.5–2、&gt;2；waves 1、2–4、5–16、&gt;16；message bucket/topology class；phase。分段阈值只来自 source 或无标签 target features，不能看 eval label 调整。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FF375669-8DFB-47EB-AF53-EEF67D0B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30289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7D7A845-B510-4700-BD99-7C98CDC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D1E2002F-65F2-4771-BD63-582F06C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976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选择性校准规则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ABBA2557-149A-4076-9794-E5AE6C40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00550"/>
            <a:ext cx="28765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segment correction δ=median(log y−log p0)，以 MAD 估计不确定性；只有 n≥8 且偏差超过 5% 与统计阈值才修正，并做 shrinkage/backoff。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本轮探索中 selective 没有胜过 always-segmented，说明“复杂 gate 自动更好”尚未成立。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79D38F8B-14D3-4687-BCA4-21DDF23A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3601676-99F5-4C47-A893-B307308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1354EB4E-E2DB-42B0-97E8-F75C01C2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输出合同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C0D23E1B-C4CF-4842-967B-F37EF091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predicted latency/resource；P50/P95；signed bias；support distance；route novelty；underprediction risk；cache hit level；fallback action；model/data version。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025531A2-D3D8-4CCC-88EE-F94BBFE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29813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A63ADCA-8597-4437-B607-FB95DBE6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2581CABC-1B8E-4F4B-9972-2FB0EE5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593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缓存层级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60B0A54A-1895-43D2-B1EF-7CBC4A45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2828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Exact：完整 fingerprint。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Family/segment：统计与 residual。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Registry：数据、特征、公式、单位、seed、commit。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Measurement：热身、重复、温度/频率。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405DDB6B-EDCC-4562-A642-CCBB78A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29813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5E41582-0AA6-4661-B945-71AB16D8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A9B72E41-139F-4849-BDDE-63F37407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785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采样策略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54593E09-02C3-424A-A80C-F4F5D80B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81450"/>
            <a:ext cx="2828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优先边界、高频、高不确定、高低估成本、top-K 与新 route。coverage sampler 若使用完整未来候选池，属于 transductive，须单独披露。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245D5DC5-EDA6-4343-84C2-E22E998D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48225"/>
            <a:ext cx="29813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7DCD043-6CAC-4205-818F-CA45ECF2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4822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499F5463-8076-4F91-8836-85B8B4B8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6918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8F931209-E21B-4C0F-A75B-B64B02D4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72075"/>
            <a:ext cx="2828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macro-MAPE、MdAPE/P95-APE、RMSLE、within10/20、signed bias、P95 underprediction、rank correlation；按 Device×OP 等权，并用 shape-cluster bootstrap CI。</a:t>
            </a:r>
          </a:p>
        </p:txBody>
      </p:sp>
      <p:sp>
        <p:nvSpPr>
          <p:cNvPr id="445" name="rule">
            <a:extLst xmlns:a="http://schemas.openxmlformats.org/drawingml/2006/main">
              <a:ext uri="{FF2B5EF4-FFF2-40B4-BE49-F238E27FC236}">
                <a16:creationId xmlns:a16="http://schemas.microsoft.com/office/drawing/2014/main" id="{3C961E89-A8A5-4883-8D23-D71A220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text">
            <a:extLst xmlns:a="http://schemas.openxmlformats.org/drawingml/2006/main">
              <a:ext uri="{FF2B5EF4-FFF2-40B4-BE49-F238E27FC236}">
                <a16:creationId xmlns:a16="http://schemas.microsoft.com/office/drawing/2014/main" id="{49977548-532E-4981-8109-207B5E5B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L2 的生产价值不只是把 MAPE 降低，而是知道哪些点可预测、哪些点必须测，以及低估风险多大。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事件与资源模型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信任合同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训练 / 推理动态性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9D7006FA-AA8B-4D00-92BA-6541BBF5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L3 系统级事件模拟：把 component 报价转成关键路径，并把不确定性传播到输出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09F3E56D-BBDA-4CA1-90CA-3453FEC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245F6F37-BB0E-49A0-AEFC-0D8EDC4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事件只有在逻辑语义、依赖与资源归属正确时才可进入模拟器。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6AD19CA9-55E3-4EC1-A4AE-2303AE5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训练关注同步、pipeline、activation/optimizer；推理关注队列、KV、batching。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D06B3F12-5E35-4DE0-851E-C6402FE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输出需要预算闭合、敏感性、coverage 和拒绝，不只是一条均值曲线。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5A90626A-5986-418D-A5E0-9C586C03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458073C-3CC9-4C9E-B8C2-CD5EFC08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EF43D722-C8D3-4CE2-825C-ADDBE8EE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事件类型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3243DFB6-1F7F-4C2F-9F35-B4729397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CPU/framework launch；GPU/NPU compute kernel；DMA/H2D/D2H；collective 与 P2P；memory allocation/free；KV page/block；scheduler enqueue/dequeue；barrier/sync；pipeline send/recv。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85682445-430F-4AEC-A479-BF6CA576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876550"/>
            <a:ext cx="3476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E1772EF-787C-43CF-A5BE-D6B7BD6F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8765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C0048377-54CB-4412-8BD8-333D9C12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8975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资源与约束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90C756E9-D15A-4573-838B-3502DFCA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200400"/>
            <a:ext cx="33242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dependency edge 决定 earliest-ready；stream/device/link/memory queue 决定 availability；共享 HBM/NIC 需要 bandwidth sharing；overlap 只在资源/依赖允许时发生。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BA3339FA-207C-443D-8121-2BE69F7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400550"/>
            <a:ext cx="347662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496926E-4F69-47A5-B5DF-23911B94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4005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D16C7016-103A-4956-8484-BE93A5DB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215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输出关键路径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CF33F369-7C93-407B-9D16-DC655EC4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724400"/>
            <a:ext cx="33242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每个 event 保存 start/end、blocked-by、resource、component estimate/version。最终不仅给 makespan，还输出 critical path、idle/bubble、comm wait/transit/sync、resource utilization 与误差来源。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570BBCC3-AB5D-4F85-9076-3347EBA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0B1B6DE-781B-4A5A-899F-2EB5AC0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C8DCFD7F-1A26-4B46-BB27-57A91DAA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7C545D7D-24B8-4485-9980-3EAD980B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DP：梯度同步与最慢 rank。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TP：层内高频 collective。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PP：microbatch schedule、bubble、stage imbalance。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EP/MoE：token dispatch/combine、AllToAll、expert imbalance。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显存：activation、gradient、optimizer state、recompute。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C526A558-1FDD-42AE-87B4-511C4FD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76550"/>
            <a:ext cx="3028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08FB10E-96DF-4AE0-9576-5879FD19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76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523ABF1A-D2E0-473F-8A1E-A93638C7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8975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E6A53F49-9890-4A2C-8705-2EAD8862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004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prefill/decode work 不同；每 request context/KV 不同；continuous batching 动态改变 active batch；scheduler、chunked prefill、KV eviction/preemption 与 admission 共同决定 TTFT/TBT。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7F59BF90-8042-4DDF-8CE1-809DDCA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00550"/>
            <a:ext cx="302895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0DDD697-4B7A-4E61-A7DD-F3558B8F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00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B28F948A-A673-4E89-A9BC-030970E2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215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容量点的误差传播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FE9AED1A-5427-490B-8242-4C5B50C6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24400"/>
            <a:ext cx="28765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当 arrival rate 接近 service capacity，service time 小幅低估会显著低估 queueing latency 与 P95/P99；因此需要 component uncertainty propagation、stress points 和 underprediction risk，而非只报告平均 MAPE。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FFD7A53C-357A-4E29-B0A4-F469A97C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C060FD3-12D7-4684-B5EB-9226C75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0FD9FA3E-A4E2-4E2C-9B73-BDEC8D5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输入信任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767F3DA6-5B94-4227-94F9-96BEA5B9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L1 graph confidence；L2 support/route/cache level；workload/topology completeness；unit/provenance。任一关键输入未知时，端到端输出降级或拒绝。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74F2D1F6-EF01-467D-997C-C33126B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2981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470412F-A184-42F9-B00E-ACC76A8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D0000DBB-9749-495F-A8D2-3A5C912C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831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预算闭合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02DD2D62-736A-4FB5-9DC9-3E07972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Step wall time 应与 compute/communication/idle/overlap 的语义一致；不能一边 Step Compute=0、一边存在大量 device duration；不能把缺失字段当真实 0。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DB2093B0-15F6-478E-A8E4-7B5ED0DA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2981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40ADC5A-5B1D-45F3-87FE-16CE633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3212DB7F-02DF-470D-A2A7-98AEDD7B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214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敏感性与归因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D7B9814D-2331-49C6-8C6D-0350C39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243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输出对 seq/batch/P/topology/scheduler 的局部敏感性；区分 graph error、component error、overlap/queue error；展示最可能改变决策的输入。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77948B58-39B4-4A70-BB5D-17B80AE0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29813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3CBD126-4598-4430-A06A-8F374256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989C55B4-17D0-42E7-A0E1-7388C7BF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596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发布门槛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73437936-DE04-4B36-AEC7-C8B1F213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62550"/>
            <a:ext cx="2828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至少一组目标模型+runtime+硬件 E2E holdout；component holdout；多 rank/topology；真实 request/token distribution；低估率与 P95；fallback 覆盖与成本。</a:t>
            </a:r>
          </a:p>
        </p:txBody>
      </p:sp>
      <p:sp>
        <p:nvSpPr>
          <p:cNvPr id="445" name="rule">
            <a:extLst xmlns:a="http://schemas.openxmlformats.org/drawingml/2006/main">
              <a:ext uri="{FF2B5EF4-FFF2-40B4-BE49-F238E27FC236}">
                <a16:creationId xmlns:a16="http://schemas.microsoft.com/office/drawing/2014/main" id="{B73F0362-1131-4FD0-8299-CECDC9D1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text">
            <a:extLst xmlns:a="http://schemas.openxmlformats.org/drawingml/2006/main">
              <a:ext uri="{FF2B5EF4-FFF2-40B4-BE49-F238E27FC236}">
                <a16:creationId xmlns:a16="http://schemas.microsoft.com/office/drawing/2014/main" id="{D9EA0B9A-E423-4CBC-998B-8F18C9D9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L3 不是把 L2 求和；它同时是系统模拟器、误差放大器和证据门禁的最后一道检查。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SM：链路冒烟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DX / GT：门禁与缺口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AR / EX：数值证据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7F784F36-23DD-46FD-8B14-B32FE1CC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本地证据账本：四类实验回答四个不同问题，不能互相替代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C7FD5E2D-44AB-4421-A65D-8CD795E8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E3AD7D84-7793-4340-AD4E-67759E42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验证发布 artifact/predictor/simulator 能在本机被正确消费，不验证目标硬件真值。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43F60306-5BD7-48D2-A67D-93F2C8C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作者标签对齐与公开真测 CSV 实验提供可复算数字，但任务范围有限。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24B16B95-4EA5-482E-A3D7-E901C89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profiling 暴露输入/图/语义缺口；真正业务 ground truth 尚未完成。</a:t>
            </a:r>
          </a:p>
        </p:txBody>
      </p:sp>
      <p:graphicFrame>
        <p:nvGraphicFramePr>
          <p:cNvPr id="457" name=""/>
          <p:cNvGraphicFramePr/>
          <p:nvPr/>
        </p:nvGraphicFramePr>
        <p:xfrm>
          <a:off xmlns:a="http://schemas.openxmlformats.org/drawingml/2006/main" x="76200" y="1123950"/>
          <a:ext xmlns:a="http://schemas.openxmlformats.org/drawingml/2006/main" cx="3476625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"/>
                <a:gridCol w="1571625"/>
                <a:gridCol w="1200150"/>
              </a:tblGrid>
              <a:tr h="48815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本机跑了什么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能证明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Vidur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A100 profile + 16请求 event-sim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动态链路可运行</a:t>
                      </a:r>
                    </a:p>
                  </a:txBody>
                  <a:tcPr marL="91440" marR="91440" marT="45720" marB="4572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nn-Meter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官方IR+16 predictors求和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fusion/kernel预测链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NeuSight 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CPU 1 epoch BMM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训练代码链路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06" name="card">
            <a:extLst xmlns:a="http://schemas.openxmlformats.org/drawingml/2006/main">
              <a:ext uri="{FF2B5EF4-FFF2-40B4-BE49-F238E27FC236}">
                <a16:creationId xmlns:a16="http://schemas.microsoft.com/office/drawing/2014/main" id="{1309F6AE-9BF6-4D10-9C12-FE946C90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171825"/>
            <a:ext cx="347662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35AB38E-51BF-4A07-966C-2E7FB470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1718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7627C0BB-4C8B-4044-917E-07397C8A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1927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共同限制</a:t>
            </a:r>
          </a:p>
        </p:txBody>
      </p:sp>
      <p:sp>
        <p:nvSpPr>
          <p:cNvPr id="409" name="text">
            <a:extLst xmlns:a="http://schemas.openxmlformats.org/drawingml/2006/main">
              <a:ext uri="{FF2B5EF4-FFF2-40B4-BE49-F238E27FC236}">
                <a16:creationId xmlns:a16="http://schemas.microsoft.com/office/drawing/2014/main" id="{80804D12-523B-4EB1-9488-1A43DF92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495675"/>
            <a:ext cx="3324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本机无目标 NVIDIA/NPU；Vidur/nn-Meter/NeuSight 使用发布 profile/predictor/opgraph/label。它们不是论文整体复现，也没有重新采集目标硬件 ground truth。</a:t>
            </a:r>
          </a:p>
        </p:txBody>
      </p:sp>
      <p:sp>
        <p:nvSpPr>
          <p:cNvPr id="410" name="card">
            <a:extLst xmlns:a="http://schemas.openxmlformats.org/drawingml/2006/main">
              <a:ext uri="{FF2B5EF4-FFF2-40B4-BE49-F238E27FC236}">
                <a16:creationId xmlns:a16="http://schemas.microsoft.com/office/drawing/2014/main" id="{31D231FC-F4FD-40DD-A62A-B0C2D52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572000"/>
            <a:ext cx="34766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84694A7-5448-4F6B-B7A7-DAA9E640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5720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4A0ABA6C-E0D3-4C76-9C0E-781C196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5929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复现工程缺口</a:t>
            </a:r>
          </a:p>
        </p:txBody>
      </p:sp>
      <p:sp>
        <p:nvSpPr>
          <p:cNvPr id="413" name="text">
            <a:extLst xmlns:a="http://schemas.openxmlformats.org/drawingml/2006/main">
              <a:ext uri="{FF2B5EF4-FFF2-40B4-BE49-F238E27FC236}">
                <a16:creationId xmlns:a16="http://schemas.microsoft.com/office/drawing/2014/main" id="{3095ED7E-60B5-45F5-9955-981AEA01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895850"/>
            <a:ext cx="33242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Vidur Python 版本偏离官方且缺完整 lock；nn-Meter predictor 在用户缓存并有旧 sklearn pickle 告警；NeuSight 首次 time-v 原始日志未落盘；Docker base 未 pin digest。现有数值可核对，但未来 rebuild 不保证 bitwise。</a:t>
            </a:r>
          </a:p>
        </p:txBody>
      </p:sp>
      <p:sp>
        <p:nvSpPr>
          <p:cNvPr id="414" name="card">
            <a:extLst xmlns:a="http://schemas.openxmlformats.org/drawingml/2006/main">
              <a:ext uri="{FF2B5EF4-FFF2-40B4-BE49-F238E27FC236}">
                <a16:creationId xmlns:a16="http://schemas.microsoft.com/office/drawing/2014/main" id="{70E0D842-7F1E-46A5-8527-B407734C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D7D752C-3283-4AF0-A3DA-A5042FF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28B2C686-EF80-486C-A5D9-1A2A97A9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AR：NeuSight 单例</a:t>
            </a:r>
          </a:p>
        </p:txBody>
      </p:sp>
      <p:sp>
        <p:nvSpPr>
          <p:cNvPr id="417" name="text">
            <a:extLst xmlns:a="http://schemas.openxmlformats.org/drawingml/2006/main">
              <a:ext uri="{FF2B5EF4-FFF2-40B4-BE49-F238E27FC236}">
                <a16:creationId xmlns:a16="http://schemas.microsoft.com/office/drawing/2014/main" id="{3BB90AD8-AC4A-411B-A946-1CC800A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GPT3-2.7B/H100、seq2048、batch2、inference；发布 opgraph+权重+label。local 预测 671.045786 ms，label 666.458325 ms，APE 0.688334%；与作者预测差 0.0000126 ms。</a:t>
            </a:r>
          </a:p>
        </p:txBody>
      </p:sp>
      <p:sp>
        <p:nvSpPr>
          <p:cNvPr id="418" name="card">
            <a:extLst xmlns:a="http://schemas.openxmlformats.org/drawingml/2006/main">
              <a:ext uri="{FF2B5EF4-FFF2-40B4-BE49-F238E27FC236}">
                <a16:creationId xmlns:a16="http://schemas.microsoft.com/office/drawing/2014/main" id="{0CC954AB-65E7-41FF-81F5-F1526FA0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95550"/>
            <a:ext cx="3028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6AABDE5-5918-49A9-BBF9-67CAA57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95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B6E3484A-E430-4834-B2AD-24F1F980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165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EX：公开真测 CSV</a:t>
            </a:r>
          </a:p>
        </p:txBody>
      </p:sp>
      <p:sp>
        <p:nvSpPr>
          <p:cNvPr id="421" name="text">
            <a:extLst xmlns:a="http://schemas.openxmlformats.org/drawingml/2006/main">
              <a:ext uri="{FF2B5EF4-FFF2-40B4-BE49-F238E27FC236}">
                <a16:creationId xmlns:a16="http://schemas.microsoft.com/office/drawing/2014/main" id="{B04725D5-EE2C-421E-99C5-3A74961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19400"/>
            <a:ext cx="2876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NeuSight FP32 Linear/GEMM；source 32,224、5 GPU；target A100-80/H100/L4 各1,040；exact shape overlap=0；post-kernel metadata。比较 Roofline、direct absolute、gray residual 与 8–128 条目标校准，10 seeds，共 1,800 runs。</a:t>
            </a:r>
          </a:p>
        </p:txBody>
      </p:sp>
      <p:sp>
        <p:nvSpPr>
          <p:cNvPr id="422" name="card">
            <a:extLst xmlns:a="http://schemas.openxmlformats.org/drawingml/2006/main">
              <a:ext uri="{FF2B5EF4-FFF2-40B4-BE49-F238E27FC236}">
                <a16:creationId xmlns:a16="http://schemas.microsoft.com/office/drawing/2014/main" id="{74162F2A-F4E5-4CDA-A53F-95205A00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67200"/>
            <a:ext cx="302895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339EFE7-CAFE-4F9B-9345-143266A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672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9E6A1CA7-E06C-4579-B6AA-D420CF5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881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不能扩大的结论</a:t>
            </a:r>
          </a:p>
        </p:txBody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C29FE0EE-E93E-43E6-9DF6-4C70F70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91050"/>
            <a:ext cx="28765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仅 FP32 GEMM，不含 BF16/FP16、attention/fusion/conv/collective/服务调度；CSV 计时为 25 次排序后最快 5 次均值，近 best-case；post-kernel 使用 kernel/grid/block/tile/wave，不代表 production tactic selector。</a:t>
            </a:r>
          </a:p>
        </p:txBody>
      </p:sp>
      <p:sp>
        <p:nvSpPr>
          <p:cNvPr id="426" name="card">
            <a:extLst xmlns:a="http://schemas.openxmlformats.org/drawingml/2006/main">
              <a:ext uri="{FF2B5EF4-FFF2-40B4-BE49-F238E27FC236}">
                <a16:creationId xmlns:a16="http://schemas.microsoft.com/office/drawing/2014/main" id="{1A411DB3-A956-4945-BEFF-D6A42962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1EFBBF2-4F64-4778-A4B7-F8216CC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A8754EF1-B6A7-4E76-955F-26D51D31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DX：profiling compare</a:t>
            </a:r>
          </a:p>
        </p:txBody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A815BDF1-F3C8-4665-9907-C2ADE5A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选定真机与仿真报告暴露 phase、world size、parallel degree、shape、通信 join、schema zero/missing 的问题；time-comparability gate 不通过，因此只用于诊断。</a:t>
            </a:r>
          </a:p>
        </p:txBody>
      </p:sp>
      <p:sp>
        <p:nvSpPr>
          <p:cNvPr id="430" name="card">
            <a:extLst xmlns:a="http://schemas.openxmlformats.org/drawingml/2006/main">
              <a:ext uri="{FF2B5EF4-FFF2-40B4-BE49-F238E27FC236}">
                <a16:creationId xmlns:a16="http://schemas.microsoft.com/office/drawing/2014/main" id="{BFDCF339-FBCB-4D1F-A5F2-46CA5ECC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9813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CF982E6-82E0-40DA-BB4A-D0058B65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96E181DF-CC39-4625-B71C-A4A7D166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927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当前未完成的 GT</a:t>
            </a:r>
          </a:p>
        </p:txBody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D0E1A58C-64FC-45BC-AEDF-EC435019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95600"/>
            <a:ext cx="28289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业务模型代码/可执行 IR；Transformers/vLLM/SGLang 或训练 runtime 固定版本；目标 GPU/NPU；同 workload/phase/topology 的 component 与 E2E labels；多 rank/tail/容量点。</a:t>
            </a:r>
          </a:p>
        </p:txBody>
      </p:sp>
      <p:sp>
        <p:nvSpPr>
          <p:cNvPr id="434" name="card">
            <a:extLst xmlns:a="http://schemas.openxmlformats.org/drawingml/2006/main">
              <a:ext uri="{FF2B5EF4-FFF2-40B4-BE49-F238E27FC236}">
                <a16:creationId xmlns:a16="http://schemas.microsoft.com/office/drawing/2014/main" id="{021CA2F7-A99A-4076-9C63-65E03ED3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29813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79A3A64-63C5-4394-8464-881712A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FE8190BF-8DA0-487A-BAD6-4284A5AD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500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已支持的决策</a:t>
            </a:r>
          </a:p>
        </p:txBody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88E9CDE7-6B8F-43C2-B251-A5AA25CE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2828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继续灰盒路线、建设 L1 输入合同与 component 数据闭环；用公开数据筛选实验假设；把新 route 与不可比 pair 设为工程拒绝条件。</a:t>
            </a:r>
          </a:p>
        </p:txBody>
      </p:sp>
      <p:sp>
        <p:nvSpPr>
          <p:cNvPr id="438" name="card">
            <a:extLst xmlns:a="http://schemas.openxmlformats.org/drawingml/2006/main">
              <a:ext uri="{FF2B5EF4-FFF2-40B4-BE49-F238E27FC236}">
                <a16:creationId xmlns:a16="http://schemas.microsoft.com/office/drawing/2014/main" id="{59878633-3739-4669-8837-56396D50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62525"/>
            <a:ext cx="29813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83B18E5-20B5-4CF2-B456-3F28BC54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6252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3232BF2B-0FAB-4ED0-BB9A-420F5C2C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8348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尚不支持的决策</a:t>
            </a:r>
          </a:p>
        </p:txBody>
      </p:sp>
      <p:sp>
        <p:nvSpPr>
          <p:cNvPr id="441" name="text">
            <a:extLst xmlns:a="http://schemas.openxmlformats.org/drawingml/2006/main">
              <a:ext uri="{FF2B5EF4-FFF2-40B4-BE49-F238E27FC236}">
                <a16:creationId xmlns:a16="http://schemas.microsoft.com/office/drawing/2014/main" id="{477214EF-524E-4549-B9BA-AFC3424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86375"/>
            <a:ext cx="2828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目标业务 SLA/容量/卡数采购；特定模型跨 GPU/NPU 的 absolute runtime；G3 OOD gate 的实际收益；现代 TP/PP/EP/MoE 全覆盖。</a:t>
            </a:r>
          </a:p>
        </p:txBody>
      </p:sp>
      <p:sp>
        <p:nvSpPr>
          <p:cNvPr id="442" name="rule">
            <a:extLst xmlns:a="http://schemas.openxmlformats.org/drawingml/2006/main">
              <a:ext uri="{FF2B5EF4-FFF2-40B4-BE49-F238E27FC236}">
                <a16:creationId xmlns:a16="http://schemas.microsoft.com/office/drawing/2014/main" id="{09EE4EF0-1B60-4573-8D7F-449DFB78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A2D696B0-C777-4F15-9420-6806C13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证据等级决定措辞：链路能跑 ≠ 数值准确；单例对齐 ≠ 整体复现；公开 CSV 增益 ≠ 业务部署收益。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Vidur event-sim smoke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如何解读这些数字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nn-Meter predictor smoke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F6630188-A199-4F0F-9879-ECB0788B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本地链路实验：Vidur 验证动态事件流，nn-Meter 验证融合感知 component 求和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951D9ABA-E1DE-4BAB-9B71-87F2342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4D188D4B-B906-4BAF-875E-38447094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使用作者发布 A100 profiles，比较 TP1/TP2 的 16-request 小负载。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E22735E0-E215-491A-8735-1597AD83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官方 MobileNetV3-Small IR 经融合规则与 16 个 kernel/fusion predictor 求和。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0536E3D9-00F4-4C68-BBD3-9EA18A91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两者均无目标硬件真值；数字只说明发布链路在本机能运行。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82887A96-48F5-4D43-A8D9-DDC76EB6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B7CCE01-70F8-47C4-BFF8-EA2B43C3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B3460610-FC4F-43FC-AA09-B4CF736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工作负载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A8E6F474-2D51-4D65-8196-ADED5269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LLaMA2-7B / A100 published profile；16 requests、2 QPS；256 prefill + 32 decode；batch cap 64、chunk 128；RF smoke 2-fold/50 trees/depth8；TP1 vs TP2。</a:t>
            </a:r>
          </a:p>
        </p:txBody>
      </p:sp>
      <p:graphicFrame>
        <p:nvGraphicFramePr>
          <p:cNvPr id="464" name=""/>
          <p:cNvGraphicFramePr/>
          <p:nvPr/>
        </p:nvGraphicFramePr>
        <p:xfrm>
          <a:off xmlns:a="http://schemas.openxmlformats.org/drawingml/2006/main" x="76200" y="2466975"/>
          <a:ext xmlns:a="http://schemas.openxmlformats.org/drawingml/2006/main" cx="3476625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19175"/>
                <a:gridCol w="1228725"/>
                <a:gridCol w="1228725"/>
              </a:tblGrid>
              <a:tr h="38893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TP1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TP2</a:t>
                      </a:r>
                    </a:p>
                  </a:txBody>
                  <a:tcPr marL="91440" marR="91440" marT="45720" marB="45720">
                    <a:solidFill>
                      <a:srgbClr val="478AA5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TTFT mean / P95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38.41 / 53.82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37.76 / 53.99 ms</a:t>
                      </a:r>
                    </a:p>
                  </a:txBody>
                  <a:tcPr marL="91440" marR="91440" marT="45720" marB="45720"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E2E mean / P95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346.44 / 367.52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355.13 / 375.65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Schedule mean / P95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4.84 / 15.29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4.01 / 15.44</a:t>
                      </a:r>
                    </a:p>
                  </a:txBody>
                  <a:tcPr marL="91440" marR="91440" marT="45720" marB="45720"/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Batch events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319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316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Approx throughput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96.00 tok/s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95.81 tok/s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10" name="card">
            <a:extLst xmlns:a="http://schemas.openxmlformats.org/drawingml/2006/main">
              <a:ext uri="{FF2B5EF4-FFF2-40B4-BE49-F238E27FC236}">
                <a16:creationId xmlns:a16="http://schemas.microsoft.com/office/drawing/2014/main" id="{A8C9F097-F030-4D5A-A2B1-F2B0CAA0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895850"/>
            <a:ext cx="34766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A0B0CB9-881D-44B4-A183-B2DE3366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8958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C0909FEE-450F-4916-A166-A1CCC147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168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413" name="text">
            <a:extLst xmlns:a="http://schemas.openxmlformats.org/drawingml/2006/main">
              <a:ext uri="{FF2B5EF4-FFF2-40B4-BE49-F238E27FC236}">
                <a16:creationId xmlns:a16="http://schemas.microsoft.com/office/drawing/2014/main" id="{C8D25D04-6A5B-4B20-8358-5356670A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219700"/>
            <a:ext cx="332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该模拟配置中 TP2 mean E2E 比 TP1 高约 2.51%；模拟器包含的 all-reduce/launch 事件可能抵消部分分片收益。不能泛化为 TP2 总是更慢，也不能验证论文 &lt;9%。</a:t>
            </a:r>
          </a:p>
        </p:txBody>
      </p:sp>
      <p:sp>
        <p:nvSpPr>
          <p:cNvPr id="414" name="card">
            <a:extLst xmlns:a="http://schemas.openxmlformats.org/drawingml/2006/main">
              <a:ext uri="{FF2B5EF4-FFF2-40B4-BE49-F238E27FC236}">
                <a16:creationId xmlns:a16="http://schemas.microsoft.com/office/drawing/2014/main" id="{E73E2D76-0833-4803-8136-518C5D9D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353D0B9-5098-47A0-8B20-EA5B7D67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2B3C8BD1-BB64-4E52-AAEE-EC8A8C9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输入与环境</a:t>
            </a:r>
          </a:p>
        </p:txBody>
      </p:sp>
      <p:sp>
        <p:nvSpPr>
          <p:cNvPr id="417" name="text">
            <a:extLst xmlns:a="http://schemas.openxmlformats.org/drawingml/2006/main">
              <a:ext uri="{FF2B5EF4-FFF2-40B4-BE49-F238E27FC236}">
                <a16:creationId xmlns:a16="http://schemas.microsoft.com/office/drawing/2014/main" id="{AD660B7A-F190-4301-9682-5463A25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MobileNetV3-Small 官方 IR；cortexA76cpu_tflite21 v1.0 predictor；16 个 pkl kernel/fusion models；Python3.11、numpy1.26.4、scikit-learn1.2.2。</a:t>
            </a:r>
          </a:p>
        </p:txBody>
      </p:sp>
      <p:sp>
        <p:nvSpPr>
          <p:cNvPr id="418" name="metric">
            <a:extLst xmlns:a="http://schemas.openxmlformats.org/drawingml/2006/main">
              <a:ext uri="{FF2B5EF4-FFF2-40B4-BE49-F238E27FC236}">
                <a16:creationId xmlns:a16="http://schemas.microsoft.com/office/drawing/2014/main" id="{7DDEB54D-9427-4554-944B-268628F3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241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348FE283-3482-44A7-8FBC-C1C9C535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71750"/>
            <a:ext cx="249555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86E9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86E94"/>
                </a:solidFill>
                <a:latin typeface="Arial"/>
                <a:ea typeface="Arial"/>
                <a:cs typeface="Arial"/>
              </a:rPr>
              <a:t>12.558943 ms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B9182CD2-9AAC-4F04-B7A1-DA4A0152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84195"/>
            <a:ext cx="24955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官方 predictor 的模型级时延输出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27CCD29A-F8DA-4E26-BE65-A81D27F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5D87C58-8F6E-4442-AE44-3B6A058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2D071BD0-0EDD-4229-8E94-A198E932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976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链路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58A8846D-5F0D-467B-814B-4C84582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model IR → fusion/kernel detection → per-kernel feature → predictor → latency sum。首次 predictor 约 376 MB 下载；解压缓存更大，且旧 sklearn pickle 在新环境有兼容告警。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B0F3A31F-A0D7-4626-9EAC-2C883DFE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95850"/>
            <a:ext cx="30289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ED15593-C52E-46E1-8184-C442015C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95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45EDF665-0BA0-4E41-9389-D55AA8CA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9168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340CD5EB-45A6-4473-BE4B-5115E90A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9700"/>
            <a:ext cx="2876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本机没有 Cortex-A76，无法判断 12.56 ms 是否准确；它只验证 nn-Meter 的 predictor 与 fusion-aware component sum 能在本机跑通。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232E810D-F54E-4D31-B376-393D1C6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EBDCF5B-9956-4C47-BD05-C789CA81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D2A424D0-43FB-43A4-BA77-FE304C0A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能证明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7A583D45-B595-475B-855D-11A20F6B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发布 artifact 可消费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L1→L2→L3 软件接口可运行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固定输入下结果可记录/复算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为后续替换 component model 提供 harness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DFDFA03A-C972-4DE3-8BB9-55946671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9813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72CD940-CB58-478B-9BAC-4DE34EB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6C3A1DD1-AABC-4084-B7ED-18D32044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641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不能证明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F903B38C-3BB8-43E1-B1EF-B2E9CA55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2828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A100/Cortex 真机 accuracy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新模型/新 shape 泛化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业务 runtime 的 fusion/tactic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多流/collective/服务容量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• 论文总体误差口径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E41C28F4-291E-4555-B9F7-F331E1A2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D7774FD-C1FE-4837-A5FE-AF02C74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3B27C2F3-7E63-44AC-857E-D76764E9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833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为什么仍有价值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707623D3-33F8-4972-9BA4-81F49FFA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它们把两个不同层面的最小可执行链路固定下来：Vidur 用发布 component profile 驱动 L3；nn-Meter 用发布 fusion/kernel predictor 实现 L2。后续可以替换输入与 labels，而不从零搭框架。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57C4A65C-9748-46A7-941E-F0AFC1D0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00600"/>
            <a:ext cx="29813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BB94E2E-0926-4FC9-89B4-ED0B753B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006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31EE69DC-6F55-4280-AC16-092B7AD1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215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下一步升级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4E9EF7BF-7D43-48C2-BB49-3C2BCE52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24450"/>
            <a:ext cx="2828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Vidur：换成业务请求 trace、runtime scheduler 与目标 GPU profile。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nn-Meter：换成服务端 GEMM/attention/collective component，加入并发与 L3。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两者都需 GT holdout。</a:t>
            </a:r>
          </a:p>
        </p:txBody>
      </p:sp>
      <p:sp>
        <p:nvSpPr>
          <p:cNvPr id="445" name="rule">
            <a:extLst xmlns:a="http://schemas.openxmlformats.org/drawingml/2006/main">
              <a:ext uri="{FF2B5EF4-FFF2-40B4-BE49-F238E27FC236}">
                <a16:creationId xmlns:a16="http://schemas.microsoft.com/office/drawing/2014/main" id="{8D45D898-5284-42AA-9606-C2218E9E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text">
            <a:extLst xmlns:a="http://schemas.openxmlformats.org/drawingml/2006/main">
              <a:ext uri="{FF2B5EF4-FFF2-40B4-BE49-F238E27FC236}">
                <a16:creationId xmlns:a16="http://schemas.microsoft.com/office/drawing/2014/main" id="{93B93AF9-CBEC-4C23-85A0-47BA8122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Smoke test 的正确结论是“链路具备可替换性”，不是“模型精度已复现”。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AR：GPT3/H100 单例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反例如何改变方案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EX：strict shape-OOD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8A9A8509-CD4C-44FF-8693-427D81E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NeuSight：发布 artifact 输出对齐至 1.26×10⁻⁵ ms，但 zero-shot 仍有 H100 反例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7AA0DD6A-1F1C-43DF-8C2E-4306AF62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BD3E4B3D-6882-4822-ABEC-DDC0A5C3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发布 opgraph、权重和 label 在 WSL CPU 上重放，确认实现链路与作者输出一致。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8A445298-1AAF-47EC-9216-2455714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5 个 source GPU 训练，A100-80/H100/L4 各 1,040 个从未重叠 shape 的目标点。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085CAAEB-6ACC-427F-A172-F5384BF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机制残差不是自动胜出；route novelty 与 support-aware fallback 是必要研究方向。</a:t>
            </a:r>
          </a:p>
        </p:txBody>
      </p:sp>
      <p:sp>
        <p:nvSpPr>
          <p:cNvPr id="405" name="metric">
            <a:extLst xmlns:a="http://schemas.openxmlformats.org/drawingml/2006/main">
              <a:ext uri="{FF2B5EF4-FFF2-40B4-BE49-F238E27FC236}">
                <a16:creationId xmlns:a16="http://schemas.microsoft.com/office/drawing/2014/main" id="{3253C408-F6BA-4CB9-B167-8EB206C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239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text">
            <a:extLst xmlns:a="http://schemas.openxmlformats.org/drawingml/2006/main">
              <a:ext uri="{FF2B5EF4-FFF2-40B4-BE49-F238E27FC236}">
                <a16:creationId xmlns:a16="http://schemas.microsoft.com/office/drawing/2014/main" id="{82ABF111-88B4-41FB-8FBD-EC24CEA0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17157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78A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8AA5"/>
                </a:solidFill>
                <a:latin typeface="Arial"/>
                <a:ea typeface="Arial"/>
                <a:cs typeface="Arial"/>
              </a:rPr>
              <a:t>666.458</a:t>
            </a:r>
          </a:p>
        </p:txBody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2CD6E085-A8ED-4ACE-A103-94BF8C5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07998"/>
            <a:ext cx="97155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label ms</a:t>
            </a:r>
          </a:p>
        </p:txBody>
      </p:sp>
      <p:sp>
        <p:nvSpPr>
          <p:cNvPr id="408" name="metric">
            <a:extLst xmlns:a="http://schemas.openxmlformats.org/drawingml/2006/main">
              <a:ext uri="{FF2B5EF4-FFF2-40B4-BE49-F238E27FC236}">
                <a16:creationId xmlns:a16="http://schemas.microsoft.com/office/drawing/2014/main" id="{05068B29-C51B-4B07-A8A0-8DEC79D4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239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text">
            <a:extLst xmlns:a="http://schemas.openxmlformats.org/drawingml/2006/main">
              <a:ext uri="{FF2B5EF4-FFF2-40B4-BE49-F238E27FC236}">
                <a16:creationId xmlns:a16="http://schemas.microsoft.com/office/drawing/2014/main" id="{5E425492-D372-459D-94F8-40B934A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17157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78A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8AA5"/>
                </a:solidFill>
                <a:latin typeface="Arial"/>
                <a:ea typeface="Arial"/>
                <a:cs typeface="Arial"/>
              </a:rPr>
              <a:t>671.046</a:t>
            </a:r>
          </a:p>
        </p:txBody>
      </p:sp>
      <p:sp>
        <p:nvSpPr>
          <p:cNvPr id="410" name="text">
            <a:extLst xmlns:a="http://schemas.openxmlformats.org/drawingml/2006/main">
              <a:ext uri="{FF2B5EF4-FFF2-40B4-BE49-F238E27FC236}">
                <a16:creationId xmlns:a16="http://schemas.microsoft.com/office/drawing/2014/main" id="{C236D605-F024-430C-AEF8-9CAE4CE0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507998"/>
            <a:ext cx="97155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local prediction ms</a:t>
            </a:r>
          </a:p>
        </p:txBody>
      </p:sp>
      <p:sp>
        <p:nvSpPr>
          <p:cNvPr id="411" name="metric">
            <a:extLst xmlns:a="http://schemas.openxmlformats.org/drawingml/2006/main">
              <a:ext uri="{FF2B5EF4-FFF2-40B4-BE49-F238E27FC236}">
                <a16:creationId xmlns:a16="http://schemas.microsoft.com/office/drawing/2014/main" id="{B1443EE3-4168-4CFF-AE0D-1E097BC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1239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A6892485-21D9-4CFF-90BA-392A0FA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17157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78AA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78AA5"/>
                </a:solidFill>
                <a:latin typeface="Arial"/>
                <a:ea typeface="Arial"/>
                <a:cs typeface="Arial"/>
              </a:rPr>
              <a:t>0.688%</a:t>
            </a:r>
          </a:p>
        </p:txBody>
      </p:sp>
      <p:sp>
        <p:nvSpPr>
          <p:cNvPr id="413" name="text">
            <a:extLst xmlns:a="http://schemas.openxmlformats.org/drawingml/2006/main">
              <a:ext uri="{FF2B5EF4-FFF2-40B4-BE49-F238E27FC236}">
                <a16:creationId xmlns:a16="http://schemas.microsoft.com/office/drawing/2014/main" id="{70FE3E8E-610A-45CB-8125-5128DC3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7998"/>
            <a:ext cx="97155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APE</a:t>
            </a:r>
          </a:p>
        </p:txBody>
      </p:sp>
      <p:sp>
        <p:nvSpPr>
          <p:cNvPr id="414" name="card">
            <a:extLst xmlns:a="http://schemas.openxmlformats.org/drawingml/2006/main">
              <a:ext uri="{FF2B5EF4-FFF2-40B4-BE49-F238E27FC236}">
                <a16:creationId xmlns:a16="http://schemas.microsoft.com/office/drawing/2014/main" id="{FFF31906-15F7-4C3D-8831-0D18F2E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905000"/>
            <a:ext cx="3476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4D6791A-B9B6-49CE-BB17-4C13BBE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9050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1D7A41D6-7394-416C-AFF2-C090605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9259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数值对齐</a:t>
            </a:r>
          </a:p>
        </p:txBody>
      </p:sp>
      <p:sp>
        <p:nvSpPr>
          <p:cNvPr id="417" name="text">
            <a:extLst xmlns:a="http://schemas.openxmlformats.org/drawingml/2006/main">
              <a:ext uri="{FF2B5EF4-FFF2-40B4-BE49-F238E27FC236}">
                <a16:creationId xmlns:a16="http://schemas.microsoft.com/office/drawing/2014/main" id="{F6E500C8-0227-4B07-A21D-76421313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228850"/>
            <a:ext cx="33242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作者发布 prediction 671.045774 ms；本地 671.045786 ms；差 0.0000126 ms。相同 opgraph 的纯 Roofline 458.099166 ms，APE 31.263644%。</a:t>
            </a:r>
          </a:p>
        </p:txBody>
      </p:sp>
      <p:sp>
        <p:nvSpPr>
          <p:cNvPr id="418" name="card">
            <a:extLst xmlns:a="http://schemas.openxmlformats.org/drawingml/2006/main">
              <a:ext uri="{FF2B5EF4-FFF2-40B4-BE49-F238E27FC236}">
                <a16:creationId xmlns:a16="http://schemas.microsoft.com/office/drawing/2014/main" id="{41284AAC-E585-46AC-B397-17656917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19450"/>
            <a:ext cx="3476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39C2951-FFB6-4690-9900-8AF8AFAD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194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D9C303C2-ECA9-42D1-BF29-9AF7B40D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2404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运行环境</a:t>
            </a:r>
          </a:p>
        </p:txBody>
      </p:sp>
      <p:sp>
        <p:nvSpPr>
          <p:cNvPr id="421" name="text">
            <a:extLst xmlns:a="http://schemas.openxmlformats.org/drawingml/2006/main">
              <a:ext uri="{FF2B5EF4-FFF2-40B4-BE49-F238E27FC236}">
                <a16:creationId xmlns:a16="http://schemas.microsoft.com/office/drawing/2014/main" id="{CE95E67A-B8C8-4986-A33C-30B7461F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543300"/>
            <a:ext cx="3324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WSL2 Ubuntu22.04.5；Python3.10.12；torch2.1.0+cpu；NeuSight commit 6945927… clean。CPU shim 仅替换未使用 CUDA Event、set_device no-op 与 Path.home cache。</a:t>
            </a:r>
          </a:p>
        </p:txBody>
      </p:sp>
      <p:sp>
        <p:nvSpPr>
          <p:cNvPr id="422" name="card">
            <a:extLst xmlns:a="http://schemas.openxmlformats.org/drawingml/2006/main">
              <a:ext uri="{FF2B5EF4-FFF2-40B4-BE49-F238E27FC236}">
                <a16:creationId xmlns:a16="http://schemas.microsoft.com/office/drawing/2014/main" id="{4DE3CED9-281C-49E6-9978-9AE72663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591050"/>
            <a:ext cx="3476625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6FA18CB-D0C7-49BA-B0C4-4413C941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5910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356F3BD8-A261-4687-A63A-C0E09D7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120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BBF4E1DD-8C98-4A9A-92A1-57B10F48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914900"/>
            <a:ext cx="33242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未重新 trace GPT-3、未重新采 H100；直接复用发布 opgraph/权重/label。首次 wall 23.52s、RSS 645,584 KiB；BMM 1 epoch loss0.1739、val mean relative error23.2%，只验证训练链。</a:t>
            </a:r>
          </a:p>
        </p:txBody>
      </p:sp>
      <p:graphicFrame>
        <p:nvGraphicFramePr>
          <p:cNvPr id="487" name=""/>
          <p:cNvGraphicFramePr/>
          <p:nvPr/>
        </p:nvGraphicFramePr>
        <p:xfrm>
          <a:off xmlns:a="http://schemas.openxmlformats.org/drawingml/2006/main" x="3752850" y="1123950"/>
          <a:ext xmlns:a="http://schemas.openxmlformats.org/drawingml/2006/main" cx="302895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7225"/>
                <a:gridCol w="495300"/>
                <a:gridCol w="552450"/>
                <a:gridCol w="495300"/>
                <a:gridCol w="828675"/>
              </a:tblGrid>
              <a:tr h="4762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卡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Roof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Direct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Gray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Gray vs Direct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A100-80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16.14%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11.18%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9.49%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改善 15.1%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33.07%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15.45%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19.14%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恶化 23.9%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71.99%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37.00%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23.69%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改善 36.0%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27" name="card">
            <a:extLst xmlns:a="http://schemas.openxmlformats.org/drawingml/2006/main">
              <a:ext uri="{FF2B5EF4-FFF2-40B4-BE49-F238E27FC236}">
                <a16:creationId xmlns:a16="http://schemas.microsoft.com/office/drawing/2014/main" id="{DD95BEA0-9495-47CE-BF8F-C82716B4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30289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D2928CC-BE35-4891-AFAD-43074BA8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BD3B2F0D-3459-4853-B7A9-7E7D1DA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451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实验口径</a:t>
            </a:r>
          </a:p>
        </p:txBody>
      </p:sp>
      <p:sp>
        <p:nvSpPr>
          <p:cNvPr id="430" name="text">
            <a:extLst xmlns:a="http://schemas.openxmlformats.org/drawingml/2006/main">
              <a:ext uri="{FF2B5EF4-FFF2-40B4-BE49-F238E27FC236}">
                <a16:creationId xmlns:a16="http://schemas.microsoft.com/office/drawing/2014/main" id="{EC65856B-13B1-495B-AE9A-1EE1EE4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48050"/>
            <a:ext cx="28765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FP32 Linear/GEMM；train 32,224、5 GPU；target 每卡1,040；exact shape overlap=0；同一 pre/post-kernel feature 口径；fixed HistGradientBoosting；zero-shot 不使用目标 label。</a:t>
            </a:r>
          </a:p>
        </p:txBody>
      </p:sp>
      <p:sp>
        <p:nvSpPr>
          <p:cNvPr id="431" name="card">
            <a:extLst xmlns:a="http://schemas.openxmlformats.org/drawingml/2006/main">
              <a:ext uri="{FF2B5EF4-FFF2-40B4-BE49-F238E27FC236}">
                <a16:creationId xmlns:a16="http://schemas.microsoft.com/office/drawing/2014/main" id="{867075EF-6EF1-474D-8589-D97CE1B9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81525"/>
            <a:ext cx="3028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64A93CF-A772-4E51-8456-4F913E1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8152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E454B024-4982-4922-9512-A5B2B4C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0248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如何解读</a:t>
            </a:r>
          </a:p>
        </p:txBody>
      </p:sp>
      <p:sp>
        <p:nvSpPr>
          <p:cNvPr id="434" name="text">
            <a:extLst xmlns:a="http://schemas.openxmlformats.org/drawingml/2006/main">
              <a:ext uri="{FF2B5EF4-FFF2-40B4-BE49-F238E27FC236}">
                <a16:creationId xmlns:a16="http://schemas.microsoft.com/office/drawing/2014/main" id="{92FBBC52-EEFF-4539-BD5E-74081558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05375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A100/L4 支持机制残差对 OOD 的价值；H100 说明它并非单调更好。H100 target 多数是 source-unseen XMMA/CUTLASS 路由，与失败高度一致，但没有 route ablation，仍不能下因果结论。</a:t>
            </a:r>
          </a:p>
        </p:txBody>
      </p:sp>
      <p:sp>
        <p:nvSpPr>
          <p:cNvPr id="435" name="card">
            <a:extLst xmlns:a="http://schemas.openxmlformats.org/drawingml/2006/main">
              <a:ext uri="{FF2B5EF4-FFF2-40B4-BE49-F238E27FC236}">
                <a16:creationId xmlns:a16="http://schemas.microsoft.com/office/drawing/2014/main" id="{3831BDDB-3BD2-43AB-80E7-39BA7B7A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E32223E-0572-4ACE-AF3B-6AB6077A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A22F9D54-7EA3-4A2E-A7A7-6FACFAA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不是“Roofline 胜负赛”</a:t>
            </a:r>
          </a:p>
        </p:txBody>
      </p:sp>
      <p:sp>
        <p:nvSpPr>
          <p:cNvPr id="438" name="text">
            <a:extLst xmlns:a="http://schemas.openxmlformats.org/drawingml/2006/main">
              <a:ext uri="{FF2B5EF4-FFF2-40B4-BE49-F238E27FC236}">
                <a16:creationId xmlns:a16="http://schemas.microsoft.com/office/drawing/2014/main" id="{23BBA5B8-5882-42BD-9EAE-7CDE290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纯 Roofline 在单例和 L4 上明显偏差；gray 通过学习实现效率改善。但如果 route 不同，错误的结构假设也会把预测拉向错误方向。</a:t>
            </a:r>
          </a:p>
        </p:txBody>
      </p:sp>
      <p:sp>
        <p:nvSpPr>
          <p:cNvPr id="439" name="card">
            <a:extLst xmlns:a="http://schemas.openxmlformats.org/drawingml/2006/main">
              <a:ext uri="{FF2B5EF4-FFF2-40B4-BE49-F238E27FC236}">
                <a16:creationId xmlns:a16="http://schemas.microsoft.com/office/drawing/2014/main" id="{5FA42E3A-210A-40C9-8CA9-CFDB9E2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9813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DA80E3B-E625-4E3A-B3BC-BC89E67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text">
            <a:extLst xmlns:a="http://schemas.openxmlformats.org/drawingml/2006/main">
              <a:ext uri="{FF2B5EF4-FFF2-40B4-BE49-F238E27FC236}">
                <a16:creationId xmlns:a16="http://schemas.microsoft.com/office/drawing/2014/main" id="{52C869E9-DB02-4431-A31C-C7FD8F1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450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生产策略</a:t>
            </a:r>
          </a:p>
        </p:txBody>
      </p:sp>
      <p:sp>
        <p:nvSpPr>
          <p:cNvPr id="442" name="text">
            <a:extLst xmlns:a="http://schemas.openxmlformats.org/drawingml/2006/main">
              <a:ext uri="{FF2B5EF4-FFF2-40B4-BE49-F238E27FC236}">
                <a16:creationId xmlns:a16="http://schemas.microsoft.com/office/drawing/2014/main" id="{7164B861-881C-4C24-86E1-52C7FD63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2828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exact hit 直接用测量；same-route/near-domain 才用 gray residual；unseen tactic 默认进入 top-K benchmark；任何 absolute 输出带 support/OOD 标记。</a:t>
            </a:r>
          </a:p>
        </p:txBody>
      </p:sp>
      <p:sp>
        <p:nvSpPr>
          <p:cNvPr id="443" name="card">
            <a:extLst xmlns:a="http://schemas.openxmlformats.org/drawingml/2006/main">
              <a:ext uri="{FF2B5EF4-FFF2-40B4-BE49-F238E27FC236}">
                <a16:creationId xmlns:a16="http://schemas.microsoft.com/office/drawing/2014/main" id="{395D5060-DB70-4A80-B535-CD298E4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29813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8FC8DB1-311F-418E-8EAB-0EC3DBEF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text">
            <a:extLst xmlns:a="http://schemas.openxmlformats.org/drawingml/2006/main">
              <a:ext uri="{FF2B5EF4-FFF2-40B4-BE49-F238E27FC236}">
                <a16:creationId xmlns:a16="http://schemas.microsoft.com/office/drawing/2014/main" id="{F34D4889-9CB4-409A-9500-CBB19F14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642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正式实验需要补</a:t>
            </a:r>
          </a:p>
        </p:txBody>
      </p:sp>
      <p:sp>
        <p:nvSpPr>
          <p:cNvPr id="446" name="text">
            <a:extLst xmlns:a="http://schemas.openxmlformats.org/drawingml/2006/main">
              <a:ext uri="{FF2B5EF4-FFF2-40B4-BE49-F238E27FC236}">
                <a16:creationId xmlns:a16="http://schemas.microsoft.com/office/drawing/2014/main" id="{5E4DAD52-C311-4B2D-BC97-E87C75A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67150"/>
            <a:ext cx="2828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pre-kernel vs post-kernel 分开；route ablation；BF16/FP16/attention/fusion/collective；source-only HPO；shape-cluster CI；新 GPU/新 dtype；目标真机 frequency/temperature variance。</a:t>
            </a:r>
          </a:p>
        </p:txBody>
      </p:sp>
      <p:sp>
        <p:nvSpPr>
          <p:cNvPr id="447" name="card">
            <a:extLst xmlns:a="http://schemas.openxmlformats.org/drawingml/2006/main">
              <a:ext uri="{FF2B5EF4-FFF2-40B4-BE49-F238E27FC236}">
                <a16:creationId xmlns:a16="http://schemas.microsoft.com/office/drawing/2014/main" id="{42DB0789-CE01-4D3F-9AD7-4DCD0DE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29813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5AC6B69-49A1-4522-9FA4-A378D6CD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text">
            <a:extLst xmlns:a="http://schemas.openxmlformats.org/drawingml/2006/main">
              <a:ext uri="{FF2B5EF4-FFF2-40B4-BE49-F238E27FC236}">
                <a16:creationId xmlns:a16="http://schemas.microsoft.com/office/drawing/2014/main" id="{9AE62B0E-3D7E-46C7-A5D7-EB56C96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834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阶段判断</a:t>
            </a:r>
          </a:p>
        </p:txBody>
      </p:sp>
      <p:sp>
        <p:nvSpPr>
          <p:cNvPr id="450" name="text">
            <a:extLst xmlns:a="http://schemas.openxmlformats.org/drawingml/2006/main">
              <a:ext uri="{FF2B5EF4-FFF2-40B4-BE49-F238E27FC236}">
                <a16:creationId xmlns:a16="http://schemas.microsoft.com/office/drawing/2014/main" id="{4A2B0A49-2C86-400B-BC11-F6535853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86350"/>
            <a:ext cx="28289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NeuSight 提供 L2 的机制骨架和强单例证据；本地 zero-shot 反例促使我们把 route gate、support 与 fallback 提升为架构一等公民，而不是继续扩大 MLP。</a:t>
            </a:r>
          </a:p>
        </p:txBody>
      </p:sp>
      <p:sp>
        <p:nvSpPr>
          <p:cNvPr id="451" name="rule">
            <a:extLst xmlns:a="http://schemas.openxmlformats.org/drawingml/2006/main">
              <a:ext uri="{FF2B5EF4-FFF2-40B4-BE49-F238E27FC236}">
                <a16:creationId xmlns:a16="http://schemas.microsoft.com/office/drawing/2014/main" id="{79D2E6D7-1D45-4DFC-B5EC-4D705C58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E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0A6C3678-9DDB-41A8-BCA3-08AD45EB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灰盒的价值不是保证零样本胜出，而是在可解释机制域内提高泛化，并在域外主动拒绝。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反例、风险与下一步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Gray residual + coverage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D55549E1-963A-4D4E-9B45-9483BFE7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少量目标实测：机制分段校准显著优于全局标量，但 selective gate 尚未证明价值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BC12D275-A428-48BE-A138-4D279EAE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BC9EA6DD-010C-46F4-BE7C-0A14A8E5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校准行与评估行严格隔离；coverage sampler 使用无标签候选池特征；10 seeds。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EAAF6FFF-C0A4-41A5-A8A2-47D3413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budget 32/128：always-segmented 三卡均优于 global；更多点继续下降。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45DE3171-3CC5-4D93-B0A9-6FC173F9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低预算尾部和 selective 回退存在反例，下一轮需预注册确认性实验。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94719A25-1792-473B-9FE8-8C5FFA08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76ADE2F-AB18-407F-A5AC-ABCE8451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2ACD9F22-6506-40B5-9C23-8387A8E5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 split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F5CD5E21-9987-4690-97A4-73F39D3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source train 32,224；target A100-80/H100/L4 各1,040；shape overlap=0。budget 8/16/32/64/128；每卡每 budget×sampling×calibration 10 seeds；校准样本从 eval 删除。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B9302410-0FD4-41C3-ACE5-5D7E5723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76500"/>
            <a:ext cx="3476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89F2617-0713-4514-A64B-3691B9A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765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D4E174BF-D2E7-4359-90E7-BB613BE6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4974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三种校准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51C386D4-7923-49B7-B216-8B0B17D4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00350"/>
            <a:ext cx="3324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Global：整卡一个 log-scale。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Segmented：按 route/AI/waves 等段始终修正。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Selective：偏差显著且 n≥8 才修正，并 shrink/backoff；目标是少样本不硬拟合。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176D97EF-12E0-4C33-8CE4-34599F85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848100"/>
            <a:ext cx="3476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41EA17B-8D7F-4A42-B617-3E720BDE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8481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B894BA59-48EA-478B-8AD4-843BC4B9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8690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两种采样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8A71A6FB-5C9C-45F8-A90B-BE41E805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171950"/>
            <a:ext cx="33242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Random：均匀随机。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Coverage：按已知候选池的无标签 segment 轮转覆盖；属于 transductive active sampling，未来 workload 未知时可能偏乐观。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9AC09F6A-CCA4-415A-BDA6-E2AEE980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43475"/>
            <a:ext cx="3476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0794BC9E-E294-4CED-8102-BEA1A5E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4347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F988CC67-1FB0-4954-B936-9CAC67C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6443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AEEDD3D3-47E1-4FB3-9D11-9EAE822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267325"/>
            <a:ext cx="33242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macro-MAPE（Device×OP 等权）、P95-APE、seed 分布；后续需 shape-cluster bootstrap CI、underprediction risk 与 error-vs-measurement AUC。</a:t>
            </a:r>
          </a:p>
        </p:txBody>
      </p:sp>
      <p:graphicFrame>
        <p:nvGraphicFramePr>
          <p:cNvPr id="481" name=""/>
          <p:cNvGraphicFramePr/>
          <p:nvPr/>
        </p:nvGraphicFramePr>
        <p:xfrm>
          <a:off xmlns:a="http://schemas.openxmlformats.org/drawingml/2006/main" x="3752850" y="1123950"/>
          <a:ext xmlns:a="http://schemas.openxmlformats.org/drawingml/2006/main" cx="302895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"/>
                <a:gridCol w="657225"/>
                <a:gridCol w="657225"/>
                <a:gridCol w="657225"/>
                <a:gridCol w="590550"/>
              </a:tblGrid>
              <a:tr h="4762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卡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Global</a:t>
                      </a:r>
                    </a:p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M/P95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Seg.</a:t>
                      </a:r>
                    </a:p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M/P95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Sel.</a:t>
                      </a:r>
                    </a:p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M/P95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改善</a:t>
                      </a:r>
                    </a:p>
                  </a:txBody>
                  <a:tcPr marL="91440" marR="91440" marT="45720" marB="45720">
                    <a:solidFill>
                      <a:srgbClr val="877EA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A100-80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4.84 / 13.24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3.96 / 11.35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4.80 / 13.19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18.35%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13.04 / 28.53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9.91 / 24.29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13.32 / 28.56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23.97%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L4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19.66 / 51.01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15.93 / 35.78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19.51 / 51.50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</a:rPr>
                        <a:t>18.98%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22" name="card">
            <a:extLst xmlns:a="http://schemas.openxmlformats.org/drawingml/2006/main">
              <a:ext uri="{FF2B5EF4-FFF2-40B4-BE49-F238E27FC236}">
                <a16:creationId xmlns:a16="http://schemas.microsoft.com/office/drawing/2014/main" id="{6641E663-0202-48B5-AF1A-00A9B578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3028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D64705D-5B8D-404F-BE2E-6470866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F681E92F-FAF4-4AB5-B554-A54FC07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451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Budget 32 结论</a:t>
            </a:r>
          </a:p>
        </p:txBody>
      </p:sp>
      <p:sp>
        <p:nvSpPr>
          <p:cNvPr id="425" name="text">
            <a:extLst xmlns:a="http://schemas.openxmlformats.org/drawingml/2006/main">
              <a:ext uri="{FF2B5EF4-FFF2-40B4-BE49-F238E27FC236}">
                <a16:creationId xmlns:a16="http://schemas.microsoft.com/office/drawing/2014/main" id="{EB52C3E1-7683-4ED8-9424-F1A972AC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4805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只用约 3.1% target rows，always-segmented 在三卡上同时降低 MAPE；H100/L4 的 P95 改善也明显。</a:t>
            </a:r>
          </a:p>
        </p:txBody>
      </p:sp>
      <p:sp>
        <p:nvSpPr>
          <p:cNvPr id="426" name="card">
            <a:extLst xmlns:a="http://schemas.openxmlformats.org/drawingml/2006/main">
              <a:ext uri="{FF2B5EF4-FFF2-40B4-BE49-F238E27FC236}">
                <a16:creationId xmlns:a16="http://schemas.microsoft.com/office/drawing/2014/main" id="{7AAE3863-653F-448D-8249-670F9D9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29100"/>
            <a:ext cx="30289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182CF07-CEF6-4408-9CCD-648523F8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291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529897F2-530A-4D4D-8857-4DBEB27E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500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Budget 128</a:t>
            </a:r>
          </a:p>
        </p:txBody>
      </p:sp>
      <p:sp>
        <p:nvSpPr>
          <p:cNvPr id="429" name="text">
            <a:extLst xmlns:a="http://schemas.openxmlformats.org/drawingml/2006/main">
              <a:ext uri="{FF2B5EF4-FFF2-40B4-BE49-F238E27FC236}">
                <a16:creationId xmlns:a16="http://schemas.microsoft.com/office/drawing/2014/main" id="{4C41F59A-3B5B-440B-AF92-C52636A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2876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Segmented MAPE：A100 3.58%、H100 8.59%、L4 12.72%。Selective 为 4.43/10.39/14.20%，仍更差。</a:t>
            </a:r>
          </a:p>
        </p:txBody>
      </p:sp>
      <p:sp>
        <p:nvSpPr>
          <p:cNvPr id="430" name="card">
            <a:extLst xmlns:a="http://schemas.openxmlformats.org/drawingml/2006/main">
              <a:ext uri="{FF2B5EF4-FFF2-40B4-BE49-F238E27FC236}">
                <a16:creationId xmlns:a16="http://schemas.microsoft.com/office/drawing/2014/main" id="{9D8F40A1-3357-4096-939C-C82D15E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0175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1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2C579A3-4BBF-4CD2-B8A2-EFAE8366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01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5699B22A-0C8F-466B-934C-93C5D3E6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23113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Sampling</a:t>
            </a:r>
          </a:p>
        </p:txBody>
      </p:sp>
      <p:sp>
        <p:nvSpPr>
          <p:cNvPr id="433" name="text">
            <a:extLst xmlns:a="http://schemas.openxmlformats.org/drawingml/2006/main">
              <a:ext uri="{FF2B5EF4-FFF2-40B4-BE49-F238E27FC236}">
                <a16:creationId xmlns:a16="http://schemas.microsoft.com/office/drawing/2014/main" id="{24EAD5A4-633A-47FC-BE05-101CC858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340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budget32：L4 coverage 15.93 优于 random 17.64；H100 coverage 9.91 略差于 random 9.33。</a:t>
            </a:r>
          </a:p>
        </p:txBody>
      </p:sp>
      <p:sp>
        <p:nvSpPr>
          <p:cNvPr id="434" name="card">
            <a:extLst xmlns:a="http://schemas.openxmlformats.org/drawingml/2006/main">
              <a:ext uri="{FF2B5EF4-FFF2-40B4-BE49-F238E27FC236}">
                <a16:creationId xmlns:a16="http://schemas.microsoft.com/office/drawing/2014/main" id="{9EC0D754-C381-4E41-A7FD-3EA08F6D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5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72F6336-3881-4026-A4FA-95F31B5C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B84E651D-E6BD-4A4F-AD58-DC033002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低预算尾部反例</a:t>
            </a:r>
          </a:p>
        </p:txBody>
      </p:sp>
      <p:sp>
        <p:nvSpPr>
          <p:cNvPr id="437" name="text">
            <a:extLst xmlns:a="http://schemas.openxmlformats.org/drawingml/2006/main">
              <a:ext uri="{FF2B5EF4-FFF2-40B4-BE49-F238E27FC236}">
                <a16:creationId xmlns:a16="http://schemas.microsoft.com/office/drawing/2014/main" id="{7555D176-472F-4E11-AD4B-75F1E15C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budget16：H100 P95 global 30.13→segmented 30.41；L4 48.07→48.92。均值改善不保证尾部不恶化。</a:t>
            </a:r>
          </a:p>
        </p:txBody>
      </p:sp>
      <p:sp>
        <p:nvSpPr>
          <p:cNvPr id="438" name="card">
            <a:extLst xmlns:a="http://schemas.openxmlformats.org/drawingml/2006/main">
              <a:ext uri="{FF2B5EF4-FFF2-40B4-BE49-F238E27FC236}">
                <a16:creationId xmlns:a16="http://schemas.microsoft.com/office/drawing/2014/main" id="{2C840121-746C-411E-B7D2-53AF9400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29813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9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3DA1E2C-8807-440B-B90C-62D559F7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97C5EBE6-20ED-48CD-9E56-A74F38C1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069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Selective 为什么未胜</a:t>
            </a:r>
          </a:p>
        </p:txBody>
      </p:sp>
      <p:sp>
        <p:nvSpPr>
          <p:cNvPr id="441" name="text">
            <a:extLst xmlns:a="http://schemas.openxmlformats.org/drawingml/2006/main">
              <a:ext uri="{FF2B5EF4-FFF2-40B4-BE49-F238E27FC236}">
                <a16:creationId xmlns:a16="http://schemas.microsoft.com/office/drawing/2014/main" id="{BC790E33-0B3E-4687-8481-D162D6FE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2828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阈值与 shrinkage 可能过保守；segment 稳定性不足；目标偏差可能广泛而非少数段；pilot 后加入 gate，缺确认性 CI。应视为待证伪设计，不是成果。</a:t>
            </a:r>
          </a:p>
        </p:txBody>
      </p:sp>
      <p:sp>
        <p:nvSpPr>
          <p:cNvPr id="442" name="card">
            <a:extLst xmlns:a="http://schemas.openxmlformats.org/drawingml/2006/main">
              <a:ext uri="{FF2B5EF4-FFF2-40B4-BE49-F238E27FC236}">
                <a16:creationId xmlns:a16="http://schemas.microsoft.com/office/drawing/2014/main" id="{E6E906C1-D1F6-4C48-BD55-F9885F98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29813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3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9833E6A9-2A44-4660-8498-E2DF56B1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1EEF937A-D1F3-4EDE-A6F4-1DEB375E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499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下一轮预注册</a:t>
            </a:r>
          </a:p>
        </p:txBody>
      </p:sp>
      <p:sp>
        <p:nvSpPr>
          <p:cNvPr id="445" name="text">
            <a:extLst xmlns:a="http://schemas.openxmlformats.org/drawingml/2006/main">
              <a:ext uri="{FF2B5EF4-FFF2-40B4-BE49-F238E27FC236}">
                <a16:creationId xmlns:a16="http://schemas.microsoft.com/office/drawing/2014/main" id="{CC746026-CF12-469D-B197-A4F416C6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2828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冻结 bins/backoff/阈值；coverage vs random；global vs always vs selective；16/64/256 绝对点；10+ seeds；shape-cluster CI；P95 underprediction 不恶化门槛。</a:t>
            </a:r>
          </a:p>
        </p:txBody>
      </p:sp>
      <p:sp>
        <p:nvSpPr>
          <p:cNvPr id="446" name="card">
            <a:extLst xmlns:a="http://schemas.openxmlformats.org/drawingml/2006/main">
              <a:ext uri="{FF2B5EF4-FFF2-40B4-BE49-F238E27FC236}">
                <a16:creationId xmlns:a16="http://schemas.microsoft.com/office/drawing/2014/main" id="{D4ABD542-B402-4736-B00B-11E2BE5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29813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7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6A454641-3F55-4E5F-8893-30810EE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56545DCA-E292-4AE5-8ED4-7DE9CE58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4058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449" name="text">
            <a:extLst xmlns:a="http://schemas.openxmlformats.org/drawingml/2006/main">
              <a:ext uri="{FF2B5EF4-FFF2-40B4-BE49-F238E27FC236}">
                <a16:creationId xmlns:a16="http://schemas.microsoft.com/office/drawing/2014/main" id="{CFC9622D-5D14-4729-B260-866CC87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43475"/>
            <a:ext cx="2828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“基于机制分段的少量目标校准”值得继续；“选择性 gate 比 always segmented 更好”未被支持。若确认性实验仍无收益，应删除复杂 selective 逻辑，保留简单分段+fallback。</a:t>
            </a:r>
          </a:p>
        </p:txBody>
      </p:sp>
      <p:sp>
        <p:nvSpPr>
          <p:cNvPr id="450" name="rule">
            <a:extLst xmlns:a="http://schemas.openxmlformats.org/drawingml/2006/main">
              <a:ext uri="{FF2B5EF4-FFF2-40B4-BE49-F238E27FC236}">
                <a16:creationId xmlns:a16="http://schemas.microsoft.com/office/drawing/2014/main" id="{94E615AD-A509-432D-B0D9-DB99BCC6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5BEBFD43-131E-4CA9-B6CB-599A3DAF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最有价值的阶段结果不是单一最佳 MAPE，而是：校准有效、零样本有反例、复杂 gate 可被证伪。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门禁为什么失败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对灰盒的直接帮助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报告中的伪差异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5FC008BB-A697-49A3-BCFB-AB75EE91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真机 vs 仿真 profiling：当前最有价值的结论是“不可比较的原因”，不是 timing 精度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D5C1B70F-9284-41A9-87C3-ED48DDAD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7A82446B-E060-4002-A1B7-F1B62C32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workload、phase、topology、rank 与 parser 语义均未对齐；时间比率不具备因果解释。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A3688B45-2499-4A93-A399-A3F1560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scope 排序、raw group handle、tensor broadcast 误分类、missing=0 会制造假热点。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23DF2715-B7D4-4310-B091-B490E808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把报告转化为 L0/L1 pre-calibration gate 和 canonical schema 的验收清单。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41944D7D-C424-440A-A354-204DB96A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FEC5792-4CCF-4B2B-829C-8BFB58A3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2A68520A-5779-4D07-ACE9-8B4A4280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Workload / phase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D7DCC381-1F08-4B65-9EC2-C111880D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workload_id 与 schedule_id 两侧均 unrecorded，却被判通过；标注 phase=decode，但两侧都有 nll_loss_backward、FSDP pre_backward、matmul_backward、attention_grad。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817A6895-777B-4F79-8FAE-A8619DD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00300"/>
            <a:ext cx="3476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010D0C1-B83F-424C-AC04-536FDC4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003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43F253A1-2622-4FAB-984B-EE0F19D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4212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Topology / rank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E58DE9FD-5CF3-4792-8257-7192B247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724150"/>
            <a:ext cx="3324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真机 8 rank、仿真 4 rank；DP/TP/EP/PP/CP/DCP 全未知；rank pair 置信度低。若本意是 8→4 外推，应设计 scaling experiment，不是 fidelity pair。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1A1E5CE9-7190-41DB-9593-42A2FC40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676650"/>
            <a:ext cx="3476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D17A9BC-A356-4D40-87D6-99F45A3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6766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BAA33A31-1BA1-4225-8C28-C3F8A9F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6976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Schema / units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9037578E-D15C-42CB-965B-F1793050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00500"/>
            <a:ext cx="3324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仿真 Step Compute=0 却有大量 device duration；通信子字段为0但 Step Communication 非0；world=4 出现 peer 0-0 LOCAL。更像 missing/unmodeled，不是测量零。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E300C7E3-31A0-4664-A936-74FF6B0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857750"/>
            <a:ext cx="34766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D1954799-7419-429F-9FC9-47B675FE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8577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2CD5E8EE-0C9C-4E7E-8850-8C08FA3C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8787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B611BFBD-19E2-4516-BF85-0E5FDF73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181600"/>
            <a:ext cx="33242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Stage ratio 1.2017、overlap 与 duration 差不能用于校准；当前 pair 只说明输入合同、parser 与 L1 可观测性需要修补。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493A2378-9DC8-4911-A283-62EFDF2F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E822D56-F220-47B4-A94A-4A84AD45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392F3B33-D08D-42B6-810B-8E4BBC5F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热点排序层级错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0C296D5A-4F09-4310-AFD6-514B028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Top-5 被 AddBackward0、CheckpointFunction、CloneBackward0 等 scope 占据，Device Self=0；它们应作路径标签，而非 cost component，遮住具体 aten/kernel 差异。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C09D674F-573D-4A08-B1F1-E50B6182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3028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A8A0D4C-0AB9-4AF2-8E61-E9237C74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E2DB061E-6082-406B-9A27-6351B1C1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212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 join 错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60C6B976-30BB-44B9-9F66-B02DB08B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2876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两侧都有 allgather/allreduce/reducescatter，却因本地 raw group handle 不同全部 unmatched。应按 collective type + group members/parallel axis + message bucket 匹配。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4D17A605-EDF2-4A45-B279-D6F10CCA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3028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E6AC5996-A019-4D4C-8584-9EDDDC1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57317209-90DE-4D73-AD9A-62FFA1FF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6976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通信误分类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6B8C5EC6-9A85-4B3D-8532-97BCD50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2876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aclnn*BroadcastToAiCore_BroadcastTo 是 AI_VECTOR_CORE 的普通张量广播，没有 HCCL/HCOM/COMMUNICATION 证据，不应进入 L3 collective。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B6368394-D893-430C-A155-E2E4DFCA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0289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360C5421-2DBE-4119-A580-FA075F97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00EE99BF-B22B-4497-A2B4-72BAF36A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8787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抽象层不一致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9D592AD5-8BC9-4D84-A523-A11667C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81600"/>
            <a:ext cx="2876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真机是 aten::mm/ForeachCopy/HCCL kernel，仿真是 matmul_backward/合成摘要；exact name+ABI 会把相同语义、不同展开层级误判为漏路径。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B99DD27E-08F3-40BC-9454-3DCE73A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D010663-2252-431A-A380-590E7DFD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B4D77F88-57E8-4F17-B55E-A99D6392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 L0 合同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FB25D253-E0CF-4E23-AB09-5A253ADF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request/sample ID、phase marker、model/runtime commit、launch flags、profiler window、parallel degrees/topology 必须完整；unknown 不等于 match。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E991BE06-E1C5-4D73-BAB3-ED3DF897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35887D9-8084-4946-A575-4061F761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D69F4E0B-B553-4B68-85FB-FB0185FE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450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 L1 schema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A07B9E65-2259-456D-BD5C-B996AA09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logical op↔backend tactic 两层；valid/padded token；canonical collective/group；scope 只作 call path；0/missing/unmodeled 三态；field units/provenance。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D21FD699-1662-44CE-828A-378667B3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2981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2B327201-E601-4C98-A8B7-E705D9AB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EBA5DB30-E676-489D-B3D5-A6D23EF5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452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Pre-calibration gate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3C1C9DD4-C93F-4BF0-9912-A82FFF6F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2828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只有同 request、明确 phase、同 topology/coords、同 commit/flags、canonical join 与 schema sanity 全通过，paired component/Stage 数据才进入 L2 residual calibration。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45131137-F60C-402A-95AE-D4B65630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29813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7FC744F0-E212-42CE-9945-845EB9D1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BD5F7257-0882-48A4-9419-A9C4EA78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4535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真正有价值的信号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847F80D7-08A8-4125-8DA8-678EED3C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2828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394 vs 400 在 attention/index_put/pad 等路径重复出现，像 valid token 与 padded bucket 的稳定边界。它提示我们补充输入字段并设计 paired ablation，但 workload 未记录前不能判定谁错。</a:t>
            </a:r>
          </a:p>
        </p:txBody>
      </p:sp>
      <p:sp>
        <p:nvSpPr>
          <p:cNvPr id="453" name="rule">
            <a:extLst xmlns:a="http://schemas.openxmlformats.org/drawingml/2006/main">
              <a:ext uri="{FF2B5EF4-FFF2-40B4-BE49-F238E27FC236}">
                <a16:creationId xmlns:a16="http://schemas.microsoft.com/office/drawing/2014/main" id="{9359CDD7-5081-4757-850E-E47E1FD3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44264438-70FE-4417-8845-B3DF3A2E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profiling compare 的首要产出应是可比性 verdict；只有 verdict=pass，timing ratio 才能成为精度证据。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E74B0F50-B81A-46A8-8588-0246B0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918" y="1234760"/>
            <a:ext cx="3133256" cy="519028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ED3C0"/>
              </a:gs>
              <a:gs pos="100000">
                <a:srgbClr val="EFBBB0"/>
              </a:gs>
            </a:gsLst>
            <a:lin ang="5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latin typeface="微软雅黑"/>
                <a:ea typeface="微软雅黑"/>
                <a:cs typeface="微软雅黑"/>
              </a:rPr>
              <a:t> 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78D9B6F-57B4-44D7-95E7-9E25C5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6" y="557427"/>
            <a:ext cx="99568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0">
                  <a:srgbClr val="478AA5"/>
                </a:gs>
                <a:gs pos="50000">
                  <a:srgbClr val="786E94"/>
                </a:gs>
                <a:gs pos="100000">
                  <a:srgbClr val="AE8290"/>
                </a:gs>
              </a:gsLst>
              <a:lin ang="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A8A1E9-C48D-4E1E-A63C-B09E7B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" y="453390"/>
            <a:ext cx="1981200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52F048F-ADD4-4E1D-BD48-6F77F50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41910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P0：先固定问题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D198C-AF68-4FC8-A208-672125E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450533"/>
            <a:ext cx="19240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85820957-87E7-4E7E-8620-5F90565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1900" y="411480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Go / No-Go 决策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3770EB-2D7B-4579-9E67-F1585DF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53390"/>
            <a:ext cx="1876425" cy="2028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7D2578E-4A6A-47A5-9A90-75C3D6B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8625" y="419100"/>
            <a:ext cx="20669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P1/P2：component 与系统</a:t>
            </a:r>
          </a:p>
        </p:txBody>
      </p:sp>
      <p:sp>
        <p:nvSpPr>
          <p:cNvPr id="400" name="page-title">
            <a:extLst xmlns:a="http://schemas.openxmlformats.org/drawingml/2006/main">
              <a:ext uri="{FF2B5EF4-FFF2-40B4-BE49-F238E27FC236}">
                <a16:creationId xmlns:a16="http://schemas.microsoft.com/office/drawing/2014/main" id="{2BCFD684-455E-4462-B7D2-80CC70F5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675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下一阶段：用目标业务模型与 GPU/NPU 真机，把 L1、L2、L3 分层假设逐个做成可证伪实验</a:t>
            </a:r>
          </a:p>
        </p:txBody>
      </p:sp>
      <p:sp>
        <p:nvSpPr>
          <p:cNvPr id="401" name="page-no">
            <a:extLst xmlns:a="http://schemas.openxmlformats.org/drawingml/2006/main">
              <a:ext uri="{FF2B5EF4-FFF2-40B4-BE49-F238E27FC236}">
                <a16:creationId xmlns:a16="http://schemas.microsoft.com/office/drawing/2014/main" id="{5D1C0FE1-1B24-4DF0-AFC1-982C6244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02" name="text">
            <a:extLst xmlns:a="http://schemas.openxmlformats.org/drawingml/2006/main">
              <a:ext uri="{FF2B5EF4-FFF2-40B4-BE49-F238E27FC236}">
                <a16:creationId xmlns:a16="http://schemas.microsoft.com/office/drawing/2014/main" id="{7DC52426-DC6B-49F0-9BD6-1EF821EA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14375"/>
            <a:ext cx="33242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478AA5"/>
                </a:solidFill>
                <a:latin typeface="Microsoft YaHei"/>
                <a:ea typeface="Microsoft YaHei"/>
                <a:cs typeface="Microsoft YaHei"/>
              </a:rPr>
              <a:t>先选真实模型/runtime/workload，建立同任务、同 phase、同 topology 的 ground truth。</a:t>
            </a:r>
          </a:p>
        </p:txBody>
      </p:sp>
      <p:sp>
        <p:nvSpPr>
          <p:cNvPr id="403" name="text">
            <a:extLst xmlns:a="http://schemas.openxmlformats.org/drawingml/2006/main">
              <a:ext uri="{FF2B5EF4-FFF2-40B4-BE49-F238E27FC236}">
                <a16:creationId xmlns:a16="http://schemas.microsoft.com/office/drawing/2014/main" id="{E2082B71-0E19-400B-B6ED-E6E5940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4375"/>
            <a:ext cx="2876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86E94"/>
                </a:solidFill>
                <a:latin typeface="Microsoft YaHei"/>
                <a:ea typeface="Microsoft YaHei"/>
                <a:cs typeface="Microsoft YaHei"/>
              </a:rPr>
              <a:t>验证 component OOD、系统并行；隔离 calibration 与 E2E holdout。</a:t>
            </a:r>
          </a:p>
        </p:txBody>
      </p:sp>
      <p:sp>
        <p:nvSpPr>
          <p:cNvPr id="404" name="text">
            <a:extLst xmlns:a="http://schemas.openxmlformats.org/drawingml/2006/main">
              <a:ext uri="{FF2B5EF4-FFF2-40B4-BE49-F238E27FC236}">
                <a16:creationId xmlns:a16="http://schemas.microsoft.com/office/drawing/2014/main" id="{FD67CED0-95CC-4BB3-9C06-F1EE567C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4375"/>
            <a:ext cx="2981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每个复杂机制都设删除条件，避免把探索性模块永久工程化。</a:t>
            </a:r>
          </a:p>
        </p:txBody>
      </p:sp>
      <p:sp>
        <p:nvSpPr>
          <p:cNvPr id="405" name="card">
            <a:extLst xmlns:a="http://schemas.openxmlformats.org/drawingml/2006/main">
              <a:ext uri="{FF2B5EF4-FFF2-40B4-BE49-F238E27FC236}">
                <a16:creationId xmlns:a16="http://schemas.microsoft.com/office/drawing/2014/main" id="{6F4D7E59-1FFA-4207-BC6B-178EE76B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0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D639F54-D986-4397-8930-1322A19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1239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text">
            <a:extLst xmlns:a="http://schemas.openxmlformats.org/drawingml/2006/main">
              <a:ext uri="{FF2B5EF4-FFF2-40B4-BE49-F238E27FC236}">
                <a16:creationId xmlns:a16="http://schemas.microsoft.com/office/drawing/2014/main" id="{66583A2D-5C0D-4725-AECA-CFD19420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49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 runtime 选择</a:t>
            </a:r>
          </a:p>
        </p:txBody>
      </p:sp>
      <p:sp>
        <p:nvSpPr>
          <p:cNvPr id="408" name="text">
            <a:extLst xmlns:a="http://schemas.openxmlformats.org/drawingml/2006/main">
              <a:ext uri="{FF2B5EF4-FFF2-40B4-BE49-F238E27FC236}">
                <a16:creationId xmlns:a16="http://schemas.microsoft.com/office/drawing/2014/main" id="{10A26DB9-24BD-4241-B1B6-26B914B4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47800"/>
            <a:ext cx="3324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训练：选一个 Transformer dense + 一个 MoE/后训练 workload（forward/backward/optimizer 明确）。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推理：同一模型固定 Transformers eager/compile，再固定 vLLM 或 SGLang 版本与 scheduler。</a:t>
            </a:r>
          </a:p>
        </p:txBody>
      </p:sp>
      <p:sp>
        <p:nvSpPr>
          <p:cNvPr id="409" name="card">
            <a:extLst xmlns:a="http://schemas.openxmlformats.org/drawingml/2006/main">
              <a:ext uri="{FF2B5EF4-FFF2-40B4-BE49-F238E27FC236}">
                <a16:creationId xmlns:a16="http://schemas.microsoft.com/office/drawing/2014/main" id="{3707D58E-C861-4044-879D-566D166E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57450"/>
            <a:ext cx="3476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4C3DD10-CA09-4CD6-9191-9AE0BC9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45745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text">
            <a:extLst xmlns:a="http://schemas.openxmlformats.org/drawingml/2006/main">
              <a:ext uri="{FF2B5EF4-FFF2-40B4-BE49-F238E27FC236}">
                <a16:creationId xmlns:a16="http://schemas.microsoft.com/office/drawing/2014/main" id="{E017C8D2-A02A-4A0B-AB05-C0A83958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47840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工作负载矩阵</a:t>
            </a:r>
          </a:p>
        </p:txBody>
      </p:sp>
      <p:sp>
        <p:nvSpPr>
          <p:cNvPr id="412" name="text">
            <a:extLst xmlns:a="http://schemas.openxmlformats.org/drawingml/2006/main">
              <a:ext uri="{FF2B5EF4-FFF2-40B4-BE49-F238E27FC236}">
                <a16:creationId xmlns:a16="http://schemas.microsoft.com/office/drawing/2014/main" id="{4B63A080-F887-4B9B-B41E-3CA97EC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781300"/>
            <a:ext cx="33242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seq/context：短/中/长 + 真实分布；batch：1/小/饱和；dtype：FP32/BF16/FP16；phase：prefill/decode 或 fwd/bwd/optim；P：DP/TP/PP/EP 至少覆盖两个 degree。</a:t>
            </a:r>
          </a:p>
        </p:txBody>
      </p:sp>
      <p:sp>
        <p:nvSpPr>
          <p:cNvPr id="413" name="card">
            <a:extLst xmlns:a="http://schemas.openxmlformats.org/drawingml/2006/main">
              <a:ext uri="{FF2B5EF4-FFF2-40B4-BE49-F238E27FC236}">
                <a16:creationId xmlns:a16="http://schemas.microsoft.com/office/drawing/2014/main" id="{3A0F4033-D29F-4D2E-8053-E720E13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771900"/>
            <a:ext cx="34766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B0862D31-4F9E-4E2B-BC76-B7168CD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771900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text">
            <a:extLst xmlns:a="http://schemas.openxmlformats.org/drawingml/2006/main">
              <a:ext uri="{FF2B5EF4-FFF2-40B4-BE49-F238E27FC236}">
                <a16:creationId xmlns:a16="http://schemas.microsoft.com/office/drawing/2014/main" id="{0CB9F987-CCFF-4147-B265-BE7E709F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792855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环境记录</a:t>
            </a:r>
          </a:p>
        </p:txBody>
      </p:sp>
      <p:sp>
        <p:nvSpPr>
          <p:cNvPr id="416" name="text">
            <a:extLst xmlns:a="http://schemas.openxmlformats.org/drawingml/2006/main">
              <a:ext uri="{FF2B5EF4-FFF2-40B4-BE49-F238E27FC236}">
                <a16:creationId xmlns:a16="http://schemas.microsoft.com/office/drawing/2014/main" id="{96D74A11-BFDC-4509-A63D-FDC16803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95750"/>
            <a:ext cx="33242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model/framework/compiler/runtime/driver commit；device SKU/clock/power；node/link topology；rank coordinates/groups；warmup/repeats；temperature；memory/KV/scheduler flags。</a:t>
            </a:r>
          </a:p>
        </p:txBody>
      </p:sp>
      <p:sp>
        <p:nvSpPr>
          <p:cNvPr id="417" name="card">
            <a:extLst xmlns:a="http://schemas.openxmlformats.org/drawingml/2006/main">
              <a:ext uri="{FF2B5EF4-FFF2-40B4-BE49-F238E27FC236}">
                <a16:creationId xmlns:a16="http://schemas.microsoft.com/office/drawing/2014/main" id="{5EB6331A-CA29-4AF3-9A1D-8E9FECF1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24425"/>
            <a:ext cx="3476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1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C724369-A213-4FDE-BE5A-90229AC8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924425"/>
            <a:ext cx="3476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text">
            <a:extLst xmlns:a="http://schemas.openxmlformats.org/drawingml/2006/main">
              <a:ext uri="{FF2B5EF4-FFF2-40B4-BE49-F238E27FC236}">
                <a16:creationId xmlns:a16="http://schemas.microsoft.com/office/drawing/2014/main" id="{85DD5653-C31D-462C-B8BB-EAE17032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45380"/>
            <a:ext cx="3343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 交付</a:t>
            </a:r>
          </a:p>
        </p:txBody>
      </p:sp>
      <p:sp>
        <p:nvSpPr>
          <p:cNvPr id="420" name="text">
            <a:extLst xmlns:a="http://schemas.openxmlformats.org/drawingml/2006/main">
              <a:ext uri="{FF2B5EF4-FFF2-40B4-BE49-F238E27FC236}">
                <a16:creationId xmlns:a16="http://schemas.microsoft.com/office/drawing/2014/main" id="{4CB987A7-CEC9-4FA3-AB03-6C76EBD5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248275"/>
            <a:ext cx="3324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canonical signature + graph diff；component benchmark harness；profiling marker；input-contract validator；ground-truth data schema；明确 missing/unknown。</a:t>
            </a:r>
          </a:p>
        </p:txBody>
      </p:sp>
      <p:sp>
        <p:nvSpPr>
          <p:cNvPr id="421" name="card">
            <a:extLst xmlns:a="http://schemas.openxmlformats.org/drawingml/2006/main">
              <a:ext uri="{FF2B5EF4-FFF2-40B4-BE49-F238E27FC236}">
                <a16:creationId xmlns:a16="http://schemas.microsoft.com/office/drawing/2014/main" id="{FF766797-2715-4463-9390-9D42F2BA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A79784CD-968D-43DE-A42B-8059A1E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239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text">
            <a:extLst xmlns:a="http://schemas.openxmlformats.org/drawingml/2006/main">
              <a:ext uri="{FF2B5EF4-FFF2-40B4-BE49-F238E27FC236}">
                <a16:creationId xmlns:a16="http://schemas.microsoft.com/office/drawing/2014/main" id="{5B792406-3C67-43C3-88FC-63C8ED90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1449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P1：L2 component</a:t>
            </a:r>
          </a:p>
        </p:txBody>
      </p:sp>
      <p:sp>
        <p:nvSpPr>
          <p:cNvPr id="424" name="text">
            <a:extLst xmlns:a="http://schemas.openxmlformats.org/drawingml/2006/main">
              <a:ext uri="{FF2B5EF4-FFF2-40B4-BE49-F238E27FC236}">
                <a16:creationId xmlns:a16="http://schemas.microsoft.com/office/drawing/2014/main" id="{145F943A-102B-4193-99C9-DD85297C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47800"/>
            <a:ext cx="28765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A0 Roofline；A1 direct absolute；G1 gray residual；G2 always segmented calibration；G3 OOD gate+microbenchmark。严格 split：seen-HW shape-OOD、new-HW、joint-OOD、route-OOD；pre/post-kernel 分开。</a:t>
            </a:r>
          </a:p>
        </p:txBody>
      </p:sp>
      <p:sp>
        <p:nvSpPr>
          <p:cNvPr id="425" name="card">
            <a:extLst xmlns:a="http://schemas.openxmlformats.org/drawingml/2006/main">
              <a:ext uri="{FF2B5EF4-FFF2-40B4-BE49-F238E27FC236}">
                <a16:creationId xmlns:a16="http://schemas.microsoft.com/office/drawing/2014/main" id="{8DCAA610-EC42-4356-AAC7-6AD6A38D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30289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2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3F65764-EF18-46F5-9ADE-9E34316D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text">
            <a:extLst xmlns:a="http://schemas.openxmlformats.org/drawingml/2006/main">
              <a:ext uri="{FF2B5EF4-FFF2-40B4-BE49-F238E27FC236}">
                <a16:creationId xmlns:a16="http://schemas.microsoft.com/office/drawing/2014/main" id="{535B8A86-DF7E-41AB-A997-CF23D53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6413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 可证伪假设</a:t>
            </a:r>
          </a:p>
        </p:txBody>
      </p:sp>
      <p:sp>
        <p:nvSpPr>
          <p:cNvPr id="428" name="text">
            <a:extLst xmlns:a="http://schemas.openxmlformats.org/drawingml/2006/main">
              <a:ext uri="{FF2B5EF4-FFF2-40B4-BE49-F238E27FC236}">
                <a16:creationId xmlns:a16="http://schemas.microsoft.com/office/drawing/2014/main" id="{1E582A0F-F2D2-4D7E-8849-6E449299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67025"/>
            <a:ext cx="2876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H1 joint-OOD G1 比 A1 macro-MAPE 降≥20%。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H2 ≤5% target measurements 时 G2 比 G1/global 降≥10%，P95 不恶化&gt;5%。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H3 selective 若不胜 always/global 则删除。</a:t>
            </a:r>
          </a:p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H4 post-kernel 提升&lt;5%则不引入耦合。</a:t>
            </a:r>
          </a:p>
        </p:txBody>
      </p:sp>
      <p:sp>
        <p:nvSpPr>
          <p:cNvPr id="429" name="card">
            <a:extLst xmlns:a="http://schemas.openxmlformats.org/drawingml/2006/main">
              <a:ext uri="{FF2B5EF4-FFF2-40B4-BE49-F238E27FC236}">
                <a16:creationId xmlns:a16="http://schemas.microsoft.com/office/drawing/2014/main" id="{3143F4DF-519A-4E8F-B9FD-2C25DB5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0525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E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5C6E5A1D-A9E1-4EA8-BDA7-6EF8F13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052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text">
            <a:extLst xmlns:a="http://schemas.openxmlformats.org/drawingml/2006/main">
              <a:ext uri="{FF2B5EF4-FFF2-40B4-BE49-F238E27FC236}">
                <a16:creationId xmlns:a16="http://schemas.microsoft.com/office/drawing/2014/main" id="{8EA2EAA1-449E-4A77-A8D6-BD5AC07D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2620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P2：L3 E2E</a:t>
            </a:r>
          </a:p>
        </p:txBody>
      </p:sp>
      <p:sp>
        <p:nvSpPr>
          <p:cNvPr id="432" name="text">
            <a:extLst xmlns:a="http://schemas.openxmlformats.org/drawingml/2006/main">
              <a:ext uri="{FF2B5EF4-FFF2-40B4-BE49-F238E27FC236}">
                <a16:creationId xmlns:a16="http://schemas.microsoft.com/office/drawing/2014/main" id="{2E2F96F9-A190-4899-80B2-77A3D051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291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固定 L2 labels 后验证 DP/TP/PP/EP、单机/跨机、不同 seq/batch、训练 stage 与 serving capacity；逐层关闭 overlap/queue/争用做 ablation。</a:t>
            </a:r>
          </a:p>
        </p:txBody>
      </p:sp>
      <p:sp>
        <p:nvSpPr>
          <p:cNvPr id="433" name="card">
            <a:extLst xmlns:a="http://schemas.openxmlformats.org/drawingml/2006/main">
              <a:ext uri="{FF2B5EF4-FFF2-40B4-BE49-F238E27FC236}">
                <a16:creationId xmlns:a16="http://schemas.microsoft.com/office/drawing/2014/main" id="{8BC9A964-7023-413E-BB45-FFCA596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91100"/>
            <a:ext cx="30289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4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FEB0A421-88F2-42A5-A591-769D758B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9110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7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text">
            <a:extLst xmlns:a="http://schemas.openxmlformats.org/drawingml/2006/main">
              <a:ext uri="{FF2B5EF4-FFF2-40B4-BE49-F238E27FC236}">
                <a16:creationId xmlns:a16="http://schemas.microsoft.com/office/drawing/2014/main" id="{05094AF7-78A9-43F4-885A-8DB7431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01205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隔离与评估</a:t>
            </a:r>
          </a:p>
        </p:txBody>
      </p:sp>
      <p:sp>
        <p:nvSpPr>
          <p:cNvPr id="436" name="text">
            <a:extLst xmlns:a="http://schemas.openxmlformats.org/drawingml/2006/main">
              <a:ext uri="{FF2B5EF4-FFF2-40B4-BE49-F238E27FC236}">
                <a16:creationId xmlns:a16="http://schemas.microsoft.com/office/drawing/2014/main" id="{08DAF121-CE52-46C5-80F7-7E824061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14950"/>
            <a:ext cx="2876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component calibration 与 E2E holdout 不重叠；每次决策报告 MAPE/P95/underprediction/CI、ranking、OOM、bottleneck、fallback coverage 与额外测量成本。</a:t>
            </a:r>
          </a:p>
        </p:txBody>
      </p:sp>
      <p:sp>
        <p:nvSpPr>
          <p:cNvPr id="437" name="card">
            <a:extLst xmlns:a="http://schemas.openxmlformats.org/drawingml/2006/main">
              <a:ext uri="{FF2B5EF4-FFF2-40B4-BE49-F238E27FC236}">
                <a16:creationId xmlns:a16="http://schemas.microsoft.com/office/drawing/2014/main" id="{45283AF3-E7A3-4B04-92D7-ABD9CF3A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38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CAA0D021-1E13-41E2-A614-7A30C55F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239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">
            <a:extLst xmlns:a="http://schemas.openxmlformats.org/drawingml/2006/main">
              <a:ext uri="{FF2B5EF4-FFF2-40B4-BE49-F238E27FC236}">
                <a16:creationId xmlns:a16="http://schemas.microsoft.com/office/drawing/2014/main" id="{6C3CEEA1-CD7C-49A4-9453-F91AA552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449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Go：继续工程化</a:t>
            </a:r>
          </a:p>
        </p:txBody>
      </p:sp>
      <p:sp>
        <p:nvSpPr>
          <p:cNvPr id="440" name="text">
            <a:extLst xmlns:a="http://schemas.openxmlformats.org/drawingml/2006/main">
              <a:ext uri="{FF2B5EF4-FFF2-40B4-BE49-F238E27FC236}">
                <a16:creationId xmlns:a16="http://schemas.microsoft.com/office/drawing/2014/main" id="{740C1C30-1673-40D0-A2DC-5DE5E3A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L1 graph/shape/group 在目标 runtime 稳定可生成；G2/G3 在预注册 OOD split 和尾部指标上有稳定收益；L3 E2E 误差归因闭合；fallback 成本可接受。</a:t>
            </a:r>
          </a:p>
        </p:txBody>
      </p:sp>
      <p:sp>
        <p:nvSpPr>
          <p:cNvPr id="441" name="card">
            <a:extLst xmlns:a="http://schemas.openxmlformats.org/drawingml/2006/main">
              <a:ext uri="{FF2B5EF4-FFF2-40B4-BE49-F238E27FC236}">
                <a16:creationId xmlns:a16="http://schemas.microsoft.com/office/drawing/2014/main" id="{687C65FB-6A57-4520-AF48-706417BB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29813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2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1CAE96A5-9002-4133-A12F-6C218E52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text">
            <a:extLst xmlns:a="http://schemas.openxmlformats.org/drawingml/2006/main">
              <a:ext uri="{FF2B5EF4-FFF2-40B4-BE49-F238E27FC236}">
                <a16:creationId xmlns:a16="http://schemas.microsoft.com/office/drawing/2014/main" id="{C2A110F6-9075-45C9-84FB-67CE72FA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260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Narrow：缩小范围</a:t>
            </a:r>
          </a:p>
        </p:txBody>
      </p:sp>
      <p:sp>
        <p:nvSpPr>
          <p:cNvPr id="444" name="text">
            <a:extLst xmlns:a="http://schemas.openxmlformats.org/drawingml/2006/main">
              <a:ext uri="{FF2B5EF4-FFF2-40B4-BE49-F238E27FC236}">
                <a16:creationId xmlns:a16="http://schemas.microsoft.com/office/drawing/2014/main" id="{CA45CE80-A577-4261-988B-9E9752E8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2890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若跨 family/route 不稳，则按 hardware×runtime×operator family 建局部模型；优先 serving 配置搜索或训练策略排序，不承诺跨硬件 absolute SLA。</a:t>
            </a:r>
          </a:p>
        </p:txBody>
      </p:sp>
      <p:sp>
        <p:nvSpPr>
          <p:cNvPr id="445" name="card">
            <a:extLst xmlns:a="http://schemas.openxmlformats.org/drawingml/2006/main">
              <a:ext uri="{FF2B5EF4-FFF2-40B4-BE49-F238E27FC236}">
                <a16:creationId xmlns:a16="http://schemas.microsoft.com/office/drawing/2014/main" id="{BC5A9131-DD92-45AE-B31F-5E01892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29813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46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8F578C95-3065-4F80-A3E1-8140E22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text">
            <a:extLst xmlns:a="http://schemas.openxmlformats.org/drawingml/2006/main">
              <a:ext uri="{FF2B5EF4-FFF2-40B4-BE49-F238E27FC236}">
                <a16:creationId xmlns:a16="http://schemas.microsoft.com/office/drawing/2014/main" id="{92BE1DF7-8A73-421B-9412-FCEEFBB7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071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No-Go：删除复杂模块</a:t>
            </a:r>
          </a:p>
        </p:txBody>
      </p:sp>
      <p:sp>
        <p:nvSpPr>
          <p:cNvPr id="448" name="text">
            <a:extLst xmlns:a="http://schemas.openxmlformats.org/drawingml/2006/main">
              <a:ext uri="{FF2B5EF4-FFF2-40B4-BE49-F238E27FC236}">
                <a16:creationId xmlns:a16="http://schemas.microsoft.com/office/drawing/2014/main" id="{8135F6B9-BE4E-4FCE-AC03-F2AFB25E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selective gate 无增益；post-kernel metadata 代价大而收益&lt;5%；route classifier 拒绝率/误判不可接受；microbenchmark 成本高于直接 profiling；L1 graph 版本漂移无法控制。</a:t>
            </a:r>
          </a:p>
        </p:txBody>
      </p:sp>
      <p:sp>
        <p:nvSpPr>
          <p:cNvPr id="449" name="card">
            <a:extLst xmlns:a="http://schemas.openxmlformats.org/drawingml/2006/main">
              <a:ext uri="{FF2B5EF4-FFF2-40B4-BE49-F238E27FC236}">
                <a16:creationId xmlns:a16="http://schemas.microsoft.com/office/drawing/2014/main" id="{3C683884-28AC-40B3-A7CD-546ED982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2981325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5DB"/>
          </a:solidFill>
          <a:ln xmlns:a="http://schemas.openxmlformats.org/drawingml/2006/main" w="6668">
            <a:solidFill>
              <a:srgbClr val="EBEBEB"/>
            </a:solidFill>
            <a:prstDash val="solid"/>
          </a:ln>
        </p:spPr>
      </p:sp>
      <p:sp>
        <p:nvSpPr>
          <p:cNvPr id="450" name="card-title-band">
            <a:extLst xmlns:a="http://schemas.openxmlformats.org/drawingml/2006/main">
              <a:ext uri="{FF2B5EF4-FFF2-40B4-BE49-F238E27FC236}">
                <a16:creationId xmlns:a16="http://schemas.microsoft.com/office/drawing/2014/main" id="{44BF9081-BF4A-409C-87B6-862E88FD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29813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text">
            <a:extLst xmlns:a="http://schemas.openxmlformats.org/drawingml/2006/main">
              <a:ext uri="{FF2B5EF4-FFF2-40B4-BE49-F238E27FC236}">
                <a16:creationId xmlns:a16="http://schemas.microsoft.com/office/drawing/2014/main" id="{0CF5F855-CA21-405A-AEF4-3603379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8820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近期优先级</a:t>
            </a:r>
          </a:p>
        </p:txBody>
      </p:sp>
      <p:sp>
        <p:nvSpPr>
          <p:cNvPr id="452" name="text">
            <a:extLst xmlns:a="http://schemas.openxmlformats.org/drawingml/2006/main">
              <a:ext uri="{FF2B5EF4-FFF2-40B4-BE49-F238E27FC236}">
                <a16:creationId xmlns:a16="http://schemas.microsoft.com/office/drawing/2014/main" id="{FBBBEF33-7D1E-4A87-91D1-E0A69226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91100"/>
            <a:ext cx="28289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P0 输入合同与 profiling 门禁 → P1 FP16/BF16 GEMM/attention/collective 目标真测 → G3 route-OOD fallback → P2 一个训练并行 case + 一个 serving trace → 再评估是否扩到 MoE/多机大规模。</a:t>
            </a:r>
          </a:p>
        </p:txBody>
      </p:sp>
      <p:sp>
        <p:nvSpPr>
          <p:cNvPr id="453" name="rule">
            <a:extLst xmlns:a="http://schemas.openxmlformats.org/drawingml/2006/main">
              <a:ext uri="{FF2B5EF4-FFF2-40B4-BE49-F238E27FC236}">
                <a16:creationId xmlns:a16="http://schemas.microsoft.com/office/drawing/2014/main" id="{CDFA9A62-503F-41B9-9449-C8DE6E3B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81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6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ext">
            <a:extLst xmlns:a="http://schemas.openxmlformats.org/drawingml/2006/main">
              <a:ext uri="{FF2B5EF4-FFF2-40B4-BE49-F238E27FC236}">
                <a16:creationId xmlns:a16="http://schemas.microsoft.com/office/drawing/2014/main" id="{016EC03D-0681-4DDD-B1C6-2319DCDB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200775"/>
            <a:ext cx="980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i="0">
                <a:solidFill>
                  <a:srgbClr val="A36C74"/>
                </a:solidFill>
                <a:latin typeface="Microsoft YaHei"/>
                <a:ea typeface="Microsoft YaHei"/>
                <a:cs typeface="Microsoft YaHei"/>
              </a:rPr>
              <a:t>下一阶段不追求“再多跑几个模型”，而是用少量真实模型把每一层假设、拒绝条件和决策门槛闭合。</a:t>
            </a:r>
          </a:p>
        </p:txBody>
      </p:sp>
    </p:spTree>
    <p:extLst>
      <p:ext uri="{BB962C8B-B14F-4D97-AF65-F5344CB8AC3E}">
        <p14:creationId xmlns:p14="http://schemas.microsoft.com/office/powerpoint/2010/main" val="52456120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2026-08-13T03:29:02.0170000Z</dcterms:created>
  <dcterms:modified xsi:type="dcterms:W3CDTF">2026-08-13T03:29:02.0170000Z</dcterms:modified>
</coreProperties>
</file>