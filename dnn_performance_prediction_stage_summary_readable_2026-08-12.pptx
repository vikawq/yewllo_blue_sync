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0259695" cy="648017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封面：阶段结论、证据范围与日期。</a:t>
            </a:r>
          </a:p>
          <a:p/>
          <a:p>
            <a:r>
              <a:t>[Sources]</a:t>
            </a:r>
          </a:p>
          <a:p>
            <a:r>
              <a:t>- D:\workspaces\trace\survey\dnn_performance_prediction\README.md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一页结论：方案、代表证据、反例与承诺边界。</a:t>
            </a:r>
          </a:p>
          <a:p/>
          <a:p>
            <a:r>
              <a:t>[Sources]</a:t>
            </a:r>
          </a:p>
          <a:p>
            <a:r>
              <a:t>- D:\workspaces\trace\survey\dnn_performance_prediction\README.md</a:t>
            </a:r>
          </a:p>
          <a:p>
            <a:r>
              <a:t>- D:\workspaces\trace\survey\dnn_performance_prediction\experiments\results\graybox_calibration\calibration_summary.csv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 seqLen、batch、并行、rank 与拓扑如何共同影响 L1/L2/L3。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D:\workspaces\trace\survey\dnn_performance_prediction\paper_notes\00_ai_infra_primer.md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面向非 AI Infra 背景解释 rank 与各类并行。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D:\workspaces\trace\survey\dnn_performance_prediction\paper_notes\00_ai_infra_primer.md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澄清 cost model 与 L1/L2/L3 全系统建模的关系，以及无目标硬件/模型代码时的证据边界。</a:t>
            </a:r>
          </a:p>
          <a:p/>
          <a:p>
            <a:r>
              <a:t>[Sources]</a:t>
            </a:r>
          </a:p>
          <a:p>
            <a:r>
              <a:t>- D:\workspaces\trace\survey\dnn_performance_prediction\README.md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11篇论文阅读导航，按预测任务而非年份排列。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D:\workspaces\trace\survey\dnn_performance_prediction\paper_notes\00_cross_paper_matrix.md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Daydream 与 dPRO：背景、方法、结果、口径纠错与灰盒落点。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D:\workspaces\trace\survey\dnn_performance_prediction\paper_notes\papers\01_daydream.md</a:t>
            </a:r>
          </a:p>
          <a:p>
            <a:r>
              <a:t>- D:\workspaces\trace\survey\dnn_performance_prediction\paper_notes\papers\04_dpro.md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Proteus 与 Vidur：从策略/请求生成目标执行图，再接 component profile 与事件模拟。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D:\workspaces\trace\survey\dnn_performance_prediction\paper_notes\papers\05_proteus.md</a:t>
            </a:r>
          </a:p>
          <a:p>
            <a:r>
              <a:t>- D:\workspaces\trace\survey\dnn_performance_prediction\paper_notes\papers\06_vidur.md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Habitat、nn-Meter、NeuSight 的 component cost 演进与边界。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D:\workspaces\trace\survey\dnn_performance_prediction\paper_notes\papers\02_habitat.md</a:t>
            </a:r>
          </a:p>
          <a:p>
            <a:r>
              <a:t>- D:\workspaces\trace\survey\dnn_performance_prediction\paper_notes\papers\03_nn_meter.md</a:t>
            </a:r>
          </a:p>
          <a:p>
            <a:r>
              <a:t>- D:\workspaces\trace\survey\dnn_performance_prediction\paper_notes\papers\07_neusight.md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Ansor 与 TenSet：搜索闭环、数据、ranking 语义及与 SLA 的边界。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D:\workspaces\trace\survey\dnn_performance_prediction\paper_notes\papers\10_ansor.md</a:t>
            </a:r>
          </a:p>
          <a:p>
            <a:r>
              <a:t>- D:\workspaces\trace\survey\dnn_performance_prediction\paper_notes\papers\11_tenset.md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TPU learned cost model 与 TLP/MTL-TLP：图/序列表征、迁移、OOD 反例。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D:\workspaces\trace\survey\dnn_performance_prediction\paper_notes\papers\08_tpu_cost_model.md</a:t>
            </a:r>
          </a:p>
          <a:p>
            <a:r>
              <a:t>- D:\workspaces\trace\survey\dnn_performance_prediction\paper_notes\papers\09_tlp_mtl_tlp.md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把11篇论文证据归纳为统一 L1/L2/L3 工程契约。</a:t>
            </a:r>
          </a:p>
          <a:p/>
          <a:p>
            <a:r>
              <a:t>[Sources]</a:t>
            </a:r>
          </a:p>
          <a:p>
            <a:r>
              <a:t>- D:\workspaces\trace\survey\dnn_performance_prediction\paper_notes\00_reading_guide.md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工业 component cost 与 autotuning 的共同范式。</a:t>
            </a:r>
          </a:p>
          <a:p/>
          <a:p>
            <a:r>
              <a:t>[Sources]</a:t>
            </a:r>
          </a:p>
          <a:p>
            <a:r>
              <a:t>- https://openxla.org/xla/gpu_architecture</a:t>
            </a:r>
          </a:p>
          <a:p>
            <a:r>
              <a:t>- https://docs.nvidia.com/deeplearning/tensorrt/latest/inference-library/advanced.html</a:t>
            </a:r>
          </a:p>
          <a:p>
            <a:r>
              <a:t>- https://triton-lang.org/main/getting-started/tutorials/03-matrix-multiplication.html</a:t>
            </a:r>
          </a:p>
          <a:p>
            <a:r>
              <a:t>- https://docs.nvidia.com/cuda/cutlass/overview.html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 L0–L4 灰盒架构。</a:t>
            </a:r>
          </a:p>
          <a:p/>
          <a:p>
            <a:r>
              <a:t>[Sources]</a:t>
            </a:r>
          </a:p>
          <a:p>
            <a:r>
              <a:t>- D:\workspaces\trace\survey\dnn_performance_prediction\README.md#统一灰盒架构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canonical signature 与 profiling 可比性门禁。</a:t>
            </a:r>
          </a:p>
          <a:p/>
          <a:p>
            <a:r>
              <a:t>[Sources]</a:t>
            </a:r>
          </a:p>
          <a:p>
            <a:r>
              <a:t>- C:\Users\admin\.codex\attachments\b2bc3dd2-1e11-490e-94f5-96efc192c856\pasted-text.txt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L2 route-aware cost routing、机制残差、分段校准、缓存与风险输出。</a:t>
            </a:r>
          </a:p>
          <a:p/>
          <a:p>
            <a:r>
              <a:t>[Sources]</a:t>
            </a:r>
          </a:p>
          <a:p>
            <a:r>
              <a:t>- D:\workspaces\trace\survey\dnn_performance_prediction\phase2_archive.md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L3 事件、关键路径、动态训练/推理和信任合同。</a:t>
            </a:r>
          </a:p>
          <a:p/>
          <a:p>
            <a:r>
              <a:t>[Sources]</a:t>
            </a:r>
          </a:p>
          <a:p>
            <a:r>
              <a:t>- D:\workspaces\trace\survey\dnn_performance_prediction\README.md#L3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合并本地证据全景与证据边界。</a:t>
            </a:r>
          </a:p>
          <a:p/>
          <a:p>
            <a:r>
              <a:t>[Sources]</a:t>
            </a:r>
          </a:p>
          <a:p>
            <a:r>
              <a:t>- D:\workspaces\trace\survey\dnn_performance_prediction\experiments\README.md</a:t>
            </a:r>
          </a:p>
          <a:p>
            <a:r>
              <a:t>- D:\workspaces\trace\survey\dnn_performance_prediction\README.md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Vidur 与 nn-Meter 的本地 smoke 条件、结果与边界。</a:t>
            </a:r>
          </a:p>
          <a:p/>
          <a:p>
            <a:r>
              <a:t>[Sources]</a:t>
            </a:r>
          </a:p>
          <a:p>
            <a:r>
              <a:t>- D:\workspaces\trace\survey\dnn_performance_prediction\experiments\results\summary.csv</a:t>
            </a:r>
          </a:p>
          <a:p>
            <a:r>
              <a:t>- D:\workspaces\trace\survey\dnn_performance_prediction\experiments\run_vidur.ps1</a:t>
            </a:r>
          </a:p>
          <a:p>
            <a:r>
              <a:t>- D:\workspaces\trace\survey\dnn_performance_prediction\experiments\run_nnmeter.ps1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NeuSight artifact 对齐、公开真测 OOD 结果与 H100 反例。</a:t>
            </a:r>
          </a:p>
          <a:p/>
          <a:p>
            <a:r>
              <a:t>[Sources]</a:t>
            </a:r>
          </a:p>
          <a:p>
            <a:r>
              <a:t>- D:\workspaces\trace\.research\experiments\neusight-wsl\README.md</a:t>
            </a:r>
          </a:p>
          <a:p>
            <a:r>
              <a:t>- D:\workspaces\trace\survey\dnn_performance_prediction\experiments\results\graybox_calibration\zero_shot.csv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灰盒分段校准的冻结数字、反例与下一轮预注册。</a:t>
            </a:r>
          </a:p>
          <a:p/>
          <a:p>
            <a:r>
              <a:t>[Sources]</a:t>
            </a:r>
          </a:p>
          <a:p>
            <a:r>
              <a:t>- D:\workspaces\trace\survey\dnn_performance_prediction\experiments\results\graybox_calibration\calibration_summary.csv</a:t>
            </a:r>
          </a:p>
          <a:p>
            <a:r>
              <a:t>- D:\workspaces\trace\survey\dnn_performance_prediction\experiments\results\graybox_calibration\calibration_runs.csv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真机/仿真 profiling 的门禁、伪差异与对灰盒输入合同的帮助。</a:t>
            </a:r>
          </a:p>
          <a:p/>
          <a:p>
            <a:r>
              <a:t>[Sources]</a:t>
            </a:r>
          </a:p>
          <a:p>
            <a:r>
              <a:t>- C:\Users\admin\.codex\attachments\b2bc3dd2-1e11-490e-94f5-96efc192c856\pasted-text.txt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下一阶段真实模型/目标硬件的预注册实验与 Go/No-Go 决策。</a:t>
            </a:r>
          </a:p>
          <a:p/>
          <a:p>
            <a:r>
              <a:t>[Sources]</a:t>
            </a:r>
          </a:p>
          <a:p>
            <a:r>
              <a:t>- D:\workspaces\trace\survey\dnn_performance_prediction\README.md#下一批真实数据实验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2502" y="1060529"/>
            <a:ext cx="7695010" cy="2256061"/>
          </a:xfrm>
        </p:spPr>
        <p:txBody>
          <a:bodyPr anchor="b"/>
          <a:lstStyle>
            <a:lvl1pPr algn="ctr">
              <a:buNone/>
              <a:defRPr sz="505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502" y="3403592"/>
            <a:ext cx="7695010" cy="1564542"/>
          </a:xfrm>
        </p:spPr>
        <p:txBody>
          <a:bodyPr/>
          <a:lstStyle>
            <a:lvl1pPr marL="0" indent="0" algn="ctr">
              <a:buNone/>
              <a:defRPr sz="2020"/>
            </a:lvl1pPr>
            <a:lvl2pPr marL="384810" indent="0" algn="ctr">
              <a:buNone/>
              <a:defRPr sz="1685"/>
            </a:lvl2pPr>
            <a:lvl3pPr marL="769620" indent="0" algn="ctr">
              <a:buNone/>
              <a:defRPr sz="1515"/>
            </a:lvl3pPr>
            <a:lvl4pPr marL="1154430" indent="0" algn="ctr">
              <a:buNone/>
              <a:defRPr sz="1345"/>
            </a:lvl4pPr>
            <a:lvl5pPr marL="1539240" indent="0" algn="ctr">
              <a:buNone/>
              <a:defRPr sz="1345"/>
            </a:lvl5pPr>
            <a:lvl6pPr marL="1923415" indent="0" algn="ctr">
              <a:buNone/>
              <a:defRPr sz="1345"/>
            </a:lvl6pPr>
            <a:lvl7pPr marL="2308225" indent="0" algn="ctr">
              <a:buNone/>
              <a:defRPr sz="1345"/>
            </a:lvl7pPr>
            <a:lvl8pPr marL="2693035" indent="0" algn="ctr">
              <a:buNone/>
              <a:defRPr sz="1345"/>
            </a:lvl8pPr>
            <a:lvl9pPr marL="3077845" indent="0" algn="ctr">
              <a:buNone/>
              <a:defRPr sz="1345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32" y="1615545"/>
            <a:ext cx="8849261" cy="2695572"/>
          </a:xfrm>
        </p:spPr>
        <p:txBody>
          <a:bodyPr anchor="b"/>
          <a:lstStyle>
            <a:lvl1pPr>
              <a:buNone/>
              <a:defRPr sz="505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00032" y="4336618"/>
            <a:ext cx="8849261" cy="1417538"/>
          </a:xfrm>
        </p:spPr>
        <p:txBody>
          <a:bodyPr/>
          <a:lstStyle>
            <a:lvl1pPr marL="0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1pPr>
            <a:lvl2pPr marL="38481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2pPr>
            <a:lvl3pPr marL="769620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3pPr>
            <a:lvl4pPr marL="115443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4pPr>
            <a:lvl5pPr marL="153924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5pPr>
            <a:lvl6pPr marL="192341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6pPr>
            <a:lvl7pPr marL="230822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7pPr>
            <a:lvl8pPr marL="269303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8pPr>
            <a:lvl9pPr marL="307784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5376" y="1725046"/>
            <a:ext cx="4360506" cy="4111612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hasCustomPrompt="1"/>
          </p:nvPr>
        </p:nvSpPr>
        <p:spPr>
          <a:xfrm>
            <a:off x="5194131" y="1725046"/>
            <a:ext cx="4360506" cy="4111612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712" y="345010"/>
            <a:ext cx="8849261" cy="1252534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06713" y="1588543"/>
            <a:ext cx="4340466" cy="778521"/>
          </a:xfrm>
        </p:spPr>
        <p:txBody>
          <a:bodyPr anchor="b"/>
          <a:lstStyle>
            <a:lvl1pPr marL="0" indent="0">
              <a:buNone/>
              <a:defRPr sz="2020" b="1"/>
            </a:lvl1pPr>
            <a:lvl2pPr marL="384810" indent="0">
              <a:buNone/>
              <a:defRPr sz="1685" b="1"/>
            </a:lvl2pPr>
            <a:lvl3pPr marL="769620" indent="0">
              <a:buNone/>
              <a:defRPr sz="1515" b="1"/>
            </a:lvl3pPr>
            <a:lvl4pPr marL="1154430" indent="0">
              <a:buNone/>
              <a:defRPr sz="1345" b="1"/>
            </a:lvl4pPr>
            <a:lvl5pPr marL="1539240" indent="0">
              <a:buNone/>
              <a:defRPr sz="1345" b="1"/>
            </a:lvl5pPr>
            <a:lvl6pPr marL="1923415" indent="0">
              <a:buNone/>
              <a:defRPr sz="1345" b="1"/>
            </a:lvl6pPr>
            <a:lvl7pPr marL="2308225" indent="0">
              <a:buNone/>
              <a:defRPr sz="1345" b="1"/>
            </a:lvl7pPr>
            <a:lvl8pPr marL="2693035" indent="0">
              <a:buNone/>
              <a:defRPr sz="1345" b="1"/>
            </a:lvl8pPr>
            <a:lvl9pPr marL="3077845" indent="0">
              <a:buNone/>
              <a:defRPr sz="1345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hasCustomPrompt="1"/>
          </p:nvPr>
        </p:nvSpPr>
        <p:spPr>
          <a:xfrm>
            <a:off x="706713" y="2367064"/>
            <a:ext cx="4340466" cy="3481594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hasCustomPrompt="1"/>
          </p:nvPr>
        </p:nvSpPr>
        <p:spPr>
          <a:xfrm>
            <a:off x="5194132" y="1588543"/>
            <a:ext cx="4361842" cy="778521"/>
          </a:xfrm>
        </p:spPr>
        <p:txBody>
          <a:bodyPr anchor="b"/>
          <a:lstStyle>
            <a:lvl1pPr marL="0" indent="0">
              <a:buNone/>
              <a:defRPr sz="2020" b="1"/>
            </a:lvl1pPr>
            <a:lvl2pPr marL="384810" indent="0">
              <a:buNone/>
              <a:defRPr sz="1685" b="1"/>
            </a:lvl2pPr>
            <a:lvl3pPr marL="769620" indent="0">
              <a:buNone/>
              <a:defRPr sz="1515" b="1"/>
            </a:lvl3pPr>
            <a:lvl4pPr marL="1154430" indent="0">
              <a:buNone/>
              <a:defRPr sz="1345" b="1"/>
            </a:lvl4pPr>
            <a:lvl5pPr marL="1539240" indent="0">
              <a:buNone/>
              <a:defRPr sz="1345" b="1"/>
            </a:lvl5pPr>
            <a:lvl6pPr marL="1923415" indent="0">
              <a:buNone/>
              <a:defRPr sz="1345" b="1"/>
            </a:lvl6pPr>
            <a:lvl7pPr marL="2308225" indent="0">
              <a:buNone/>
              <a:defRPr sz="1345" b="1"/>
            </a:lvl7pPr>
            <a:lvl8pPr marL="2693035" indent="0">
              <a:buNone/>
              <a:defRPr sz="1345" b="1"/>
            </a:lvl8pPr>
            <a:lvl9pPr marL="3077845" indent="0">
              <a:buNone/>
              <a:defRPr sz="1345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hasCustomPrompt="1"/>
          </p:nvPr>
        </p:nvSpPr>
        <p:spPr>
          <a:xfrm>
            <a:off x="5194132" y="2367064"/>
            <a:ext cx="4361842" cy="3481594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713" y="432012"/>
            <a:ext cx="3309121" cy="1512041"/>
          </a:xfrm>
        </p:spPr>
        <p:txBody>
          <a:bodyPr anchor="b"/>
          <a:lstStyle>
            <a:lvl1pPr>
              <a:buNone/>
              <a:defRPr sz="269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61842" y="933026"/>
            <a:ext cx="5194132" cy="4605124"/>
          </a:xfrm>
        </p:spPr>
        <p:txBody>
          <a:bodyPr/>
          <a:lstStyle>
            <a:lvl1pPr>
              <a:buNone/>
              <a:defRPr sz="2695"/>
            </a:lvl1pPr>
            <a:lvl2pPr>
              <a:buNone/>
              <a:defRPr sz="2355"/>
            </a:lvl2pPr>
            <a:lvl3pPr>
              <a:buNone/>
              <a:defRPr sz="2020"/>
            </a:lvl3pPr>
            <a:lvl4pPr>
              <a:buNone/>
              <a:defRPr sz="1685"/>
            </a:lvl4pPr>
            <a:lvl5pPr>
              <a:buNone/>
              <a:defRPr sz="1685"/>
            </a:lvl5pPr>
            <a:lvl6pPr>
              <a:buNone/>
              <a:defRPr sz="1685"/>
            </a:lvl6pPr>
            <a:lvl7pPr>
              <a:buNone/>
              <a:defRPr sz="1685"/>
            </a:lvl7pPr>
            <a:lvl8pPr>
              <a:buNone/>
              <a:defRPr sz="1685"/>
            </a:lvl8pPr>
            <a:lvl9pPr>
              <a:buNone/>
              <a:defRPr sz="1685"/>
            </a:lvl9pPr>
          </a:lstStyle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hasCustomPrompt="1"/>
          </p:nvPr>
        </p:nvSpPr>
        <p:spPr>
          <a:xfrm>
            <a:off x="706713" y="1944052"/>
            <a:ext cx="3309121" cy="3601598"/>
          </a:xfrm>
        </p:spPr>
        <p:txBody>
          <a:bodyPr/>
          <a:lstStyle>
            <a:lvl1pPr marL="0" indent="0">
              <a:buNone/>
              <a:defRPr sz="1345"/>
            </a:lvl1pPr>
            <a:lvl2pPr marL="384810" indent="0">
              <a:buNone/>
              <a:defRPr sz="1180"/>
            </a:lvl2pPr>
            <a:lvl3pPr marL="769620" indent="0">
              <a:buNone/>
              <a:defRPr sz="1010"/>
            </a:lvl3pPr>
            <a:lvl4pPr marL="1154430" indent="0">
              <a:buNone/>
              <a:defRPr sz="840"/>
            </a:lvl4pPr>
            <a:lvl5pPr marL="1539240" indent="0">
              <a:buNone/>
              <a:defRPr sz="840"/>
            </a:lvl5pPr>
            <a:lvl6pPr marL="1923415" indent="0">
              <a:buNone/>
              <a:defRPr sz="840"/>
            </a:lvl6pPr>
            <a:lvl7pPr marL="2308225" indent="0">
              <a:buNone/>
              <a:defRPr sz="840"/>
            </a:lvl7pPr>
            <a:lvl8pPr marL="2693035" indent="0">
              <a:buNone/>
              <a:defRPr sz="840"/>
            </a:lvl8pPr>
            <a:lvl9pPr marL="3077845" indent="0">
              <a:buNone/>
              <a:defRPr sz="84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713" y="432012"/>
            <a:ext cx="3309121" cy="1512041"/>
          </a:xfrm>
        </p:spPr>
        <p:txBody>
          <a:bodyPr anchor="b"/>
          <a:lstStyle>
            <a:lvl1pPr>
              <a:buNone/>
              <a:defRPr sz="269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61842" y="933026"/>
            <a:ext cx="5194132" cy="4605124"/>
          </a:xfrm>
        </p:spPr>
        <p:txBody>
          <a:bodyPr anchor="t"/>
          <a:lstStyle>
            <a:lvl1pPr marL="0" indent="0">
              <a:buNone/>
              <a:defRPr sz="2695"/>
            </a:lvl1pPr>
            <a:lvl2pPr marL="384810" indent="0">
              <a:buNone/>
              <a:defRPr sz="2355"/>
            </a:lvl2pPr>
            <a:lvl3pPr marL="769620" indent="0">
              <a:buNone/>
              <a:defRPr sz="2020"/>
            </a:lvl3pPr>
            <a:lvl4pPr marL="1154430" indent="0">
              <a:buNone/>
              <a:defRPr sz="1685"/>
            </a:lvl4pPr>
            <a:lvl5pPr marL="1539240" indent="0">
              <a:buNone/>
              <a:defRPr sz="1685"/>
            </a:lvl5pPr>
            <a:lvl6pPr marL="1923415" indent="0">
              <a:buNone/>
              <a:defRPr sz="1685"/>
            </a:lvl6pPr>
            <a:lvl7pPr marL="2308225" indent="0">
              <a:buNone/>
              <a:defRPr sz="1685"/>
            </a:lvl7pPr>
            <a:lvl8pPr marL="2693035" indent="0">
              <a:buNone/>
              <a:defRPr sz="1685"/>
            </a:lvl8pPr>
            <a:lvl9pPr marL="3077845" indent="0">
              <a:buNone/>
              <a:defRPr sz="1685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hasCustomPrompt="1"/>
          </p:nvPr>
        </p:nvSpPr>
        <p:spPr>
          <a:xfrm>
            <a:off x="706713" y="1944052"/>
            <a:ext cx="3309121" cy="3601598"/>
          </a:xfrm>
        </p:spPr>
        <p:txBody>
          <a:bodyPr/>
          <a:lstStyle>
            <a:lvl1pPr marL="0" indent="0">
              <a:buNone/>
              <a:defRPr sz="1345"/>
            </a:lvl1pPr>
            <a:lvl2pPr marL="384810" indent="0">
              <a:buNone/>
              <a:defRPr sz="1180"/>
            </a:lvl2pPr>
            <a:lvl3pPr marL="769620" indent="0">
              <a:buNone/>
              <a:defRPr sz="1010"/>
            </a:lvl3pPr>
            <a:lvl4pPr marL="1154430" indent="0">
              <a:buNone/>
              <a:defRPr sz="840"/>
            </a:lvl4pPr>
            <a:lvl5pPr marL="1539240" indent="0">
              <a:buNone/>
              <a:defRPr sz="840"/>
            </a:lvl5pPr>
            <a:lvl6pPr marL="1923415" indent="0">
              <a:buNone/>
              <a:defRPr sz="840"/>
            </a:lvl6pPr>
            <a:lvl7pPr marL="2308225" indent="0">
              <a:buNone/>
              <a:defRPr sz="840"/>
            </a:lvl7pPr>
            <a:lvl8pPr marL="2693035" indent="0">
              <a:buNone/>
              <a:defRPr sz="840"/>
            </a:lvl8pPr>
            <a:lvl9pPr marL="3077845" indent="0">
              <a:buNone/>
              <a:defRPr sz="84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7342322" y="345009"/>
            <a:ext cx="2212315" cy="5491649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05376" y="345009"/>
            <a:ext cx="6508696" cy="5491649"/>
          </a:xfrm>
        </p:spPr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A0592C-B821-44B7-A36B-322ACCB01567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5376" y="345010"/>
            <a:ext cx="8849261" cy="12525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5376" y="1725046"/>
            <a:ext cx="8849261" cy="41116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705376" y="6006163"/>
            <a:ext cx="2308503" cy="345009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263D5-D864-46B3-96DA-70E85F5DF3F2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398630" y="6006163"/>
            <a:ext cx="3462754" cy="345009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7246134" y="6006163"/>
            <a:ext cx="2308503" cy="345009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0592C-B821-44B7-A36B-322ACCB01567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69620">
        <a:lnSpc>
          <a:spcPct val="90000"/>
        </a:lnSpc>
        <a:spcBef>
          <a:spcPct val="0"/>
        </a:spcBef>
        <a:buNone/>
        <a:defRPr sz="370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92405" indent="-192405" algn="l" defTabSz="769620">
        <a:lnSpc>
          <a:spcPct val="90000"/>
        </a:lnSpc>
        <a:spcBef>
          <a:spcPts val="840"/>
        </a:spcBef>
        <a:buFont typeface="Arial" panose="020B0604020202020204"/>
        <a:buChar char="•"/>
        <a:defRPr sz="2355" kern="1200">
          <a:solidFill>
            <a:schemeClr val="tx1"/>
          </a:solidFill>
          <a:latin typeface="+mn-lt"/>
          <a:ea typeface="+mn-lt"/>
          <a:cs typeface="+mn-lt"/>
        </a:defRPr>
      </a:lvl1pPr>
      <a:lvl2pPr marL="577215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2020" kern="1200">
          <a:solidFill>
            <a:schemeClr val="tx1"/>
          </a:solidFill>
          <a:latin typeface="+mn-lt"/>
          <a:ea typeface="+mn-lt"/>
          <a:cs typeface="+mn-lt"/>
        </a:defRPr>
      </a:lvl2pPr>
      <a:lvl3pPr marL="962025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1685" kern="1200">
          <a:solidFill>
            <a:schemeClr val="tx1"/>
          </a:solidFill>
          <a:latin typeface="+mn-lt"/>
          <a:ea typeface="+mn-lt"/>
          <a:cs typeface="+mn-lt"/>
        </a:defRPr>
      </a:lvl3pPr>
      <a:lvl4pPr marL="1346835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4pPr>
      <a:lvl5pPr marL="1731010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5pPr>
      <a:lvl6pPr marL="2115820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6pPr>
      <a:lvl7pPr marL="2500630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7pPr>
      <a:lvl8pPr marL="2885440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8pPr>
      <a:lvl9pPr marL="3270250" indent="-192405" algn="l" defTabSz="769620">
        <a:lnSpc>
          <a:spcPct val="90000"/>
        </a:lnSpc>
        <a:spcBef>
          <a:spcPts val="420"/>
        </a:spcBef>
        <a:buFont typeface="Arial" panose="020B0604020202020204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1pPr>
      <a:lvl2pPr marL="384810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2pPr>
      <a:lvl3pPr marL="769620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3pPr>
      <a:lvl4pPr marL="1154430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4pPr>
      <a:lvl5pPr marL="1539240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5pPr>
      <a:lvl6pPr marL="1923415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6pPr>
      <a:lvl7pPr marL="2308225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7pPr>
      <a:lvl8pPr marL="2693035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8pPr>
      <a:lvl9pPr marL="3077845" algn="l" defTabSz="769620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任意多边形: 形状 18"/>
          <p:cNvSpPr>
            <a:spLocks noGrp="1"/>
          </p:cNvSpPr>
          <p:nvPr/>
        </p:nvSpPr>
        <p:spPr>
          <a:xfrm>
            <a:off x="-4" y="0"/>
            <a:ext cx="10260013" cy="4302932"/>
          </a:xfrm>
          <a:custGeom>
            <a:avLst/>
            <a:gdLst>
              <a:gd name="connsiteX0" fmla="*/ 0 w 10260013"/>
              <a:gd name="connsiteY0" fmla="*/ 0 h 4302932"/>
              <a:gd name="connsiteX1" fmla="*/ 2 w 10260013"/>
              <a:gd name="connsiteY1" fmla="*/ 0 h 4302932"/>
              <a:gd name="connsiteX2" fmla="*/ 2 w 10260013"/>
              <a:gd name="connsiteY2" fmla="*/ 3514825 h 4302932"/>
              <a:gd name="connsiteX3" fmla="*/ 9966434 w 10260013"/>
              <a:gd name="connsiteY3" fmla="*/ 3661385 h 4302932"/>
              <a:gd name="connsiteX4" fmla="*/ 10260013 w 10260013"/>
              <a:gd name="connsiteY4" fmla="*/ 3514826 h 4302932"/>
              <a:gd name="connsiteX5" fmla="*/ 10260013 w 10260013"/>
              <a:gd name="connsiteY5" fmla="*/ 3667225 h 4302932"/>
              <a:gd name="connsiteX6" fmla="*/ 0 w 10260013"/>
              <a:gd name="connsiteY6" fmla="*/ 3667225 h 4302932"/>
              <a:gd name="connsiteX7" fmla="*/ 0 w 10260013"/>
              <a:gd name="connsiteY7" fmla="*/ 0 h 4302932"/>
            </a:gdLst>
            <a:ahLst/>
            <a:cxnLst/>
            <a:rect l="l" t="t" r="r" b="b"/>
            <a:pathLst>
              <a:path w="10260013" h="4302932">
                <a:moveTo>
                  <a:pt x="0" y="0"/>
                </a:moveTo>
                <a:lnTo>
                  <a:pt x="2" y="0"/>
                </a:lnTo>
                <a:lnTo>
                  <a:pt x="2" y="3514825"/>
                </a:lnTo>
                <a:cubicBezTo>
                  <a:pt x="3872600" y="2955357"/>
                  <a:pt x="6932221" y="5060648"/>
                  <a:pt x="9966434" y="3661385"/>
                </a:cubicBezTo>
                <a:lnTo>
                  <a:pt x="10260013" y="3514826"/>
                </a:lnTo>
                <a:lnTo>
                  <a:pt x="10260013" y="3667225"/>
                </a:lnTo>
                <a:cubicBezTo>
                  <a:pt x="7128768" y="5351646"/>
                  <a:pt x="3997520" y="3089709"/>
                  <a:pt x="0" y="3667225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786E94"/>
              </a:gs>
              <a:gs pos="0">
                <a:srgbClr val="478AA5"/>
              </a:gs>
              <a:gs pos="100000">
                <a:srgbClr val="A36C7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5010150" y="4648200"/>
            <a:ext cx="5000625" cy="55245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1875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DNN 性能预测：灰盒路线阶段总结</a:t>
            </a:r>
            <a:endParaRPr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354537" y="4067426"/>
            <a:ext cx="2127250" cy="230832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def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阶段结论</a:t>
            </a:r>
            <a:endParaRPr sz="6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600"/>
          </a:p>
          <a:p>
            <a:pPr algn="l">
              <a:def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以目标执行图为骨架，把 component-level 机理成本、实测缓存、分段残差校准与系统事件模拟组合起来。</a:t>
            </a:r>
            <a:endParaRPr sz="6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600"/>
          </a:p>
          <a:p>
            <a:pPr algn="l">
              <a:def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当前证据覆盖论文、公开 artifact、公开真测 CSV 与 profiling 诊断；尚未完成目标业务模型和目标 GPU/NPU 的端到端确认。</a:t>
            </a:r>
            <a:endParaRPr sz="6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600"/>
          </a:p>
          <a:p>
            <a:pPr algn="l">
              <a:def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2026-08-12</a:t>
            </a:r>
            <a:endParaRPr sz="600" b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3"/>
          <p:cNvSpPr>
            <a:spLocks noGrp="1"/>
          </p:cNvSpPr>
          <p:nvPr/>
        </p:nvSpPr>
        <p:spPr>
          <a:xfrm>
            <a:off x="-19726" y="-1"/>
            <a:ext cx="10279739" cy="4185511"/>
          </a:xfrm>
          <a:custGeom>
            <a:avLst/>
            <a:gdLst>
              <a:gd name="connsiteX0" fmla="*/ 0 w 12192000"/>
              <a:gd name="connsiteY0" fmla="*/ 0 h 5959736"/>
              <a:gd name="connsiteX1" fmla="*/ 12192000 w 12192000"/>
              <a:gd name="connsiteY1" fmla="*/ 0 h 5959736"/>
              <a:gd name="connsiteX2" fmla="*/ 12192000 w 12192000"/>
              <a:gd name="connsiteY2" fmla="*/ 5959736 h 5959736"/>
              <a:gd name="connsiteX3" fmla="*/ 0 w 12192000"/>
              <a:gd name="connsiteY3" fmla="*/ 5959736 h 5959736"/>
              <a:gd name="connsiteX4" fmla="*/ 0 w 12192000"/>
              <a:gd name="connsiteY4" fmla="*/ 0 h 5959736"/>
              <a:gd name="connsiteX0-1" fmla="*/ 0 w 12192000"/>
              <a:gd name="connsiteY0-2" fmla="*/ 0 h 5959736"/>
              <a:gd name="connsiteX1-3" fmla="*/ 12192000 w 12192000"/>
              <a:gd name="connsiteY1-4" fmla="*/ 0 h 5959736"/>
              <a:gd name="connsiteX2-5" fmla="*/ 12192000 w 12192000"/>
              <a:gd name="connsiteY2-6" fmla="*/ 5959736 h 5959736"/>
              <a:gd name="connsiteX3-7" fmla="*/ 6067313 w 12192000"/>
              <a:gd name="connsiteY3-8" fmla="*/ 4980791 h 5959736"/>
              <a:gd name="connsiteX4-9" fmla="*/ 0 w 12192000"/>
              <a:gd name="connsiteY4-10" fmla="*/ 5959736 h 5959736"/>
              <a:gd name="connsiteX5" fmla="*/ 0 w 12192000"/>
              <a:gd name="connsiteY5" fmla="*/ 0 h 5959736"/>
              <a:gd name="connsiteX0-11" fmla="*/ 0 w 12192000"/>
              <a:gd name="connsiteY0-12" fmla="*/ 0 h 5959736"/>
              <a:gd name="connsiteX1-13" fmla="*/ 12192000 w 12192000"/>
              <a:gd name="connsiteY1-14" fmla="*/ 0 h 5959736"/>
              <a:gd name="connsiteX2-15" fmla="*/ 12192000 w 12192000"/>
              <a:gd name="connsiteY2-16" fmla="*/ 5959736 h 5959736"/>
              <a:gd name="connsiteX3-17" fmla="*/ 6067313 w 12192000"/>
              <a:gd name="connsiteY3-18" fmla="*/ 4980791 h 5959736"/>
              <a:gd name="connsiteX4-19" fmla="*/ 0 w 12192000"/>
              <a:gd name="connsiteY4-20" fmla="*/ 5959736 h 5959736"/>
              <a:gd name="connsiteX5-21" fmla="*/ 0 w 12192000"/>
              <a:gd name="connsiteY5-22" fmla="*/ 0 h 5959736"/>
              <a:gd name="connsiteX0-23" fmla="*/ 0 w 12192000"/>
              <a:gd name="connsiteY0-24" fmla="*/ 0 h 5959736"/>
              <a:gd name="connsiteX1-25" fmla="*/ 12192000 w 12192000"/>
              <a:gd name="connsiteY1-26" fmla="*/ 0 h 5959736"/>
              <a:gd name="connsiteX2-27" fmla="*/ 12192000 w 12192000"/>
              <a:gd name="connsiteY2-28" fmla="*/ 5959736 h 5959736"/>
              <a:gd name="connsiteX3-29" fmla="*/ 6067313 w 12192000"/>
              <a:gd name="connsiteY3-30" fmla="*/ 4980791 h 5959736"/>
              <a:gd name="connsiteX4-31" fmla="*/ 0 w 12192000"/>
              <a:gd name="connsiteY4-32" fmla="*/ 5959736 h 5959736"/>
              <a:gd name="connsiteX5-33" fmla="*/ 0 w 12192000"/>
              <a:gd name="connsiteY5-34" fmla="*/ 0 h 5959736"/>
              <a:gd name="connsiteX0-35" fmla="*/ 0 w 12192000"/>
              <a:gd name="connsiteY0-36" fmla="*/ 0 h 5959736"/>
              <a:gd name="connsiteX1-37" fmla="*/ 12192000 w 12192000"/>
              <a:gd name="connsiteY1-38" fmla="*/ 0 h 5959736"/>
              <a:gd name="connsiteX2-39" fmla="*/ 12192000 w 12192000"/>
              <a:gd name="connsiteY2-40" fmla="*/ 5959736 h 5959736"/>
              <a:gd name="connsiteX3-41" fmla="*/ 6045797 w 12192000"/>
              <a:gd name="connsiteY3-42" fmla="*/ 5443370 h 5959736"/>
              <a:gd name="connsiteX4-43" fmla="*/ 0 w 12192000"/>
              <a:gd name="connsiteY4-44" fmla="*/ 5959736 h 5959736"/>
              <a:gd name="connsiteX5-45" fmla="*/ 0 w 12192000"/>
              <a:gd name="connsiteY5-46" fmla="*/ 0 h 5959736"/>
              <a:gd name="connsiteX0-47" fmla="*/ 0 w 12192000"/>
              <a:gd name="connsiteY0-48" fmla="*/ 0 h 6109251"/>
              <a:gd name="connsiteX1-49" fmla="*/ 12192000 w 12192000"/>
              <a:gd name="connsiteY1-50" fmla="*/ 0 h 6109251"/>
              <a:gd name="connsiteX2-51" fmla="*/ 12192000 w 12192000"/>
              <a:gd name="connsiteY2-52" fmla="*/ 5959736 h 6109251"/>
              <a:gd name="connsiteX3-53" fmla="*/ 6078070 w 12192000"/>
              <a:gd name="connsiteY3-54" fmla="*/ 5766100 h 6109251"/>
              <a:gd name="connsiteX4-55" fmla="*/ 0 w 12192000"/>
              <a:gd name="connsiteY4-56" fmla="*/ 5959736 h 6109251"/>
              <a:gd name="connsiteX5-57" fmla="*/ 0 w 12192000"/>
              <a:gd name="connsiteY5-58" fmla="*/ 0 h 6109251"/>
              <a:gd name="connsiteX0-59" fmla="*/ 0 w 12192000"/>
              <a:gd name="connsiteY0-60" fmla="*/ 0 h 6109251"/>
              <a:gd name="connsiteX1-61" fmla="*/ 12192000 w 12192000"/>
              <a:gd name="connsiteY1-62" fmla="*/ 0 h 6109251"/>
              <a:gd name="connsiteX2-63" fmla="*/ 12192000 w 12192000"/>
              <a:gd name="connsiteY2-64" fmla="*/ 5959736 h 6109251"/>
              <a:gd name="connsiteX3-65" fmla="*/ 6078070 w 12192000"/>
              <a:gd name="connsiteY3-66" fmla="*/ 5766100 h 6109251"/>
              <a:gd name="connsiteX4-67" fmla="*/ 0 w 12192000"/>
              <a:gd name="connsiteY4-68" fmla="*/ 5959736 h 6109251"/>
              <a:gd name="connsiteX5-69" fmla="*/ 0 w 12192000"/>
              <a:gd name="connsiteY5-70" fmla="*/ 0 h 6109251"/>
              <a:gd name="connsiteX0-71" fmla="*/ 0 w 12192000"/>
              <a:gd name="connsiteY0-72" fmla="*/ 0 h 6253397"/>
              <a:gd name="connsiteX1-73" fmla="*/ 12192000 w 12192000"/>
              <a:gd name="connsiteY1-74" fmla="*/ 0 h 6253397"/>
              <a:gd name="connsiteX2-75" fmla="*/ 12192000 w 12192000"/>
              <a:gd name="connsiteY2-76" fmla="*/ 5959736 h 6253397"/>
              <a:gd name="connsiteX3-77" fmla="*/ 7734748 w 12192000"/>
              <a:gd name="connsiteY3-78" fmla="*/ 5948980 h 6253397"/>
              <a:gd name="connsiteX4-79" fmla="*/ 0 w 12192000"/>
              <a:gd name="connsiteY4-80" fmla="*/ 5959736 h 6253397"/>
              <a:gd name="connsiteX5-81" fmla="*/ 0 w 12192000"/>
              <a:gd name="connsiteY5-82" fmla="*/ 0 h 6253397"/>
              <a:gd name="connsiteX0-83" fmla="*/ 0 w 12202757"/>
              <a:gd name="connsiteY0-84" fmla="*/ 0 h 6253397"/>
              <a:gd name="connsiteX1-85" fmla="*/ 12192000 w 12202757"/>
              <a:gd name="connsiteY1-86" fmla="*/ 0 h 6253397"/>
              <a:gd name="connsiteX2-87" fmla="*/ 12202757 w 12202757"/>
              <a:gd name="connsiteY2-88" fmla="*/ 4840940 h 6253397"/>
              <a:gd name="connsiteX3-89" fmla="*/ 7734748 w 12202757"/>
              <a:gd name="connsiteY3-90" fmla="*/ 5948980 h 6253397"/>
              <a:gd name="connsiteX4-91" fmla="*/ 0 w 12202757"/>
              <a:gd name="connsiteY4-92" fmla="*/ 5959736 h 6253397"/>
              <a:gd name="connsiteX5-93" fmla="*/ 0 w 12202757"/>
              <a:gd name="connsiteY5-94" fmla="*/ 0 h 6253397"/>
              <a:gd name="connsiteX0-95" fmla="*/ 0 w 12202757"/>
              <a:gd name="connsiteY0-96" fmla="*/ 0 h 6253397"/>
              <a:gd name="connsiteX1-97" fmla="*/ 12192000 w 12202757"/>
              <a:gd name="connsiteY1-98" fmla="*/ 0 h 6253397"/>
              <a:gd name="connsiteX2-99" fmla="*/ 12202757 w 12202757"/>
              <a:gd name="connsiteY2-100" fmla="*/ 4840940 h 6253397"/>
              <a:gd name="connsiteX3-101" fmla="*/ 7734748 w 12202757"/>
              <a:gd name="connsiteY3-102" fmla="*/ 5948980 h 6253397"/>
              <a:gd name="connsiteX4-103" fmla="*/ 0 w 12202757"/>
              <a:gd name="connsiteY4-104" fmla="*/ 5959736 h 6253397"/>
              <a:gd name="connsiteX5-105" fmla="*/ 0 w 12202757"/>
              <a:gd name="connsiteY5-106" fmla="*/ 0 h 6253397"/>
              <a:gd name="connsiteX0-107" fmla="*/ 0 w 12202757"/>
              <a:gd name="connsiteY0-108" fmla="*/ 0 h 6253397"/>
              <a:gd name="connsiteX1-109" fmla="*/ 12192000 w 12202757"/>
              <a:gd name="connsiteY1-110" fmla="*/ 0 h 6253397"/>
              <a:gd name="connsiteX2-111" fmla="*/ 12202757 w 12202757"/>
              <a:gd name="connsiteY2-112" fmla="*/ 4840940 h 6253397"/>
              <a:gd name="connsiteX3-113" fmla="*/ 7734748 w 12202757"/>
              <a:gd name="connsiteY3-114" fmla="*/ 5948980 h 6253397"/>
              <a:gd name="connsiteX4-115" fmla="*/ 0 w 12202757"/>
              <a:gd name="connsiteY4-116" fmla="*/ 5959736 h 6253397"/>
              <a:gd name="connsiteX5-117" fmla="*/ 0 w 12202757"/>
              <a:gd name="connsiteY5-118" fmla="*/ 0 h 6253397"/>
              <a:gd name="connsiteX0-119" fmla="*/ 0 w 12202757"/>
              <a:gd name="connsiteY0-120" fmla="*/ 0 h 6369208"/>
              <a:gd name="connsiteX1-121" fmla="*/ 12192000 w 12202757"/>
              <a:gd name="connsiteY1-122" fmla="*/ 0 h 6369208"/>
              <a:gd name="connsiteX2-123" fmla="*/ 12202757 w 12202757"/>
              <a:gd name="connsiteY2-124" fmla="*/ 4840940 h 6369208"/>
              <a:gd name="connsiteX3-125" fmla="*/ 7013986 w 12202757"/>
              <a:gd name="connsiteY3-126" fmla="*/ 6088829 h 6369208"/>
              <a:gd name="connsiteX4-127" fmla="*/ 0 w 12202757"/>
              <a:gd name="connsiteY4-128" fmla="*/ 5959736 h 6369208"/>
              <a:gd name="connsiteX5-129" fmla="*/ 0 w 12202757"/>
              <a:gd name="connsiteY5-130" fmla="*/ 0 h 6369208"/>
              <a:gd name="connsiteX0-131" fmla="*/ 0 w 12202757"/>
              <a:gd name="connsiteY0-132" fmla="*/ 0 h 6369208"/>
              <a:gd name="connsiteX1-133" fmla="*/ 12192000 w 12202757"/>
              <a:gd name="connsiteY1-134" fmla="*/ 0 h 6369208"/>
              <a:gd name="connsiteX2-135" fmla="*/ 12202757 w 12202757"/>
              <a:gd name="connsiteY2-136" fmla="*/ 4840940 h 6369208"/>
              <a:gd name="connsiteX3-137" fmla="*/ 7013986 w 12202757"/>
              <a:gd name="connsiteY3-138" fmla="*/ 6088829 h 6369208"/>
              <a:gd name="connsiteX4-139" fmla="*/ 0 w 12202757"/>
              <a:gd name="connsiteY4-140" fmla="*/ 5959736 h 6369208"/>
              <a:gd name="connsiteX5-141" fmla="*/ 0 w 12202757"/>
              <a:gd name="connsiteY5-142" fmla="*/ 0 h 6369208"/>
              <a:gd name="connsiteX0-143" fmla="*/ 0 w 12202757"/>
              <a:gd name="connsiteY0-144" fmla="*/ 0 h 6595999"/>
              <a:gd name="connsiteX1-145" fmla="*/ 12192000 w 12202757"/>
              <a:gd name="connsiteY1-146" fmla="*/ 0 h 6595999"/>
              <a:gd name="connsiteX2-147" fmla="*/ 12202757 w 12202757"/>
              <a:gd name="connsiteY2-148" fmla="*/ 4840940 h 6595999"/>
              <a:gd name="connsiteX3-149" fmla="*/ 7013986 w 12202757"/>
              <a:gd name="connsiteY3-150" fmla="*/ 6088829 h 6595999"/>
              <a:gd name="connsiteX4-151" fmla="*/ 0 w 12202757"/>
              <a:gd name="connsiteY4-152" fmla="*/ 5959736 h 6595999"/>
              <a:gd name="connsiteX5-153" fmla="*/ 0 w 12202757"/>
              <a:gd name="connsiteY5-154" fmla="*/ 0 h 6595999"/>
              <a:gd name="connsiteX0-155" fmla="*/ 0 w 12192310"/>
              <a:gd name="connsiteY0-156" fmla="*/ 0 h 6140391"/>
              <a:gd name="connsiteX1-157" fmla="*/ 12192000 w 12192310"/>
              <a:gd name="connsiteY1-158" fmla="*/ 0 h 6140391"/>
              <a:gd name="connsiteX2-159" fmla="*/ 12170485 w 12192310"/>
              <a:gd name="connsiteY2-160" fmla="*/ 4518211 h 6140391"/>
              <a:gd name="connsiteX3-161" fmla="*/ 7013986 w 12192310"/>
              <a:gd name="connsiteY3-162" fmla="*/ 6088829 h 6140391"/>
              <a:gd name="connsiteX4-163" fmla="*/ 0 w 12192310"/>
              <a:gd name="connsiteY4-164" fmla="*/ 5959736 h 6140391"/>
              <a:gd name="connsiteX5-165" fmla="*/ 0 w 12192310"/>
              <a:gd name="connsiteY5-166" fmla="*/ 0 h 6140391"/>
              <a:gd name="connsiteX0-167" fmla="*/ 0 w 12192310"/>
              <a:gd name="connsiteY0-168" fmla="*/ 0 h 6102162"/>
              <a:gd name="connsiteX1-169" fmla="*/ 12192000 w 12192310"/>
              <a:gd name="connsiteY1-170" fmla="*/ 0 h 6102162"/>
              <a:gd name="connsiteX2-171" fmla="*/ 12170485 w 12192310"/>
              <a:gd name="connsiteY2-172" fmla="*/ 4518211 h 6102162"/>
              <a:gd name="connsiteX3-173" fmla="*/ 7013986 w 12192310"/>
              <a:gd name="connsiteY3-174" fmla="*/ 6088829 h 6102162"/>
              <a:gd name="connsiteX4-175" fmla="*/ 10758 w 12192310"/>
              <a:gd name="connsiteY4-176" fmla="*/ 5411096 h 6102162"/>
              <a:gd name="connsiteX5-177" fmla="*/ 0 w 12192310"/>
              <a:gd name="connsiteY5-178" fmla="*/ 0 h 6102162"/>
              <a:gd name="connsiteX0-179" fmla="*/ 0 w 12192476"/>
              <a:gd name="connsiteY0-180" fmla="*/ 0 h 6100744"/>
              <a:gd name="connsiteX1-181" fmla="*/ 12192000 w 12192476"/>
              <a:gd name="connsiteY1-182" fmla="*/ 0 h 6100744"/>
              <a:gd name="connsiteX2-183" fmla="*/ 12181242 w 12192476"/>
              <a:gd name="connsiteY2-184" fmla="*/ 4571999 h 6100744"/>
              <a:gd name="connsiteX3-185" fmla="*/ 7013986 w 12192476"/>
              <a:gd name="connsiteY3-186" fmla="*/ 6088829 h 6100744"/>
              <a:gd name="connsiteX4-187" fmla="*/ 10758 w 12192476"/>
              <a:gd name="connsiteY4-188" fmla="*/ 5411096 h 6100744"/>
              <a:gd name="connsiteX5-189" fmla="*/ 0 w 12192476"/>
              <a:gd name="connsiteY5-190" fmla="*/ 0 h 6100744"/>
              <a:gd name="connsiteX0-191" fmla="*/ 0 w 12193035"/>
              <a:gd name="connsiteY0-192" fmla="*/ 0 h 6094473"/>
              <a:gd name="connsiteX1-193" fmla="*/ 12192000 w 12193035"/>
              <a:gd name="connsiteY1-194" fmla="*/ 0 h 6094473"/>
              <a:gd name="connsiteX2-195" fmla="*/ 12191999 w 12193035"/>
              <a:gd name="connsiteY2-196" fmla="*/ 4851698 h 6094473"/>
              <a:gd name="connsiteX3-197" fmla="*/ 7013986 w 12193035"/>
              <a:gd name="connsiteY3-198" fmla="*/ 6088829 h 6094473"/>
              <a:gd name="connsiteX4-199" fmla="*/ 10758 w 12193035"/>
              <a:gd name="connsiteY4-200" fmla="*/ 5411096 h 6094473"/>
              <a:gd name="connsiteX5-201" fmla="*/ 0 w 12193035"/>
              <a:gd name="connsiteY5-202" fmla="*/ 0 h 6094473"/>
              <a:gd name="connsiteX0-203" fmla="*/ 0 w 12193035"/>
              <a:gd name="connsiteY0-204" fmla="*/ 0 h 6094473"/>
              <a:gd name="connsiteX1-205" fmla="*/ 12192000 w 12193035"/>
              <a:gd name="connsiteY1-206" fmla="*/ 0 h 6094473"/>
              <a:gd name="connsiteX2-207" fmla="*/ 12191999 w 12193035"/>
              <a:gd name="connsiteY2-208" fmla="*/ 4851698 h 6094473"/>
              <a:gd name="connsiteX3-209" fmla="*/ 7013986 w 12193035"/>
              <a:gd name="connsiteY3-210" fmla="*/ 6088829 h 6094473"/>
              <a:gd name="connsiteX4-211" fmla="*/ 10758 w 12193035"/>
              <a:gd name="connsiteY4-212" fmla="*/ 5411096 h 6094473"/>
              <a:gd name="connsiteX5-213" fmla="*/ 0 w 12193035"/>
              <a:gd name="connsiteY5-214" fmla="*/ 0 h 6094473"/>
              <a:gd name="connsiteX0-215" fmla="*/ 0 w 12193035"/>
              <a:gd name="connsiteY0-216" fmla="*/ 0 h 6090462"/>
              <a:gd name="connsiteX1-217" fmla="*/ 12192000 w 12193035"/>
              <a:gd name="connsiteY1-218" fmla="*/ 0 h 6090462"/>
              <a:gd name="connsiteX2-219" fmla="*/ 12191999 w 12193035"/>
              <a:gd name="connsiteY2-220" fmla="*/ 4851698 h 6090462"/>
              <a:gd name="connsiteX3-221" fmla="*/ 7013986 w 12193035"/>
              <a:gd name="connsiteY3-222" fmla="*/ 6088829 h 6090462"/>
              <a:gd name="connsiteX4-223" fmla="*/ 43031 w 12193035"/>
              <a:gd name="connsiteY4-224" fmla="*/ 5174428 h 6090462"/>
              <a:gd name="connsiteX5-225" fmla="*/ 0 w 12193035"/>
              <a:gd name="connsiteY5-226" fmla="*/ 0 h 6090462"/>
              <a:gd name="connsiteX0-227" fmla="*/ 0 w 12193035"/>
              <a:gd name="connsiteY0-228" fmla="*/ 0 h 6090105"/>
              <a:gd name="connsiteX1-229" fmla="*/ 12192000 w 12193035"/>
              <a:gd name="connsiteY1-230" fmla="*/ 0 h 6090105"/>
              <a:gd name="connsiteX2-231" fmla="*/ 12191999 w 12193035"/>
              <a:gd name="connsiteY2-232" fmla="*/ 4851698 h 6090105"/>
              <a:gd name="connsiteX3-233" fmla="*/ 7013986 w 12193035"/>
              <a:gd name="connsiteY3-234" fmla="*/ 6088829 h 6090105"/>
              <a:gd name="connsiteX4-235" fmla="*/ 8307 w 12193035"/>
              <a:gd name="connsiteY4-236" fmla="*/ 5139704 h 6090105"/>
              <a:gd name="connsiteX5-237" fmla="*/ 0 w 12193035"/>
              <a:gd name="connsiteY5-238" fmla="*/ 0 h 6090105"/>
              <a:gd name="connsiteX0-239" fmla="*/ 21879 w 12214914"/>
              <a:gd name="connsiteY0-240" fmla="*/ 0 h 6090430"/>
              <a:gd name="connsiteX1-241" fmla="*/ 12213879 w 12214914"/>
              <a:gd name="connsiteY1-242" fmla="*/ 0 h 6090430"/>
              <a:gd name="connsiteX2-243" fmla="*/ 12213878 w 12214914"/>
              <a:gd name="connsiteY2-244" fmla="*/ 4851698 h 6090430"/>
              <a:gd name="connsiteX3-245" fmla="*/ 7035865 w 12214914"/>
              <a:gd name="connsiteY3-246" fmla="*/ 6088829 h 6090430"/>
              <a:gd name="connsiteX4-247" fmla="*/ 0 w 12214914"/>
              <a:gd name="connsiteY4-248" fmla="*/ 5413554 h 6090430"/>
              <a:gd name="connsiteX5-249" fmla="*/ 21879 w 12214914"/>
              <a:gd name="connsiteY5-250" fmla="*/ 0 h 6090430"/>
              <a:gd name="connsiteX0-251" fmla="*/ 21879 w 12214914"/>
              <a:gd name="connsiteY0-252" fmla="*/ 0 h 5680646"/>
              <a:gd name="connsiteX1-253" fmla="*/ 12213879 w 12214914"/>
              <a:gd name="connsiteY1-254" fmla="*/ 0 h 5680646"/>
              <a:gd name="connsiteX2-255" fmla="*/ 12213878 w 12214914"/>
              <a:gd name="connsiteY2-256" fmla="*/ 4851698 h 5680646"/>
              <a:gd name="connsiteX3-257" fmla="*/ 6915124 w 12214914"/>
              <a:gd name="connsiteY3-258" fmla="*/ 5678055 h 5680646"/>
              <a:gd name="connsiteX4-259" fmla="*/ 0 w 12214914"/>
              <a:gd name="connsiteY4-260" fmla="*/ 5413554 h 5680646"/>
              <a:gd name="connsiteX5-261" fmla="*/ 21879 w 12214914"/>
              <a:gd name="connsiteY5-262" fmla="*/ 0 h 5680646"/>
              <a:gd name="connsiteX0-263" fmla="*/ 21879 w 12214914"/>
              <a:gd name="connsiteY0-264" fmla="*/ 0 h 5678055"/>
              <a:gd name="connsiteX1-265" fmla="*/ 12213879 w 12214914"/>
              <a:gd name="connsiteY1-266" fmla="*/ 0 h 5678055"/>
              <a:gd name="connsiteX2-267" fmla="*/ 12213878 w 12214914"/>
              <a:gd name="connsiteY2-268" fmla="*/ 4851698 h 5678055"/>
              <a:gd name="connsiteX3-269" fmla="*/ 6915124 w 12214914"/>
              <a:gd name="connsiteY3-270" fmla="*/ 5678055 h 5678055"/>
              <a:gd name="connsiteX4-271" fmla="*/ 0 w 12214914"/>
              <a:gd name="connsiteY4-272" fmla="*/ 5413554 h 5678055"/>
              <a:gd name="connsiteX5-273" fmla="*/ 21879 w 12214914"/>
              <a:gd name="connsiteY5-274" fmla="*/ 0 h 5678055"/>
              <a:gd name="connsiteX0-275" fmla="*/ 21879 w 12214914"/>
              <a:gd name="connsiteY0-276" fmla="*/ 0 h 5775859"/>
              <a:gd name="connsiteX1-277" fmla="*/ 12213879 w 12214914"/>
              <a:gd name="connsiteY1-278" fmla="*/ 0 h 5775859"/>
              <a:gd name="connsiteX2-279" fmla="*/ 12213878 w 12214914"/>
              <a:gd name="connsiteY2-280" fmla="*/ 4851698 h 5775859"/>
              <a:gd name="connsiteX3-281" fmla="*/ 6311415 w 12214914"/>
              <a:gd name="connsiteY3-282" fmla="*/ 5775859 h 5775859"/>
              <a:gd name="connsiteX4-283" fmla="*/ 0 w 12214914"/>
              <a:gd name="connsiteY4-284" fmla="*/ 5413554 h 5775859"/>
              <a:gd name="connsiteX5-285" fmla="*/ 21879 w 12214914"/>
              <a:gd name="connsiteY5-286" fmla="*/ 0 h 5775859"/>
              <a:gd name="connsiteX0-287" fmla="*/ 21879 w 12214914"/>
              <a:gd name="connsiteY0-288" fmla="*/ 0 h 6028707"/>
              <a:gd name="connsiteX1-289" fmla="*/ 12213879 w 12214914"/>
              <a:gd name="connsiteY1-290" fmla="*/ 0 h 6028707"/>
              <a:gd name="connsiteX2-291" fmla="*/ 12213878 w 12214914"/>
              <a:gd name="connsiteY2-292" fmla="*/ 4851698 h 6028707"/>
              <a:gd name="connsiteX3-293" fmla="*/ 6311415 w 12214914"/>
              <a:gd name="connsiteY3-294" fmla="*/ 5775859 h 6028707"/>
              <a:gd name="connsiteX4-295" fmla="*/ 0 w 12214914"/>
              <a:gd name="connsiteY4-296" fmla="*/ 5413554 h 6028707"/>
              <a:gd name="connsiteX5-297" fmla="*/ 21879 w 12214914"/>
              <a:gd name="connsiteY5-298" fmla="*/ 0 h 6028707"/>
              <a:gd name="connsiteX0-299" fmla="*/ 21879 w 12214914"/>
              <a:gd name="connsiteY0-300" fmla="*/ 0 h 6045831"/>
              <a:gd name="connsiteX1-301" fmla="*/ 12213879 w 12214914"/>
              <a:gd name="connsiteY1-302" fmla="*/ 0 h 6045831"/>
              <a:gd name="connsiteX2-303" fmla="*/ 12213878 w 12214914"/>
              <a:gd name="connsiteY2-304" fmla="*/ 4851698 h 6045831"/>
              <a:gd name="connsiteX3-305" fmla="*/ 6839660 w 12214914"/>
              <a:gd name="connsiteY3-306" fmla="*/ 5795420 h 6045831"/>
              <a:gd name="connsiteX4-307" fmla="*/ 0 w 12214914"/>
              <a:gd name="connsiteY4-308" fmla="*/ 5413554 h 6045831"/>
              <a:gd name="connsiteX5-309" fmla="*/ 21879 w 12214914"/>
              <a:gd name="connsiteY5-310" fmla="*/ 0 h 6045831"/>
              <a:gd name="connsiteX0-311" fmla="*/ 21879 w 12214914"/>
              <a:gd name="connsiteY0-312" fmla="*/ 0 h 6045831"/>
              <a:gd name="connsiteX1-313" fmla="*/ 12213879 w 12214914"/>
              <a:gd name="connsiteY1-314" fmla="*/ 0 h 6045831"/>
              <a:gd name="connsiteX2-315" fmla="*/ 12213878 w 12214914"/>
              <a:gd name="connsiteY2-316" fmla="*/ 4851698 h 6045831"/>
              <a:gd name="connsiteX3-317" fmla="*/ 6749104 w 12214914"/>
              <a:gd name="connsiteY3-318" fmla="*/ 5795420 h 6045831"/>
              <a:gd name="connsiteX4-319" fmla="*/ 0 w 12214914"/>
              <a:gd name="connsiteY4-320" fmla="*/ 5413554 h 6045831"/>
              <a:gd name="connsiteX5-321" fmla="*/ 21879 w 12214914"/>
              <a:gd name="connsiteY5-322" fmla="*/ 0 h 6045831"/>
              <a:gd name="connsiteX0-323" fmla="*/ 21879 w 12214914"/>
              <a:gd name="connsiteY0-324" fmla="*/ 0 h 6045831"/>
              <a:gd name="connsiteX1-325" fmla="*/ 12213879 w 12214914"/>
              <a:gd name="connsiteY1-326" fmla="*/ 0 h 6045831"/>
              <a:gd name="connsiteX2-327" fmla="*/ 12213878 w 12214914"/>
              <a:gd name="connsiteY2-328" fmla="*/ 4851698 h 6045831"/>
              <a:gd name="connsiteX3-329" fmla="*/ 6749104 w 12214914"/>
              <a:gd name="connsiteY3-330" fmla="*/ 5795420 h 6045831"/>
              <a:gd name="connsiteX4-331" fmla="*/ 0 w 12214914"/>
              <a:gd name="connsiteY4-332" fmla="*/ 5413554 h 6045831"/>
              <a:gd name="connsiteX5-333" fmla="*/ 21879 w 12214914"/>
              <a:gd name="connsiteY5-334" fmla="*/ 0 h 6045831"/>
              <a:gd name="connsiteX0-335" fmla="*/ 21879 w 12228970"/>
              <a:gd name="connsiteY0-336" fmla="*/ 0 h 6128296"/>
              <a:gd name="connsiteX1-337" fmla="*/ 12213879 w 12228970"/>
              <a:gd name="connsiteY1-338" fmla="*/ 0 h 6128296"/>
              <a:gd name="connsiteX2-339" fmla="*/ 12228970 w 12228970"/>
              <a:gd name="connsiteY2-340" fmla="*/ 5360276 h 6128296"/>
              <a:gd name="connsiteX3-341" fmla="*/ 6749104 w 12228970"/>
              <a:gd name="connsiteY3-342" fmla="*/ 5795420 h 6128296"/>
              <a:gd name="connsiteX4-343" fmla="*/ 0 w 12228970"/>
              <a:gd name="connsiteY4-344" fmla="*/ 5413554 h 6128296"/>
              <a:gd name="connsiteX5-345" fmla="*/ 21879 w 12228970"/>
              <a:gd name="connsiteY5-346" fmla="*/ 0 h 6128296"/>
              <a:gd name="connsiteX0-347" fmla="*/ 21879 w 12228970"/>
              <a:gd name="connsiteY0-348" fmla="*/ 0 h 6143755"/>
              <a:gd name="connsiteX1-349" fmla="*/ 12213879 w 12228970"/>
              <a:gd name="connsiteY1-350" fmla="*/ 0 h 6143755"/>
              <a:gd name="connsiteX2-351" fmla="*/ 12228970 w 12228970"/>
              <a:gd name="connsiteY2-352" fmla="*/ 5360276 h 6143755"/>
              <a:gd name="connsiteX3-353" fmla="*/ 6779289 w 12228970"/>
              <a:gd name="connsiteY3-354" fmla="*/ 5814981 h 6143755"/>
              <a:gd name="connsiteX4-355" fmla="*/ 0 w 12228970"/>
              <a:gd name="connsiteY4-356" fmla="*/ 5413554 h 6143755"/>
              <a:gd name="connsiteX5-357" fmla="*/ 21879 w 12228970"/>
              <a:gd name="connsiteY5-358" fmla="*/ 0 h 6143755"/>
              <a:gd name="connsiteX0-359" fmla="*/ 21879 w 12228970"/>
              <a:gd name="connsiteY0-360" fmla="*/ 0 h 6428674"/>
              <a:gd name="connsiteX1-361" fmla="*/ 12213879 w 12228970"/>
              <a:gd name="connsiteY1-362" fmla="*/ 0 h 6428674"/>
              <a:gd name="connsiteX2-363" fmla="*/ 12228970 w 12228970"/>
              <a:gd name="connsiteY2-364" fmla="*/ 5360276 h 6428674"/>
              <a:gd name="connsiteX3-365" fmla="*/ 6779289 w 12228970"/>
              <a:gd name="connsiteY3-366" fmla="*/ 5814981 h 6428674"/>
              <a:gd name="connsiteX4-367" fmla="*/ 0 w 12228970"/>
              <a:gd name="connsiteY4-368" fmla="*/ 5413554 h 6428674"/>
              <a:gd name="connsiteX5-369" fmla="*/ 21879 w 12228970"/>
              <a:gd name="connsiteY5-370" fmla="*/ 0 h 6428674"/>
              <a:gd name="connsiteX0-371" fmla="*/ 21879 w 12228970"/>
              <a:gd name="connsiteY0-372" fmla="*/ 0 h 6614148"/>
              <a:gd name="connsiteX1-373" fmla="*/ 12213879 w 12228970"/>
              <a:gd name="connsiteY1-374" fmla="*/ 0 h 6614148"/>
              <a:gd name="connsiteX2-375" fmla="*/ 12228970 w 12228970"/>
              <a:gd name="connsiteY2-376" fmla="*/ 5360276 h 6614148"/>
              <a:gd name="connsiteX3-377" fmla="*/ 6749104 w 12228970"/>
              <a:gd name="connsiteY3-378" fmla="*/ 6049709 h 6614148"/>
              <a:gd name="connsiteX4-379" fmla="*/ 0 w 12228970"/>
              <a:gd name="connsiteY4-380" fmla="*/ 5413554 h 6614148"/>
              <a:gd name="connsiteX5-381" fmla="*/ 21879 w 12228970"/>
              <a:gd name="connsiteY5-382" fmla="*/ 0 h 6614148"/>
              <a:gd name="connsiteX0-383" fmla="*/ 21879 w 12228970"/>
              <a:gd name="connsiteY0-384" fmla="*/ 0 h 6443820"/>
              <a:gd name="connsiteX1-385" fmla="*/ 12213879 w 12228970"/>
              <a:gd name="connsiteY1-386" fmla="*/ 0 h 6443820"/>
              <a:gd name="connsiteX2-387" fmla="*/ 12228970 w 12228970"/>
              <a:gd name="connsiteY2-388" fmla="*/ 5360276 h 6443820"/>
              <a:gd name="connsiteX3-389" fmla="*/ 6703826 w 12228970"/>
              <a:gd name="connsiteY3-390" fmla="*/ 5834541 h 6443820"/>
              <a:gd name="connsiteX4-391" fmla="*/ 0 w 12228970"/>
              <a:gd name="connsiteY4-392" fmla="*/ 5413554 h 6443820"/>
              <a:gd name="connsiteX5-393" fmla="*/ 21879 w 12228970"/>
              <a:gd name="connsiteY5-394" fmla="*/ 0 h 6443820"/>
              <a:gd name="connsiteX0-395" fmla="*/ 21879 w 12228970"/>
              <a:gd name="connsiteY0-396" fmla="*/ 0 h 6452471"/>
              <a:gd name="connsiteX1-397" fmla="*/ 12213879 w 12228970"/>
              <a:gd name="connsiteY1-398" fmla="*/ 0 h 6452471"/>
              <a:gd name="connsiteX2-399" fmla="*/ 12228970 w 12228970"/>
              <a:gd name="connsiteY2-400" fmla="*/ 5360276 h 6452471"/>
              <a:gd name="connsiteX3-401" fmla="*/ 6703826 w 12228970"/>
              <a:gd name="connsiteY3-402" fmla="*/ 5834541 h 6452471"/>
              <a:gd name="connsiteX4-403" fmla="*/ 0 w 12228970"/>
              <a:gd name="connsiteY4-404" fmla="*/ 5413554 h 6452471"/>
              <a:gd name="connsiteX5-405" fmla="*/ 21879 w 12228970"/>
              <a:gd name="connsiteY5-406" fmla="*/ 0 h 6452471"/>
              <a:gd name="connsiteX0-407" fmla="*/ 21879 w 12228970"/>
              <a:gd name="connsiteY0-408" fmla="*/ 0 h 6452471"/>
              <a:gd name="connsiteX1-409" fmla="*/ 12213879 w 12228970"/>
              <a:gd name="connsiteY1-410" fmla="*/ 0 h 6452471"/>
              <a:gd name="connsiteX2-411" fmla="*/ 12228970 w 12228970"/>
              <a:gd name="connsiteY2-412" fmla="*/ 5360276 h 6452471"/>
              <a:gd name="connsiteX3-413" fmla="*/ 6703826 w 12228970"/>
              <a:gd name="connsiteY3-414" fmla="*/ 5834541 h 6452471"/>
              <a:gd name="connsiteX4-415" fmla="*/ 0 w 12228970"/>
              <a:gd name="connsiteY4-416" fmla="*/ 5413554 h 6452471"/>
              <a:gd name="connsiteX5-417" fmla="*/ 21879 w 12228970"/>
              <a:gd name="connsiteY5-418" fmla="*/ 0 h 6452471"/>
              <a:gd name="connsiteX0-419" fmla="*/ 21879 w 12228970"/>
              <a:gd name="connsiteY0-420" fmla="*/ 0 h 6452471"/>
              <a:gd name="connsiteX1-421" fmla="*/ 12213879 w 12228970"/>
              <a:gd name="connsiteY1-422" fmla="*/ 0 h 6452471"/>
              <a:gd name="connsiteX2-423" fmla="*/ 12228970 w 12228970"/>
              <a:gd name="connsiteY2-424" fmla="*/ 5360276 h 6452471"/>
              <a:gd name="connsiteX3-425" fmla="*/ 6703826 w 12228970"/>
              <a:gd name="connsiteY3-426" fmla="*/ 5834541 h 6452471"/>
              <a:gd name="connsiteX4-427" fmla="*/ 0 w 12228970"/>
              <a:gd name="connsiteY4-428" fmla="*/ 5413554 h 6452471"/>
              <a:gd name="connsiteX5-429" fmla="*/ 21879 w 12228970"/>
              <a:gd name="connsiteY5-430" fmla="*/ 0 h 6452471"/>
              <a:gd name="connsiteX0-431" fmla="*/ 21879 w 12228970"/>
              <a:gd name="connsiteY0-432" fmla="*/ 0 h 6377393"/>
              <a:gd name="connsiteX1-433" fmla="*/ 12213879 w 12228970"/>
              <a:gd name="connsiteY1-434" fmla="*/ 0 h 6377393"/>
              <a:gd name="connsiteX2-435" fmla="*/ 12228970 w 12228970"/>
              <a:gd name="connsiteY2-436" fmla="*/ 5360276 h 6377393"/>
              <a:gd name="connsiteX3-437" fmla="*/ 5858634 w 12228970"/>
              <a:gd name="connsiteY3-438" fmla="*/ 5736737 h 6377393"/>
              <a:gd name="connsiteX4-439" fmla="*/ 0 w 12228970"/>
              <a:gd name="connsiteY4-440" fmla="*/ 5413554 h 6377393"/>
              <a:gd name="connsiteX5-441" fmla="*/ 21879 w 12228970"/>
              <a:gd name="connsiteY5-442" fmla="*/ 0 h 6377393"/>
              <a:gd name="connsiteX0-443" fmla="*/ 21879 w 12228970"/>
              <a:gd name="connsiteY0-444" fmla="*/ 0 h 6377395"/>
              <a:gd name="connsiteX1-445" fmla="*/ 12213879 w 12228970"/>
              <a:gd name="connsiteY1-446" fmla="*/ 0 h 6377395"/>
              <a:gd name="connsiteX2-447" fmla="*/ 12228970 w 12228970"/>
              <a:gd name="connsiteY2-448" fmla="*/ 5360276 h 6377395"/>
              <a:gd name="connsiteX3-449" fmla="*/ 5858634 w 12228970"/>
              <a:gd name="connsiteY3-450" fmla="*/ 5736737 h 6377395"/>
              <a:gd name="connsiteX4-451" fmla="*/ 0 w 12228970"/>
              <a:gd name="connsiteY4-452" fmla="*/ 5413554 h 6377395"/>
              <a:gd name="connsiteX5-453" fmla="*/ 21879 w 12228970"/>
              <a:gd name="connsiteY5-454" fmla="*/ 0 h 6377395"/>
              <a:gd name="connsiteX0-455" fmla="*/ 21879 w 12228970"/>
              <a:gd name="connsiteY0-456" fmla="*/ 0 h 6403438"/>
              <a:gd name="connsiteX1-457" fmla="*/ 12213879 w 12228970"/>
              <a:gd name="connsiteY1-458" fmla="*/ 0 h 6403438"/>
              <a:gd name="connsiteX2-459" fmla="*/ 12228970 w 12228970"/>
              <a:gd name="connsiteY2-460" fmla="*/ 5360276 h 6403438"/>
              <a:gd name="connsiteX3-461" fmla="*/ 5858634 w 12228970"/>
              <a:gd name="connsiteY3-462" fmla="*/ 5736737 h 6403438"/>
              <a:gd name="connsiteX4-463" fmla="*/ 0 w 12228970"/>
              <a:gd name="connsiteY4-464" fmla="*/ 5413554 h 6403438"/>
              <a:gd name="connsiteX5-465" fmla="*/ 21879 w 12228970"/>
              <a:gd name="connsiteY5-466" fmla="*/ 0 h 6403438"/>
              <a:gd name="connsiteX0-467" fmla="*/ 21879 w 12228970"/>
              <a:gd name="connsiteY0-468" fmla="*/ 0 h 5816116"/>
              <a:gd name="connsiteX1-469" fmla="*/ 12213879 w 12228970"/>
              <a:gd name="connsiteY1-470" fmla="*/ 0 h 5816116"/>
              <a:gd name="connsiteX2-471" fmla="*/ 12228970 w 12228970"/>
              <a:gd name="connsiteY2-472" fmla="*/ 5360276 h 5816116"/>
              <a:gd name="connsiteX3-473" fmla="*/ 5858634 w 12228970"/>
              <a:gd name="connsiteY3-474" fmla="*/ 5736737 h 5816116"/>
              <a:gd name="connsiteX4-475" fmla="*/ 0 w 12228970"/>
              <a:gd name="connsiteY4-476" fmla="*/ 5413554 h 5816116"/>
              <a:gd name="connsiteX5-477" fmla="*/ 21879 w 12228970"/>
              <a:gd name="connsiteY5-478" fmla="*/ 0 h 5816116"/>
              <a:gd name="connsiteX0-479" fmla="*/ 21879 w 12228970"/>
              <a:gd name="connsiteY0-480" fmla="*/ 0 h 6091170"/>
              <a:gd name="connsiteX1-481" fmla="*/ 12213879 w 12228970"/>
              <a:gd name="connsiteY1-482" fmla="*/ 0 h 6091170"/>
              <a:gd name="connsiteX2-483" fmla="*/ 12228970 w 12228970"/>
              <a:gd name="connsiteY2-484" fmla="*/ 5360276 h 6091170"/>
              <a:gd name="connsiteX3-485" fmla="*/ 5858634 w 12228970"/>
              <a:gd name="connsiteY3-486" fmla="*/ 5736737 h 6091170"/>
              <a:gd name="connsiteX4-487" fmla="*/ 0 w 12228970"/>
              <a:gd name="connsiteY4-488" fmla="*/ 5413554 h 6091170"/>
              <a:gd name="connsiteX5-489" fmla="*/ 21879 w 12228970"/>
              <a:gd name="connsiteY5-490" fmla="*/ 0 h 6091170"/>
              <a:gd name="connsiteX0-491" fmla="*/ 21879 w 12228970"/>
              <a:gd name="connsiteY0-492" fmla="*/ 0 h 6295140"/>
              <a:gd name="connsiteX1-493" fmla="*/ 12213879 w 12228970"/>
              <a:gd name="connsiteY1-494" fmla="*/ 0 h 6295140"/>
              <a:gd name="connsiteX2-495" fmla="*/ 12228970 w 12228970"/>
              <a:gd name="connsiteY2-496" fmla="*/ 5360276 h 6295140"/>
              <a:gd name="connsiteX3-497" fmla="*/ 6432158 w 12228970"/>
              <a:gd name="connsiteY3-498" fmla="*/ 5991027 h 6295140"/>
              <a:gd name="connsiteX4-499" fmla="*/ 0 w 12228970"/>
              <a:gd name="connsiteY4-500" fmla="*/ 5413554 h 6295140"/>
              <a:gd name="connsiteX5-501" fmla="*/ 21879 w 12228970"/>
              <a:gd name="connsiteY5-502" fmla="*/ 0 h 6295140"/>
              <a:gd name="connsiteX0-503" fmla="*/ 21879 w 12228970"/>
              <a:gd name="connsiteY0-504" fmla="*/ 0 h 6295140"/>
              <a:gd name="connsiteX1-505" fmla="*/ 12213879 w 12228970"/>
              <a:gd name="connsiteY1-506" fmla="*/ 0 h 6295140"/>
              <a:gd name="connsiteX2-507" fmla="*/ 12228970 w 12228970"/>
              <a:gd name="connsiteY2-508" fmla="*/ 5360276 h 6295140"/>
              <a:gd name="connsiteX3-509" fmla="*/ 6432158 w 12228970"/>
              <a:gd name="connsiteY3-510" fmla="*/ 5991027 h 6295140"/>
              <a:gd name="connsiteX4-511" fmla="*/ 0 w 12228970"/>
              <a:gd name="connsiteY4-512" fmla="*/ 5413554 h 6295140"/>
              <a:gd name="connsiteX5-513" fmla="*/ 21879 w 12228970"/>
              <a:gd name="connsiteY5-514" fmla="*/ 0 h 6295140"/>
              <a:gd name="connsiteX0-515" fmla="*/ 21879 w 12228970"/>
              <a:gd name="connsiteY0-516" fmla="*/ 0 h 6295140"/>
              <a:gd name="connsiteX1-517" fmla="*/ 12213879 w 12228970"/>
              <a:gd name="connsiteY1-518" fmla="*/ 0 h 6295140"/>
              <a:gd name="connsiteX2-519" fmla="*/ 12228970 w 12228970"/>
              <a:gd name="connsiteY2-520" fmla="*/ 5360276 h 6295140"/>
              <a:gd name="connsiteX3-521" fmla="*/ 6432158 w 12228970"/>
              <a:gd name="connsiteY3-522" fmla="*/ 5991027 h 6295140"/>
              <a:gd name="connsiteX4-523" fmla="*/ 0 w 12228970"/>
              <a:gd name="connsiteY4-524" fmla="*/ 5413554 h 6295140"/>
              <a:gd name="connsiteX5-525" fmla="*/ 21879 w 12228970"/>
              <a:gd name="connsiteY5-526" fmla="*/ 0 h 6295140"/>
              <a:gd name="connsiteX0-527" fmla="*/ 21879 w 12228970"/>
              <a:gd name="connsiteY0-528" fmla="*/ 0 h 6295140"/>
              <a:gd name="connsiteX1-529" fmla="*/ 12213879 w 12228970"/>
              <a:gd name="connsiteY1-530" fmla="*/ 0 h 6295140"/>
              <a:gd name="connsiteX2-531" fmla="*/ 12228970 w 12228970"/>
              <a:gd name="connsiteY2-532" fmla="*/ 5360276 h 6295140"/>
              <a:gd name="connsiteX3-533" fmla="*/ 6432158 w 12228970"/>
              <a:gd name="connsiteY3-534" fmla="*/ 5991027 h 6295140"/>
              <a:gd name="connsiteX4-535" fmla="*/ 0 w 12228970"/>
              <a:gd name="connsiteY4-536" fmla="*/ 5413554 h 6295140"/>
              <a:gd name="connsiteX5-537" fmla="*/ 21879 w 12228970"/>
              <a:gd name="connsiteY5-538" fmla="*/ 0 h 6295140"/>
              <a:gd name="connsiteX0-539" fmla="*/ 21879 w 12228970"/>
              <a:gd name="connsiteY0-540" fmla="*/ 0 h 6404899"/>
              <a:gd name="connsiteX1-541" fmla="*/ 12213879 w 12228970"/>
              <a:gd name="connsiteY1-542" fmla="*/ 0 h 6404899"/>
              <a:gd name="connsiteX2-543" fmla="*/ 12228970 w 12228970"/>
              <a:gd name="connsiteY2-544" fmla="*/ 5360276 h 6404899"/>
              <a:gd name="connsiteX3-545" fmla="*/ 6432158 w 12228970"/>
              <a:gd name="connsiteY3-546" fmla="*/ 5991027 h 6404899"/>
              <a:gd name="connsiteX4-547" fmla="*/ 0 w 12228970"/>
              <a:gd name="connsiteY4-548" fmla="*/ 5413554 h 6404899"/>
              <a:gd name="connsiteX5-549" fmla="*/ 21879 w 12228970"/>
              <a:gd name="connsiteY5-550" fmla="*/ 0 h 6404899"/>
              <a:gd name="connsiteX0-551" fmla="*/ 21879 w 12228970"/>
              <a:gd name="connsiteY0-552" fmla="*/ 0 h 6404897"/>
              <a:gd name="connsiteX1-553" fmla="*/ 12213879 w 12228970"/>
              <a:gd name="connsiteY1-554" fmla="*/ 0 h 6404897"/>
              <a:gd name="connsiteX2-555" fmla="*/ 12228970 w 12228970"/>
              <a:gd name="connsiteY2-556" fmla="*/ 5360276 h 6404897"/>
              <a:gd name="connsiteX3-557" fmla="*/ 6447250 w 12228970"/>
              <a:gd name="connsiteY3-558" fmla="*/ 5991027 h 6404897"/>
              <a:gd name="connsiteX4-559" fmla="*/ 0 w 12228970"/>
              <a:gd name="connsiteY4-560" fmla="*/ 5413554 h 6404897"/>
              <a:gd name="connsiteX5-561" fmla="*/ 21879 w 12228970"/>
              <a:gd name="connsiteY5-562" fmla="*/ 0 h 6404897"/>
              <a:gd name="connsiteX0-563" fmla="*/ 21879 w 12228970"/>
              <a:gd name="connsiteY0-564" fmla="*/ 0 h 6413393"/>
              <a:gd name="connsiteX1-565" fmla="*/ 12213879 w 12228970"/>
              <a:gd name="connsiteY1-566" fmla="*/ 0 h 6413393"/>
              <a:gd name="connsiteX2-567" fmla="*/ 12228970 w 12228970"/>
              <a:gd name="connsiteY2-568" fmla="*/ 5360276 h 6413393"/>
              <a:gd name="connsiteX3-569" fmla="*/ 6447250 w 12228970"/>
              <a:gd name="connsiteY3-570" fmla="*/ 5991027 h 6413393"/>
              <a:gd name="connsiteX4-571" fmla="*/ 0 w 12228970"/>
              <a:gd name="connsiteY4-572" fmla="*/ 5413554 h 6413393"/>
              <a:gd name="connsiteX5-573" fmla="*/ 21879 w 12228970"/>
              <a:gd name="connsiteY5-574" fmla="*/ 0 h 6413393"/>
              <a:gd name="connsiteX0-575" fmla="*/ 21879 w 12228970"/>
              <a:gd name="connsiteY0-576" fmla="*/ 0 h 6413393"/>
              <a:gd name="connsiteX1-577" fmla="*/ 12213879 w 12228970"/>
              <a:gd name="connsiteY1-578" fmla="*/ 0 h 6413393"/>
              <a:gd name="connsiteX2-579" fmla="*/ 12228970 w 12228970"/>
              <a:gd name="connsiteY2-580" fmla="*/ 5360276 h 6413393"/>
              <a:gd name="connsiteX3-581" fmla="*/ 6447250 w 12228970"/>
              <a:gd name="connsiteY3-582" fmla="*/ 5991027 h 6413393"/>
              <a:gd name="connsiteX4-583" fmla="*/ 0 w 12228970"/>
              <a:gd name="connsiteY4-584" fmla="*/ 5413554 h 6413393"/>
              <a:gd name="connsiteX5-585" fmla="*/ 21879 w 12228970"/>
              <a:gd name="connsiteY5-586" fmla="*/ 0 h 6413393"/>
              <a:gd name="connsiteX0-587" fmla="*/ 21879 w 12228970"/>
              <a:gd name="connsiteY0-588" fmla="*/ 0 h 6542353"/>
              <a:gd name="connsiteX1-589" fmla="*/ 12213879 w 12228970"/>
              <a:gd name="connsiteY1-590" fmla="*/ 0 h 6542353"/>
              <a:gd name="connsiteX2-591" fmla="*/ 12228970 w 12228970"/>
              <a:gd name="connsiteY2-592" fmla="*/ 5360276 h 6542353"/>
              <a:gd name="connsiteX3-593" fmla="*/ 6824569 w 12228970"/>
              <a:gd name="connsiteY3-594" fmla="*/ 6147512 h 6542353"/>
              <a:gd name="connsiteX4-595" fmla="*/ 0 w 12228970"/>
              <a:gd name="connsiteY4-596" fmla="*/ 5413554 h 6542353"/>
              <a:gd name="connsiteX5-597" fmla="*/ 21879 w 12228970"/>
              <a:gd name="connsiteY5-598" fmla="*/ 0 h 6542353"/>
              <a:gd name="connsiteX0-599" fmla="*/ 21879 w 12228970"/>
              <a:gd name="connsiteY0-600" fmla="*/ 0 h 6542355"/>
              <a:gd name="connsiteX1-601" fmla="*/ 12213879 w 12228970"/>
              <a:gd name="connsiteY1-602" fmla="*/ 0 h 6542355"/>
              <a:gd name="connsiteX2-603" fmla="*/ 12228970 w 12228970"/>
              <a:gd name="connsiteY2-604" fmla="*/ 5360276 h 6542355"/>
              <a:gd name="connsiteX3-605" fmla="*/ 6824569 w 12228970"/>
              <a:gd name="connsiteY3-606" fmla="*/ 6147512 h 6542355"/>
              <a:gd name="connsiteX4-607" fmla="*/ 0 w 12228970"/>
              <a:gd name="connsiteY4-608" fmla="*/ 5413554 h 6542355"/>
              <a:gd name="connsiteX5-609" fmla="*/ 21879 w 12228970"/>
              <a:gd name="connsiteY5-610" fmla="*/ 0 h 6542355"/>
              <a:gd name="connsiteX0-611" fmla="*/ 21879 w 12228970"/>
              <a:gd name="connsiteY0-612" fmla="*/ 0 h 6413393"/>
              <a:gd name="connsiteX1-613" fmla="*/ 12213879 w 12228970"/>
              <a:gd name="connsiteY1-614" fmla="*/ 0 h 6413393"/>
              <a:gd name="connsiteX2-615" fmla="*/ 12228970 w 12228970"/>
              <a:gd name="connsiteY2-616" fmla="*/ 5360276 h 6413393"/>
              <a:gd name="connsiteX3-617" fmla="*/ 6869848 w 12228970"/>
              <a:gd name="connsiteY3-618" fmla="*/ 5991027 h 6413393"/>
              <a:gd name="connsiteX4-619" fmla="*/ 0 w 12228970"/>
              <a:gd name="connsiteY4-620" fmla="*/ 5413554 h 6413393"/>
              <a:gd name="connsiteX5-621" fmla="*/ 21879 w 12228970"/>
              <a:gd name="connsiteY5-622" fmla="*/ 0 h 6413393"/>
              <a:gd name="connsiteX0-623" fmla="*/ 21879 w 12228970"/>
              <a:gd name="connsiteY0-624" fmla="*/ 0 h 6432532"/>
              <a:gd name="connsiteX1-625" fmla="*/ 12213879 w 12228970"/>
              <a:gd name="connsiteY1-626" fmla="*/ 0 h 6432532"/>
              <a:gd name="connsiteX2-627" fmla="*/ 12228970 w 12228970"/>
              <a:gd name="connsiteY2-628" fmla="*/ 5458079 h 6432532"/>
              <a:gd name="connsiteX3-629" fmla="*/ 6869848 w 12228970"/>
              <a:gd name="connsiteY3-630" fmla="*/ 5991027 h 6432532"/>
              <a:gd name="connsiteX4-631" fmla="*/ 0 w 12228970"/>
              <a:gd name="connsiteY4-632" fmla="*/ 5413554 h 6432532"/>
              <a:gd name="connsiteX5-633" fmla="*/ 21879 w 12228970"/>
              <a:gd name="connsiteY5-634" fmla="*/ 0 h 6432532"/>
              <a:gd name="connsiteX0-635" fmla="*/ 21879 w 12228970"/>
              <a:gd name="connsiteY0-636" fmla="*/ 0 h 6436065"/>
              <a:gd name="connsiteX1-637" fmla="*/ 12213879 w 12228970"/>
              <a:gd name="connsiteY1-638" fmla="*/ 0 h 6436065"/>
              <a:gd name="connsiteX2-639" fmla="*/ 12228970 w 12228970"/>
              <a:gd name="connsiteY2-640" fmla="*/ 5458079 h 6436065"/>
              <a:gd name="connsiteX3-641" fmla="*/ 6869848 w 12228970"/>
              <a:gd name="connsiteY3-642" fmla="*/ 5991027 h 6436065"/>
              <a:gd name="connsiteX4-643" fmla="*/ 0 w 12228970"/>
              <a:gd name="connsiteY4-644" fmla="*/ 5413554 h 6436065"/>
              <a:gd name="connsiteX5-645" fmla="*/ 21879 w 12228970"/>
              <a:gd name="connsiteY5-646" fmla="*/ 0 h 6436065"/>
              <a:gd name="connsiteX0-647" fmla="*/ 21879 w 12228970"/>
              <a:gd name="connsiteY0-648" fmla="*/ 0 h 6514470"/>
              <a:gd name="connsiteX1-649" fmla="*/ 12213879 w 12228970"/>
              <a:gd name="connsiteY1-650" fmla="*/ 0 h 6514470"/>
              <a:gd name="connsiteX2-651" fmla="*/ 12228970 w 12228970"/>
              <a:gd name="connsiteY2-652" fmla="*/ 5458079 h 6514470"/>
              <a:gd name="connsiteX3-653" fmla="*/ 6673642 w 12228970"/>
              <a:gd name="connsiteY3-654" fmla="*/ 6088830 h 6514470"/>
              <a:gd name="connsiteX4-655" fmla="*/ 0 w 12228970"/>
              <a:gd name="connsiteY4-656" fmla="*/ 5413554 h 6514470"/>
              <a:gd name="connsiteX5-657" fmla="*/ 21879 w 12228970"/>
              <a:gd name="connsiteY5-658" fmla="*/ 0 h 6514470"/>
              <a:gd name="connsiteX0-659" fmla="*/ 21879 w 12228970"/>
              <a:gd name="connsiteY0-660" fmla="*/ 0 h 6530342"/>
              <a:gd name="connsiteX1-661" fmla="*/ 12213879 w 12228970"/>
              <a:gd name="connsiteY1-662" fmla="*/ 0 h 6530342"/>
              <a:gd name="connsiteX2-663" fmla="*/ 12228970 w 12228970"/>
              <a:gd name="connsiteY2-664" fmla="*/ 5458079 h 6530342"/>
              <a:gd name="connsiteX3-665" fmla="*/ 6688735 w 12228970"/>
              <a:gd name="connsiteY3-666" fmla="*/ 6108391 h 6530342"/>
              <a:gd name="connsiteX4-667" fmla="*/ 0 w 12228970"/>
              <a:gd name="connsiteY4-668" fmla="*/ 5413554 h 6530342"/>
              <a:gd name="connsiteX5-669" fmla="*/ 21879 w 12228970"/>
              <a:gd name="connsiteY5-670" fmla="*/ 0 h 6530342"/>
              <a:gd name="connsiteX0-671" fmla="*/ 21879 w 12228970"/>
              <a:gd name="connsiteY0-672" fmla="*/ 0 h 6428930"/>
              <a:gd name="connsiteX1-673" fmla="*/ 12213879 w 12228970"/>
              <a:gd name="connsiteY1-674" fmla="*/ 0 h 6428930"/>
              <a:gd name="connsiteX2-675" fmla="*/ 12228970 w 12228970"/>
              <a:gd name="connsiteY2-676" fmla="*/ 5458079 h 6428930"/>
              <a:gd name="connsiteX3-677" fmla="*/ 6688735 w 12228970"/>
              <a:gd name="connsiteY3-678" fmla="*/ 6108391 h 6428930"/>
              <a:gd name="connsiteX4-679" fmla="*/ 0 w 12228970"/>
              <a:gd name="connsiteY4-680" fmla="*/ 5413554 h 6428930"/>
              <a:gd name="connsiteX5-681" fmla="*/ 21879 w 12228970"/>
              <a:gd name="connsiteY5-682" fmla="*/ 0 h 6428930"/>
              <a:gd name="connsiteX0-683" fmla="*/ 21879 w 12228970"/>
              <a:gd name="connsiteY0-684" fmla="*/ 0 h 6428930"/>
              <a:gd name="connsiteX1-685" fmla="*/ 12213879 w 12228970"/>
              <a:gd name="connsiteY1-686" fmla="*/ 0 h 6428930"/>
              <a:gd name="connsiteX2-687" fmla="*/ 12228970 w 12228970"/>
              <a:gd name="connsiteY2-688" fmla="*/ 5458080 h 6428930"/>
              <a:gd name="connsiteX3-689" fmla="*/ 6688735 w 12228970"/>
              <a:gd name="connsiteY3-690" fmla="*/ 6108391 h 6428930"/>
              <a:gd name="connsiteX4-691" fmla="*/ 0 w 12228970"/>
              <a:gd name="connsiteY4-692" fmla="*/ 5413554 h 6428930"/>
              <a:gd name="connsiteX5-693" fmla="*/ 21879 w 12228970"/>
              <a:gd name="connsiteY5-694" fmla="*/ 0 h 6428930"/>
              <a:gd name="connsiteX0-695" fmla="*/ 21879 w 12228970"/>
              <a:gd name="connsiteY0-696" fmla="*/ 0 h 6361704"/>
              <a:gd name="connsiteX1-697" fmla="*/ 12213879 w 12228970"/>
              <a:gd name="connsiteY1-698" fmla="*/ 0 h 6361704"/>
              <a:gd name="connsiteX2-699" fmla="*/ 12228970 w 12228970"/>
              <a:gd name="connsiteY2-700" fmla="*/ 5458080 h 6361704"/>
              <a:gd name="connsiteX3-701" fmla="*/ 6688735 w 12228970"/>
              <a:gd name="connsiteY3-702" fmla="*/ 6108391 h 6361704"/>
              <a:gd name="connsiteX4-703" fmla="*/ 0 w 12228970"/>
              <a:gd name="connsiteY4-704" fmla="*/ 5413554 h 6361704"/>
              <a:gd name="connsiteX5-705" fmla="*/ 21879 w 12228970"/>
              <a:gd name="connsiteY5-706" fmla="*/ 0 h 6361704"/>
              <a:gd name="connsiteX0-707" fmla="*/ 21879 w 12228970"/>
              <a:gd name="connsiteY0-708" fmla="*/ 0 h 6367922"/>
              <a:gd name="connsiteX1-709" fmla="*/ 12213879 w 12228970"/>
              <a:gd name="connsiteY1-710" fmla="*/ 0 h 6367922"/>
              <a:gd name="connsiteX2-711" fmla="*/ 12228970 w 12228970"/>
              <a:gd name="connsiteY2-712" fmla="*/ 5458080 h 6367922"/>
              <a:gd name="connsiteX3-713" fmla="*/ 6688735 w 12228970"/>
              <a:gd name="connsiteY3-714" fmla="*/ 6108391 h 6367922"/>
              <a:gd name="connsiteX4-715" fmla="*/ 0 w 12228970"/>
              <a:gd name="connsiteY4-716" fmla="*/ 5413554 h 6367922"/>
              <a:gd name="connsiteX5-717" fmla="*/ 21879 w 12228970"/>
              <a:gd name="connsiteY5-718" fmla="*/ 0 h 6367922"/>
              <a:gd name="connsiteX0-719" fmla="*/ 21879 w 12228970"/>
              <a:gd name="connsiteY0-720" fmla="*/ 0 h 6361173"/>
              <a:gd name="connsiteX1-721" fmla="*/ 12213879 w 12228970"/>
              <a:gd name="connsiteY1-722" fmla="*/ 0 h 6361173"/>
              <a:gd name="connsiteX2-723" fmla="*/ 12228970 w 12228970"/>
              <a:gd name="connsiteY2-724" fmla="*/ 5399398 h 6361173"/>
              <a:gd name="connsiteX3-725" fmla="*/ 6688735 w 12228970"/>
              <a:gd name="connsiteY3-726" fmla="*/ 6108391 h 6361173"/>
              <a:gd name="connsiteX4-727" fmla="*/ 0 w 12228970"/>
              <a:gd name="connsiteY4-728" fmla="*/ 5413554 h 6361173"/>
              <a:gd name="connsiteX5-729" fmla="*/ 21879 w 12228970"/>
              <a:gd name="connsiteY5-730" fmla="*/ 0 h 6361173"/>
              <a:gd name="connsiteX0-731" fmla="*/ 21879 w 12228970"/>
              <a:gd name="connsiteY0-732" fmla="*/ 0 h 6371616"/>
              <a:gd name="connsiteX1-733" fmla="*/ 12213879 w 12228970"/>
              <a:gd name="connsiteY1-734" fmla="*/ 0 h 6371616"/>
              <a:gd name="connsiteX2-735" fmla="*/ 12228970 w 12228970"/>
              <a:gd name="connsiteY2-736" fmla="*/ 5399398 h 6371616"/>
              <a:gd name="connsiteX3-737" fmla="*/ 6688735 w 12228970"/>
              <a:gd name="connsiteY3-738" fmla="*/ 6108391 h 6371616"/>
              <a:gd name="connsiteX4-739" fmla="*/ 0 w 12228970"/>
              <a:gd name="connsiteY4-740" fmla="*/ 5413554 h 6371616"/>
              <a:gd name="connsiteX5-741" fmla="*/ 21879 w 12228970"/>
              <a:gd name="connsiteY5-742" fmla="*/ 0 h 6371616"/>
              <a:gd name="connsiteX0-743" fmla="*/ 21879 w 12228970"/>
              <a:gd name="connsiteY0-744" fmla="*/ 0 h 6378251"/>
              <a:gd name="connsiteX1-745" fmla="*/ 12213879 w 12228970"/>
              <a:gd name="connsiteY1-746" fmla="*/ 0 h 6378251"/>
              <a:gd name="connsiteX2-747" fmla="*/ 12228970 w 12228970"/>
              <a:gd name="connsiteY2-748" fmla="*/ 5399398 h 6378251"/>
              <a:gd name="connsiteX3-749" fmla="*/ 6688735 w 12228970"/>
              <a:gd name="connsiteY3-750" fmla="*/ 6108391 h 6378251"/>
              <a:gd name="connsiteX4-751" fmla="*/ 0 w 12228970"/>
              <a:gd name="connsiteY4-752" fmla="*/ 5413554 h 6378251"/>
              <a:gd name="connsiteX5-753" fmla="*/ 21879 w 12228970"/>
              <a:gd name="connsiteY5-754" fmla="*/ 0 h 6378251"/>
              <a:gd name="connsiteX0-755" fmla="*/ 21879 w 12214271"/>
              <a:gd name="connsiteY0-756" fmla="*/ 0 h 6393964"/>
              <a:gd name="connsiteX1-757" fmla="*/ 12213879 w 12214271"/>
              <a:gd name="connsiteY1-758" fmla="*/ 0 h 6393964"/>
              <a:gd name="connsiteX2-759" fmla="*/ 12198785 w 12214271"/>
              <a:gd name="connsiteY2-760" fmla="*/ 5516762 h 6393964"/>
              <a:gd name="connsiteX3-761" fmla="*/ 6688735 w 12214271"/>
              <a:gd name="connsiteY3-762" fmla="*/ 6108391 h 6393964"/>
              <a:gd name="connsiteX4-763" fmla="*/ 0 w 12214271"/>
              <a:gd name="connsiteY4-764" fmla="*/ 5413554 h 6393964"/>
              <a:gd name="connsiteX5-765" fmla="*/ 21879 w 12214271"/>
              <a:gd name="connsiteY5-766" fmla="*/ 0 h 6393964"/>
              <a:gd name="connsiteX0-767" fmla="*/ 21879 w 12214271"/>
              <a:gd name="connsiteY0-768" fmla="*/ 0 h 6360218"/>
              <a:gd name="connsiteX1-769" fmla="*/ 12213879 w 12214271"/>
              <a:gd name="connsiteY1-770" fmla="*/ 0 h 6360218"/>
              <a:gd name="connsiteX2-771" fmla="*/ 12198785 w 12214271"/>
              <a:gd name="connsiteY2-772" fmla="*/ 5516762 h 6360218"/>
              <a:gd name="connsiteX3-773" fmla="*/ 6688735 w 12214271"/>
              <a:gd name="connsiteY3-774" fmla="*/ 6108391 h 6360218"/>
              <a:gd name="connsiteX4-775" fmla="*/ 0 w 12214271"/>
              <a:gd name="connsiteY4-776" fmla="*/ 5413554 h 6360218"/>
              <a:gd name="connsiteX5-777" fmla="*/ 21879 w 12214271"/>
              <a:gd name="connsiteY5-778" fmla="*/ 0 h 6360218"/>
              <a:gd name="connsiteX0-779" fmla="*/ 21879 w 12214271"/>
              <a:gd name="connsiteY0-780" fmla="*/ 0 h 6370650"/>
              <a:gd name="connsiteX1-781" fmla="*/ 12213879 w 12214271"/>
              <a:gd name="connsiteY1-782" fmla="*/ 0 h 6370650"/>
              <a:gd name="connsiteX2-783" fmla="*/ 12198785 w 12214271"/>
              <a:gd name="connsiteY2-784" fmla="*/ 5516762 h 6370650"/>
              <a:gd name="connsiteX3-785" fmla="*/ 6688735 w 12214271"/>
              <a:gd name="connsiteY3-786" fmla="*/ 6108391 h 6370650"/>
              <a:gd name="connsiteX4-787" fmla="*/ 0 w 12214271"/>
              <a:gd name="connsiteY4-788" fmla="*/ 5413554 h 6370650"/>
              <a:gd name="connsiteX5-789" fmla="*/ 21879 w 12214271"/>
              <a:gd name="connsiteY5-790" fmla="*/ 0 h 6370650"/>
              <a:gd name="connsiteX0-791" fmla="*/ 21879 w 12214271"/>
              <a:gd name="connsiteY0-792" fmla="*/ 0 h 6366008"/>
              <a:gd name="connsiteX1-793" fmla="*/ 12213879 w 12214271"/>
              <a:gd name="connsiteY1-794" fmla="*/ 0 h 6366008"/>
              <a:gd name="connsiteX2-795" fmla="*/ 12198785 w 12214271"/>
              <a:gd name="connsiteY2-796" fmla="*/ 5477641 h 6366008"/>
              <a:gd name="connsiteX3-797" fmla="*/ 6688735 w 12214271"/>
              <a:gd name="connsiteY3-798" fmla="*/ 6108391 h 6366008"/>
              <a:gd name="connsiteX4-799" fmla="*/ 0 w 12214271"/>
              <a:gd name="connsiteY4-800" fmla="*/ 5413554 h 6366008"/>
              <a:gd name="connsiteX5-801" fmla="*/ 21879 w 12214271"/>
              <a:gd name="connsiteY5-802" fmla="*/ 0 h 6366008"/>
              <a:gd name="connsiteX0-803" fmla="*/ 21879 w 12214271"/>
              <a:gd name="connsiteY0-804" fmla="*/ 0 h 6372421"/>
              <a:gd name="connsiteX1-805" fmla="*/ 12213879 w 12214271"/>
              <a:gd name="connsiteY1-806" fmla="*/ 0 h 6372421"/>
              <a:gd name="connsiteX2-807" fmla="*/ 12198785 w 12214271"/>
              <a:gd name="connsiteY2-808" fmla="*/ 5477641 h 6372421"/>
              <a:gd name="connsiteX3-809" fmla="*/ 6688735 w 12214271"/>
              <a:gd name="connsiteY3-810" fmla="*/ 6108391 h 6372421"/>
              <a:gd name="connsiteX4-811" fmla="*/ 0 w 12214271"/>
              <a:gd name="connsiteY4-812" fmla="*/ 5413554 h 6372421"/>
              <a:gd name="connsiteX5-813" fmla="*/ 21879 w 12214271"/>
              <a:gd name="connsiteY5-814" fmla="*/ 0 h 6372421"/>
              <a:gd name="connsiteX0-815" fmla="*/ 21879 w 12214271"/>
              <a:gd name="connsiteY0-816" fmla="*/ 0 h 6388530"/>
              <a:gd name="connsiteX1-817" fmla="*/ 12213879 w 12214271"/>
              <a:gd name="connsiteY1-818" fmla="*/ 0 h 6388530"/>
              <a:gd name="connsiteX2-819" fmla="*/ 12198785 w 12214271"/>
              <a:gd name="connsiteY2-820" fmla="*/ 5477641 h 6388530"/>
              <a:gd name="connsiteX3-821" fmla="*/ 6688735 w 12214271"/>
              <a:gd name="connsiteY3-822" fmla="*/ 6108391 h 6388530"/>
              <a:gd name="connsiteX4-823" fmla="*/ 0 w 12214271"/>
              <a:gd name="connsiteY4-824" fmla="*/ 5413554 h 6388530"/>
              <a:gd name="connsiteX5-825" fmla="*/ 21879 w 12214271"/>
              <a:gd name="connsiteY5-826" fmla="*/ 0 h 6388530"/>
              <a:gd name="connsiteX0-827" fmla="*/ 21879 w 12214271"/>
              <a:gd name="connsiteY0-828" fmla="*/ 0 h 6234376"/>
              <a:gd name="connsiteX1-829" fmla="*/ 12213879 w 12214271"/>
              <a:gd name="connsiteY1-830" fmla="*/ 0 h 6234376"/>
              <a:gd name="connsiteX2-831" fmla="*/ 12198785 w 12214271"/>
              <a:gd name="connsiteY2-832" fmla="*/ 5477641 h 6234376"/>
              <a:gd name="connsiteX3-833" fmla="*/ 6688735 w 12214271"/>
              <a:gd name="connsiteY3-834" fmla="*/ 6108391 h 6234376"/>
              <a:gd name="connsiteX4-835" fmla="*/ 0 w 12214271"/>
              <a:gd name="connsiteY4-836" fmla="*/ 5413554 h 6234376"/>
              <a:gd name="connsiteX5-837" fmla="*/ 21879 w 12214271"/>
              <a:gd name="connsiteY5-838" fmla="*/ 0 h 6234376"/>
              <a:gd name="connsiteX0-839" fmla="*/ 21879 w 12214271"/>
              <a:gd name="connsiteY0-840" fmla="*/ 0 h 6278884"/>
              <a:gd name="connsiteX1-841" fmla="*/ 12213879 w 12214271"/>
              <a:gd name="connsiteY1-842" fmla="*/ 0 h 6278884"/>
              <a:gd name="connsiteX2-843" fmla="*/ 12198785 w 12214271"/>
              <a:gd name="connsiteY2-844" fmla="*/ 5477641 h 6278884"/>
              <a:gd name="connsiteX3-845" fmla="*/ 6688735 w 12214271"/>
              <a:gd name="connsiteY3-846" fmla="*/ 6108391 h 6278884"/>
              <a:gd name="connsiteX4-847" fmla="*/ 0 w 12214271"/>
              <a:gd name="connsiteY4-848" fmla="*/ 5413554 h 6278884"/>
              <a:gd name="connsiteX5-849" fmla="*/ 21879 w 12214271"/>
              <a:gd name="connsiteY5-850" fmla="*/ 0 h 6278884"/>
              <a:gd name="connsiteX0-851" fmla="*/ 21879 w 12214271"/>
              <a:gd name="connsiteY0-852" fmla="*/ 0 h 6298030"/>
              <a:gd name="connsiteX1-853" fmla="*/ 12213879 w 12214271"/>
              <a:gd name="connsiteY1-854" fmla="*/ 0 h 6298030"/>
              <a:gd name="connsiteX2-855" fmla="*/ 12198785 w 12214271"/>
              <a:gd name="connsiteY2-856" fmla="*/ 5477641 h 6298030"/>
              <a:gd name="connsiteX3-857" fmla="*/ 6688735 w 12214271"/>
              <a:gd name="connsiteY3-858" fmla="*/ 6108391 h 6298030"/>
              <a:gd name="connsiteX4-859" fmla="*/ 0 w 12214271"/>
              <a:gd name="connsiteY4-860" fmla="*/ 5413554 h 6298030"/>
              <a:gd name="connsiteX5-861" fmla="*/ 21879 w 12214271"/>
              <a:gd name="connsiteY5-862" fmla="*/ 0 h 6298030"/>
              <a:gd name="connsiteX0-863" fmla="*/ 21879 w 12214271"/>
              <a:gd name="connsiteY0-864" fmla="*/ 0 h 6321132"/>
              <a:gd name="connsiteX1-865" fmla="*/ 12213879 w 12214271"/>
              <a:gd name="connsiteY1-866" fmla="*/ 0 h 6321132"/>
              <a:gd name="connsiteX2-867" fmla="*/ 12198785 w 12214271"/>
              <a:gd name="connsiteY2-868" fmla="*/ 5477641 h 6321132"/>
              <a:gd name="connsiteX3-869" fmla="*/ 6688735 w 12214271"/>
              <a:gd name="connsiteY3-870" fmla="*/ 6108391 h 6321132"/>
              <a:gd name="connsiteX4-871" fmla="*/ 0 w 12214271"/>
              <a:gd name="connsiteY4-872" fmla="*/ 5413554 h 6321132"/>
              <a:gd name="connsiteX5-873" fmla="*/ 21879 w 12214271"/>
              <a:gd name="connsiteY5-874" fmla="*/ 0 h 6321132"/>
              <a:gd name="connsiteX0-875" fmla="*/ 21879 w 12214271"/>
              <a:gd name="connsiteY0-876" fmla="*/ 0 h 6430158"/>
              <a:gd name="connsiteX1-877" fmla="*/ 12213879 w 12214271"/>
              <a:gd name="connsiteY1-878" fmla="*/ 0 h 6430158"/>
              <a:gd name="connsiteX2-879" fmla="*/ 12198785 w 12214271"/>
              <a:gd name="connsiteY2-880" fmla="*/ 5477641 h 6430158"/>
              <a:gd name="connsiteX3-881" fmla="*/ 6688735 w 12214271"/>
              <a:gd name="connsiteY3-882" fmla="*/ 6108391 h 6430158"/>
              <a:gd name="connsiteX4-883" fmla="*/ 0 w 12214271"/>
              <a:gd name="connsiteY4-884" fmla="*/ 5413554 h 6430158"/>
              <a:gd name="connsiteX5-885" fmla="*/ 21879 w 12214271"/>
              <a:gd name="connsiteY5-886" fmla="*/ 0 h 6430158"/>
              <a:gd name="connsiteX0-887" fmla="*/ 21879 w 12214271"/>
              <a:gd name="connsiteY0-888" fmla="*/ 0 h 6446580"/>
              <a:gd name="connsiteX1-889" fmla="*/ 12213879 w 12214271"/>
              <a:gd name="connsiteY1-890" fmla="*/ 0 h 6446580"/>
              <a:gd name="connsiteX2-891" fmla="*/ 12198785 w 12214271"/>
              <a:gd name="connsiteY2-892" fmla="*/ 5477641 h 6446580"/>
              <a:gd name="connsiteX3-893" fmla="*/ 6688735 w 12214271"/>
              <a:gd name="connsiteY3-894" fmla="*/ 6108391 h 6446580"/>
              <a:gd name="connsiteX4-895" fmla="*/ 0 w 12214271"/>
              <a:gd name="connsiteY4-896" fmla="*/ 5413554 h 6446580"/>
              <a:gd name="connsiteX5-897" fmla="*/ 21879 w 12214271"/>
              <a:gd name="connsiteY5-898" fmla="*/ 0 h 6446580"/>
              <a:gd name="connsiteX0-899" fmla="*/ 0 w 12237750"/>
              <a:gd name="connsiteY0-900" fmla="*/ 0 h 6446578"/>
              <a:gd name="connsiteX1-901" fmla="*/ 12237358 w 12237750"/>
              <a:gd name="connsiteY1-902" fmla="*/ 0 h 6446578"/>
              <a:gd name="connsiteX2-903" fmla="*/ 12222264 w 12237750"/>
              <a:gd name="connsiteY2-904" fmla="*/ 5477641 h 6446578"/>
              <a:gd name="connsiteX3-905" fmla="*/ 6712214 w 12237750"/>
              <a:gd name="connsiteY3-906" fmla="*/ 6108391 h 6446578"/>
              <a:gd name="connsiteX4-907" fmla="*/ 23479 w 12237750"/>
              <a:gd name="connsiteY4-908" fmla="*/ 5413554 h 6446578"/>
              <a:gd name="connsiteX5-909" fmla="*/ 0 w 12237750"/>
              <a:gd name="connsiteY5-910" fmla="*/ 0 h 6446578"/>
            </a:gdLst>
            <a:ahLst/>
            <a:cxnLst/>
            <a:rect l="l" t="t" r="r" b="b"/>
            <a:pathLst>
              <a:path w="12237750" h="6446578">
                <a:moveTo>
                  <a:pt x="0" y="0"/>
                </a:moveTo>
                <a:lnTo>
                  <a:pt x="12237358" y="0"/>
                </a:lnTo>
                <a:cubicBezTo>
                  <a:pt x="12240944" y="1613647"/>
                  <a:pt x="12218678" y="3863994"/>
                  <a:pt x="12222264" y="5477641"/>
                </a:cubicBezTo>
                <a:cubicBezTo>
                  <a:pt x="11108841" y="5996303"/>
                  <a:pt x="9620405" y="6960188"/>
                  <a:pt x="6712214" y="6108391"/>
                </a:cubicBezTo>
                <a:cubicBezTo>
                  <a:pt x="2719545" y="5197917"/>
                  <a:pt x="2045917" y="5087239"/>
                  <a:pt x="23479" y="5413554"/>
                </a:cubicBez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88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证据与边界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我们选择什么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阶段结论：灰盒路线值得继续，但绝对 SLA 必须由业务真机闭环确认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性能不是 FLOPs÷峰值算力；shape、route、并行与调度会共同改写关键路径。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显式生成目标图，解析可解析的量，只在同机制区间内学习有界残差。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当前证据支持继续投资，不等于已经证明跨模型、跨卡、跨 runtime 通用。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1906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同一模型会因为 seqLen、batch、dtype、TP/PP/EP、卡数和 runtime 选择不同 op/fusion/tactic；只拟合 model→latency 会把离散路径跳变当连续规律。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400300"/>
            <a:ext cx="3476625" cy="14763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4003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4212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必须分层回答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686050"/>
            <a:ext cx="3324225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L1：目标配置到底执行什么？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L2：每个 compute/communication component 要多久？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L3：依赖、重叠、争用、队列如何形成端到端关键路径？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Output：绝对值、排序、区间、瓶颈与拒绝原因。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3962400"/>
            <a:ext cx="3476625" cy="2047875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39624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39833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当前决策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248150"/>
            <a:ext cx="3324225" cy="1704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 route-aware graybox：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exact measurement cache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route/tactic/fusion gate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tile/wave/roofline mechanism baseline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selective segmented residual calibration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OOD→microbenchmark fallback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L3 event simulation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暂不承诺业务 SLA、容量与成本数字。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3752850" y="1181100"/>
            <a:ext cx="3028950" cy="7620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3752850" y="11811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3819525" y="12020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→ L1 → L2 → L3 → Output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3829050" y="14668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问题合同 → 目标执行图 → component 报价与支持域 → 资源事件关键路径 → 绝对值/排序/区间/拒绝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2038350"/>
            <a:ext cx="3028950" cy="15811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20383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20593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的三层 fallback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2324100"/>
            <a:ext cx="28765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 精确命中：同 fingerprint 直接查实测。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 域内插值：同 route、同 dtype/layout、受控 shape 区间。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 机制残差：roofline/tile/wave × learned utilization/residual。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R3 拒绝实测：新 tactic、越界或不确定性过高。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3714750"/>
            <a:ext cx="3028950" cy="22955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37147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37357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五条工程原则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4000500"/>
            <a:ext cx="28765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能解析的不学：FLOPs、bytes、tiles、waves。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离散分支先分类：fusion/algorithm/tactic。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shape 显式推导：按目标配置生成，而非从旧 trace 猜。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目标匹配：ranking 用于 shortlist；绝对头用于 SLA。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数据闭环：校准只在有偏段触发，未知段直接回测。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metric"/>
          <p:cNvSpPr>
            <a:spLocks noGrp="1"/>
          </p:cNvSpPr>
          <p:nvPr/>
        </p:nvSpPr>
        <p:spPr>
          <a:xfrm>
            <a:off x="7162800" y="1200150"/>
            <a:ext cx="914400" cy="647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0" name="text"/>
          <p:cNvSpPr>
            <a:spLocks noGrp="1"/>
          </p:cNvSpPr>
          <p:nvPr/>
        </p:nvSpPr>
        <p:spPr>
          <a:xfrm>
            <a:off x="7200900" y="1247775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A36C7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A36C7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0.688%</a:t>
            </a:r>
            <a:endParaRPr sz="1275" b="1" i="0">
              <a:solidFill>
                <a:srgbClr val="A36C7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1" name="text"/>
          <p:cNvSpPr>
            <a:spLocks noGrp="1"/>
          </p:cNvSpPr>
          <p:nvPr/>
        </p:nvSpPr>
        <p:spPr>
          <a:xfrm>
            <a:off x="7200900" y="1562862"/>
            <a:ext cx="838200" cy="233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9487"/>
          </a:bodyPr>
          <a:lstStyle/>
          <a:p>
            <a:pPr algn="ctr">
              <a:def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NeuSight 单例 artifact APE</a:t>
            </a:r>
            <a:endParaRPr sz="58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metric"/>
          <p:cNvSpPr>
            <a:spLocks noGrp="1"/>
          </p:cNvSpPr>
          <p:nvPr/>
        </p:nvSpPr>
        <p:spPr>
          <a:xfrm>
            <a:off x="8172450" y="1200150"/>
            <a:ext cx="914400" cy="647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3" name="text"/>
          <p:cNvSpPr>
            <a:spLocks noGrp="1"/>
          </p:cNvSpPr>
          <p:nvPr/>
        </p:nvSpPr>
        <p:spPr>
          <a:xfrm>
            <a:off x="8210550" y="1247775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A36C7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A36C7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31.264%</a:t>
            </a:r>
            <a:endParaRPr sz="1275" b="1" i="0">
              <a:solidFill>
                <a:srgbClr val="A36C7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4" name="text"/>
          <p:cNvSpPr>
            <a:spLocks noGrp="1"/>
          </p:cNvSpPr>
          <p:nvPr/>
        </p:nvSpPr>
        <p:spPr>
          <a:xfrm>
            <a:off x="8210550" y="1562862"/>
            <a:ext cx="838200" cy="233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9487"/>
          </a:bodyPr>
          <a:lstStyle/>
          <a:p>
            <a:pPr algn="ctr">
              <a:def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opgraph 纯 Roofline APE</a:t>
            </a:r>
            <a:endParaRPr sz="58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5" name="metric"/>
          <p:cNvSpPr>
            <a:spLocks noGrp="1"/>
          </p:cNvSpPr>
          <p:nvPr/>
        </p:nvSpPr>
        <p:spPr>
          <a:xfrm>
            <a:off x="9182100" y="1200150"/>
            <a:ext cx="914400" cy="647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6" name="text"/>
          <p:cNvSpPr>
            <a:spLocks noGrp="1"/>
          </p:cNvSpPr>
          <p:nvPr/>
        </p:nvSpPr>
        <p:spPr>
          <a:xfrm>
            <a:off x="9220200" y="1247775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A36C7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A36C7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1,800</a:t>
            </a:r>
            <a:endParaRPr sz="1275" b="1" i="0">
              <a:solidFill>
                <a:srgbClr val="A36C7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7" name="text"/>
          <p:cNvSpPr>
            <a:spLocks noGrp="1"/>
          </p:cNvSpPr>
          <p:nvPr/>
        </p:nvSpPr>
        <p:spPr>
          <a:xfrm>
            <a:off x="9220200" y="1562862"/>
            <a:ext cx="838200" cy="233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灰盒校准 runs</a:t>
            </a:r>
            <a:endParaRPr sz="58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card"/>
          <p:cNvSpPr>
            <a:spLocks noGrp="1"/>
          </p:cNvSpPr>
          <p:nvPr/>
        </p:nvSpPr>
        <p:spPr>
          <a:xfrm>
            <a:off x="7143750" y="1943100"/>
            <a:ext cx="2981325" cy="13525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9" name="card-title-band"/>
          <p:cNvSpPr>
            <a:spLocks noGrp="1"/>
          </p:cNvSpPr>
          <p:nvPr/>
        </p:nvSpPr>
        <p:spPr>
          <a:xfrm>
            <a:off x="7143750" y="19431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0" name="text"/>
          <p:cNvSpPr>
            <a:spLocks noGrp="1"/>
          </p:cNvSpPr>
          <p:nvPr/>
        </p:nvSpPr>
        <p:spPr>
          <a:xfrm>
            <a:off x="7210425" y="19640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公开真测 CSV：少量分段校准有效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text"/>
          <p:cNvSpPr>
            <a:spLocks noGrp="1"/>
          </p:cNvSpPr>
          <p:nvPr/>
        </p:nvSpPr>
        <p:spPr>
          <a:xfrm>
            <a:off x="7219950" y="2228850"/>
            <a:ext cx="28289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条 coverage 样本后，always-segmented 相对 global calibration 的 MAPE 改善：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A100-80：18.35%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H100：23.97%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L4：18.98%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 selective gate 本轮未优于 always-segmented，复杂门禁尚未被证实。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card"/>
          <p:cNvSpPr>
            <a:spLocks noGrp="1"/>
          </p:cNvSpPr>
          <p:nvPr/>
        </p:nvSpPr>
        <p:spPr>
          <a:xfrm>
            <a:off x="7143750" y="3390900"/>
            <a:ext cx="2981325" cy="12382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3" name="card-title-band"/>
          <p:cNvSpPr>
            <a:spLocks noGrp="1"/>
          </p:cNvSpPr>
          <p:nvPr/>
        </p:nvSpPr>
        <p:spPr>
          <a:xfrm>
            <a:off x="7143750" y="33909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4" name="text"/>
          <p:cNvSpPr>
            <a:spLocks noGrp="1"/>
          </p:cNvSpPr>
          <p:nvPr/>
        </p:nvSpPr>
        <p:spPr>
          <a:xfrm>
            <a:off x="7210425" y="34118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关键反例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text"/>
          <p:cNvSpPr>
            <a:spLocks noGrp="1"/>
          </p:cNvSpPr>
          <p:nvPr/>
        </p:nvSpPr>
        <p:spPr>
          <a:xfrm>
            <a:off x="7219950" y="3676650"/>
            <a:ext cx="28289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H100 零样本 gray 19.14%，劣于 direct 15.45%；TPU cost model 在 manual OOD 上 learned 6.3%，反而差于 analytic 2.3%。机制先验不是自动胜出，必须同时有 route/OOD 判定。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6" name="card"/>
          <p:cNvSpPr>
            <a:spLocks noGrp="1"/>
          </p:cNvSpPr>
          <p:nvPr/>
        </p:nvSpPr>
        <p:spPr>
          <a:xfrm>
            <a:off x="7143750" y="4724400"/>
            <a:ext cx="2981325" cy="128587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7" name="card-title-band"/>
          <p:cNvSpPr>
            <a:spLocks noGrp="1"/>
          </p:cNvSpPr>
          <p:nvPr/>
        </p:nvSpPr>
        <p:spPr>
          <a:xfrm>
            <a:off x="7143750" y="47244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8" name="text"/>
          <p:cNvSpPr>
            <a:spLocks noGrp="1"/>
          </p:cNvSpPr>
          <p:nvPr/>
        </p:nvSpPr>
        <p:spPr>
          <a:xfrm>
            <a:off x="7210425" y="47453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真机/仿真 profiling 门禁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text"/>
          <p:cNvSpPr>
            <a:spLocks noGrp="1"/>
          </p:cNvSpPr>
          <p:nvPr/>
        </p:nvSpPr>
        <p:spPr>
          <a:xfrm>
            <a:off x="7219950" y="5010150"/>
            <a:ext cx="2828925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pair 是 8 rank vs 4 rank，phase 标注与 backward 证据冲突，workload/schedule 未记录。Stage 1.2017 只能用于定位，不能写成“仿真慢 20.17%”，也不能进入 timing 校准集。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0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一句话：灰盒不是“少量 ML”，而是把可解释结构、测量、学习与拒绝策略放到各自正确的位置。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输入如何改写图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为什么误差会放大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各并行维度的影响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外推难点不是单变量缩放，而是 shape—route—parallelism—system 的联动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 token、batch、dtype 和 runtime flag 都可能改变有效 shape、padding 与编译分支。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DP/TP/PP/EP 既改变每个 rank 的局部张量，也新增不同 collective 与同步点。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容量点附近，component 的小偏差会经排队、bubble 与最慢 rank 放大。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54" name="表格 453"/>
          <p:cNvGraphicFramePr/>
          <p:nvPr/>
        </p:nvGraphicFramePr>
        <p:xfrm>
          <a:off x="76200" y="1123950"/>
          <a:ext cx="3476625" cy="2047875"/>
        </p:xfrm>
        <a:graphic>
          <a:graphicData uri="http://schemas.openxmlformats.org/drawingml/2006/table">
            <a:tbl>
              <a:tblPr/>
              <a:tblGrid>
                <a:gridCol w="666750"/>
                <a:gridCol w="1476375"/>
                <a:gridCol w="1333500"/>
              </a:tblGrid>
              <a:tr h="409575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变量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L1 改变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L2 跳变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seqLen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Attention/KV/pad/bucket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tile/wave/tactic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batch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GEMM M、activation/KV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利用率/fusion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dtype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storage/layout/cast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Tensor Core 路由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runtime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fuse/guard/dispatch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kernel family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06" name="card"/>
          <p:cNvSpPr>
            <a:spLocks noGrp="1"/>
          </p:cNvSpPr>
          <p:nvPr/>
        </p:nvSpPr>
        <p:spPr>
          <a:xfrm>
            <a:off x="76200" y="3276600"/>
            <a:ext cx="3476625" cy="12573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7" name="card-title-band"/>
          <p:cNvSpPr>
            <a:spLocks noGrp="1"/>
          </p:cNvSpPr>
          <p:nvPr/>
        </p:nvSpPr>
        <p:spPr>
          <a:xfrm>
            <a:off x="76200" y="32766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8" name="text"/>
          <p:cNvSpPr>
            <a:spLocks noGrp="1"/>
          </p:cNvSpPr>
          <p:nvPr/>
        </p:nvSpPr>
        <p:spPr>
          <a:xfrm>
            <a:off x="142875" y="32975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变长输入的具体影响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text"/>
          <p:cNvSpPr>
            <a:spLocks noGrp="1"/>
          </p:cNvSpPr>
          <p:nvPr/>
        </p:nvSpPr>
        <p:spPr>
          <a:xfrm>
            <a:off x="152400" y="3562350"/>
            <a:ext cx="33242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 decode 中每个 request 的 context 长度不同：attention/KV 读取量随长度增长；continuous batching 又让同一 step 的 active batch 变化。需要保留 nominal seq、valid token、padded extent、bucket ID，而不是一个平均 seqLen。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card"/>
          <p:cNvSpPr>
            <a:spLocks noGrp="1"/>
          </p:cNvSpPr>
          <p:nvPr/>
        </p:nvSpPr>
        <p:spPr>
          <a:xfrm>
            <a:off x="76200" y="4629150"/>
            <a:ext cx="3476625" cy="13811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1" name="card-title-band"/>
          <p:cNvSpPr>
            <a:spLocks noGrp="1"/>
          </p:cNvSpPr>
          <p:nvPr/>
        </p:nvSpPr>
        <p:spPr>
          <a:xfrm>
            <a:off x="76200" y="46291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2" name="text"/>
          <p:cNvSpPr>
            <a:spLocks noGrp="1"/>
          </p:cNvSpPr>
          <p:nvPr/>
        </p:nvSpPr>
        <p:spPr>
          <a:xfrm>
            <a:off x="142875" y="46501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shape 不只是维度元组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text"/>
          <p:cNvSpPr>
            <a:spLocks noGrp="1"/>
          </p:cNvSpPr>
          <p:nvPr/>
        </p:nvSpPr>
        <p:spPr>
          <a:xfrm>
            <a:off x="152400" y="4914900"/>
            <a:ext cx="3324225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 [M,N,K] 还需 dtype、layout、stride、alignment、mask/sparsity、fusion context 与 selected tactic。仅以 shape 做 cache key 会把不同 kernel 错配成同一段。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63" name="表格 462"/>
          <p:cNvGraphicFramePr/>
          <p:nvPr/>
        </p:nvGraphicFramePr>
        <p:xfrm>
          <a:off x="3752850" y="1123950"/>
          <a:ext cx="3028950" cy="2047875"/>
        </p:xfrm>
        <a:graphic>
          <a:graphicData uri="http://schemas.openxmlformats.org/drawingml/2006/table">
            <a:tbl>
              <a:tblPr/>
              <a:tblGrid>
                <a:gridCol w="428625"/>
                <a:gridCol w="1266825"/>
                <a:gridCol w="1333500"/>
              </a:tblGrid>
              <a:tr h="409575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P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局部 shape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通信/系统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DP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local batch↓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梯度 AR/RS+AG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hidden/head/K/N shard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层内 AR/AG/RS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PP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每 rank 层集合不同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P2P + bubble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EP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token→expert 动态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AllToAll + 热点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15" name="card"/>
          <p:cNvSpPr>
            <a:spLocks noGrp="1"/>
          </p:cNvSpPr>
          <p:nvPr/>
        </p:nvSpPr>
        <p:spPr>
          <a:xfrm>
            <a:off x="3752850" y="3276600"/>
            <a:ext cx="3028950" cy="12954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6" name="card-title-band"/>
          <p:cNvSpPr>
            <a:spLocks noGrp="1"/>
          </p:cNvSpPr>
          <p:nvPr/>
        </p:nvSpPr>
        <p:spPr>
          <a:xfrm>
            <a:off x="3752850" y="32766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7" name="text"/>
          <p:cNvSpPr>
            <a:spLocks noGrp="1"/>
          </p:cNvSpPr>
          <p:nvPr/>
        </p:nvSpPr>
        <p:spPr>
          <a:xfrm>
            <a:off x="3819525" y="32975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乘积约束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text"/>
          <p:cNvSpPr>
            <a:spLocks noGrp="1"/>
          </p:cNvSpPr>
          <p:nvPr/>
        </p:nvSpPr>
        <p:spPr>
          <a:xfrm>
            <a:off x="3829050" y="3562350"/>
            <a:ext cx="28765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world size 通常满足 DP×TP×PP×EP×CP…，但物理 placement 也重要：相同逻辑坐标如果跨机边界不同，通信 bandwidth、latency 与共享链路争用会完全不同。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9" name="card"/>
          <p:cNvSpPr>
            <a:spLocks noGrp="1"/>
          </p:cNvSpPr>
          <p:nvPr/>
        </p:nvSpPr>
        <p:spPr>
          <a:xfrm>
            <a:off x="3752850" y="4667250"/>
            <a:ext cx="3028950" cy="13430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0" name="card-title-band"/>
          <p:cNvSpPr>
            <a:spLocks noGrp="1"/>
          </p:cNvSpPr>
          <p:nvPr/>
        </p:nvSpPr>
        <p:spPr>
          <a:xfrm>
            <a:off x="3752850" y="46672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1" name="text"/>
          <p:cNvSpPr>
            <a:spLocks noGrp="1"/>
          </p:cNvSpPr>
          <p:nvPr/>
        </p:nvSpPr>
        <p:spPr>
          <a:xfrm>
            <a:off x="3819525" y="46882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 的角色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text"/>
          <p:cNvSpPr>
            <a:spLocks noGrp="1"/>
          </p:cNvSpPr>
          <p:nvPr/>
        </p:nvSpPr>
        <p:spPr>
          <a:xfrm>
            <a:off x="3829050" y="4953000"/>
            <a:ext cx="28765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 是分布式进程身份，不是性能参数。性能取决于它的并行坐标、局部 graph/shape、所属 process group、邻接 peer 和拓扑位置。比较基本单元应是 per-rank canonical signature。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3" name="card"/>
          <p:cNvSpPr>
            <a:spLocks noGrp="1"/>
          </p:cNvSpPr>
          <p:nvPr/>
        </p:nvSpPr>
        <p:spPr>
          <a:xfrm>
            <a:off x="7143750" y="1123950"/>
            <a:ext cx="2981325" cy="10668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4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5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错误：不可由 L2 修复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text"/>
          <p:cNvSpPr>
            <a:spLocks noGrp="1"/>
          </p:cNvSpPr>
          <p:nvPr/>
        </p:nvSpPr>
        <p:spPr>
          <a:xfrm>
            <a:off x="7219950" y="1409700"/>
            <a:ext cx="2828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如果实际是 padded 400、valid 394，而仿真只记录 seqLen=400，或 8-rank 图被拿去对 4-rank 图，component 回归再准也预测的是另一个问题。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7" name="card"/>
          <p:cNvSpPr>
            <a:spLocks noGrp="1"/>
          </p:cNvSpPr>
          <p:nvPr/>
        </p:nvSpPr>
        <p:spPr>
          <a:xfrm>
            <a:off x="7143750" y="2286000"/>
            <a:ext cx="2981325" cy="10668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8" name="card-title-band"/>
          <p:cNvSpPr>
            <a:spLocks noGrp="1"/>
          </p:cNvSpPr>
          <p:nvPr/>
        </p:nvSpPr>
        <p:spPr>
          <a:xfrm>
            <a:off x="7143750" y="22860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9" name="text"/>
          <p:cNvSpPr>
            <a:spLocks noGrp="1"/>
          </p:cNvSpPr>
          <p:nvPr/>
        </p:nvSpPr>
        <p:spPr>
          <a:xfrm>
            <a:off x="7210425" y="23069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错误：离散 route 阶跃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text"/>
          <p:cNvSpPr>
            <a:spLocks noGrp="1"/>
          </p:cNvSpPr>
          <p:nvPr/>
        </p:nvSpPr>
        <p:spPr>
          <a:xfrm>
            <a:off x="7219950" y="2571750"/>
            <a:ext cx="2828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cuBLAS/cuDNN/编译器会在 shape、alignment、workspace、dtype 边界切 tactic。跨边界插值不是平滑误差，而是预测了错误 kernel。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1" name="card"/>
          <p:cNvSpPr>
            <a:spLocks noGrp="1"/>
          </p:cNvSpPr>
          <p:nvPr/>
        </p:nvSpPr>
        <p:spPr>
          <a:xfrm>
            <a:off x="7143750" y="3448050"/>
            <a:ext cx="2981325" cy="10668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2" name="card-title-band"/>
          <p:cNvSpPr>
            <a:spLocks noGrp="1"/>
          </p:cNvSpPr>
          <p:nvPr/>
        </p:nvSpPr>
        <p:spPr>
          <a:xfrm>
            <a:off x="7143750" y="34480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3" name="text"/>
          <p:cNvSpPr>
            <a:spLocks noGrp="1"/>
          </p:cNvSpPr>
          <p:nvPr/>
        </p:nvSpPr>
        <p:spPr>
          <a:xfrm>
            <a:off x="7210425" y="34690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放大：关键路径与排队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text"/>
          <p:cNvSpPr>
            <a:spLocks noGrp="1"/>
          </p:cNvSpPr>
          <p:nvPr/>
        </p:nvSpPr>
        <p:spPr>
          <a:xfrm>
            <a:off x="7219950" y="3733800"/>
            <a:ext cx="2828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通信与计算能否 overlap、共享 HBM/NIC 的程度、PP bubble、scheduler queue 和最慢 rank 共同决定 makespan；Σkernel latency 通常不等于 wall time。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5" name="card"/>
          <p:cNvSpPr>
            <a:spLocks noGrp="1"/>
          </p:cNvSpPr>
          <p:nvPr/>
        </p:nvSpPr>
        <p:spPr>
          <a:xfrm>
            <a:off x="7143750" y="4610100"/>
            <a:ext cx="2981325" cy="140017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6" name="card-title-band"/>
          <p:cNvSpPr>
            <a:spLocks noGrp="1"/>
          </p:cNvSpPr>
          <p:nvPr/>
        </p:nvSpPr>
        <p:spPr>
          <a:xfrm>
            <a:off x="7143750" y="46101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7" name="text"/>
          <p:cNvSpPr>
            <a:spLocks noGrp="1"/>
          </p:cNvSpPr>
          <p:nvPr/>
        </p:nvSpPr>
        <p:spPr>
          <a:xfrm>
            <a:off x="7210425" y="46310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外推所需最小输入合同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text"/>
          <p:cNvSpPr>
            <a:spLocks noGrp="1"/>
          </p:cNvSpPr>
          <p:nvPr/>
        </p:nvSpPr>
        <p:spPr>
          <a:xfrm>
            <a:off x="7219950" y="4895850"/>
            <a:ext cx="2828925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模型/图版本；phase；batch/token 分布；dtype/layout；并行度与 rank 坐标；节点/设备拓扑；runtime/compiler/driver flags；route/tactic 可观测性；scheduler 与 KV/内存策略。缺字段时输出应是“未知/拒绝”，不是 0。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9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40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所有外推都应先重新生成目标配置的 per-rank 图与 shape，再调用成本层；不能把旧 trace 的时长按卡数缩放。</a:t>
            </a:r>
            <a:endParaRPr sz="690" b="1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 rank 说清楚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8 卡例子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 / TP / PP / EP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 是进程身份；并行坐标与物理 placement 才决定它算什么、和谁通信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global/local/group rank 是三种编号；rank 本身不代表某一种并行方式。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每种 P 切不同的轴，修改不同的局部 shape、collective 和等待模式。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 8 卡可以有多种逻辑分解与跨机映射，性能含义完全不同。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1239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三种常见编号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 rank：整个 job 唯一。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rank：当前节点上的设备索引。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rank：某 process group 内的相对编号。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collective 只在对应 group 内发生。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343150"/>
            <a:ext cx="3476625" cy="16573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3431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3641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并行坐标示例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628900"/>
            <a:ext cx="332422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 5 可能同时是：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node=1, local_rank=1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DP=1, TP=1, PP=0, EP=0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它持有哪一段权重、接收哪个 microbatch、参加哪个 TP/DP group，均由这些坐标与 framework mapping 决定。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095750"/>
            <a:ext cx="3476625" cy="1914525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0957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1167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为什么分析必须 per-rank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381500"/>
            <a:ext cx="33242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shape：不同 stage/expert 可能不同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图：PP rank 的层集合不同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通信：group membership 不同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负载：MoE token 与数据样本不同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拓扑：跨机/同机链路不同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尾部：iteration 受最慢 rank 控制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因此不能只拿 rank0 代表整个集群。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83" name="表格 482"/>
          <p:cNvGraphicFramePr/>
          <p:nvPr/>
        </p:nvGraphicFramePr>
        <p:xfrm>
          <a:off x="3752850" y="1123950"/>
          <a:ext cx="3028950" cy="2095500"/>
        </p:xfrm>
        <a:graphic>
          <a:graphicData uri="http://schemas.openxmlformats.org/drawingml/2006/table">
            <a:tbl>
              <a:tblPr/>
              <a:tblGrid>
                <a:gridCol w="361950"/>
                <a:gridCol w="742950"/>
                <a:gridCol w="876300"/>
                <a:gridCol w="1047750"/>
              </a:tblGrid>
              <a:tr h="419100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轴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切分对象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主要收益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主要代价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DP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样本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吞吐扩展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梯度同步/全量权重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层内张量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单层可跨卡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高频 collective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PP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层/Stage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放下大模型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bubble/不均衡/P2P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EP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Experts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MoE 参数扩展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动态 AllToAll/热点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18" name="card"/>
          <p:cNvSpPr>
            <a:spLocks noGrp="1"/>
          </p:cNvSpPr>
          <p:nvPr/>
        </p:nvSpPr>
        <p:spPr>
          <a:xfrm>
            <a:off x="3752850" y="3314700"/>
            <a:ext cx="3028950" cy="12954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9" name="card-title-band"/>
          <p:cNvSpPr>
            <a:spLocks noGrp="1"/>
          </p:cNvSpPr>
          <p:nvPr/>
        </p:nvSpPr>
        <p:spPr>
          <a:xfrm>
            <a:off x="3752850" y="33147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0" name="text"/>
          <p:cNvSpPr>
            <a:spLocks noGrp="1"/>
          </p:cNvSpPr>
          <p:nvPr/>
        </p:nvSpPr>
        <p:spPr>
          <a:xfrm>
            <a:off x="3819525" y="33356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degree 变化的连锁反应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text"/>
          <p:cNvSpPr>
            <a:spLocks noGrp="1"/>
          </p:cNvSpPr>
          <p:nvPr/>
        </p:nvSpPr>
        <p:spPr>
          <a:xfrm>
            <a:off x="3829050" y="3600450"/>
            <a:ext cx="28765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并行度变化不是只把矩阵除以 P：会改变 shard divisibility、padding、kernel efficiency、通信消息大小/次数、显存、microbatch 数与 PP bubble。某些 shape 还会触发全新 tactic。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card"/>
          <p:cNvSpPr>
            <a:spLocks noGrp="1"/>
          </p:cNvSpPr>
          <p:nvPr/>
        </p:nvSpPr>
        <p:spPr>
          <a:xfrm>
            <a:off x="3752850" y="4705350"/>
            <a:ext cx="3028950" cy="13049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3" name="card-title-band"/>
          <p:cNvSpPr>
            <a:spLocks noGrp="1"/>
          </p:cNvSpPr>
          <p:nvPr/>
        </p:nvSpPr>
        <p:spPr>
          <a:xfrm>
            <a:off x="3752850" y="47053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4" name="text"/>
          <p:cNvSpPr>
            <a:spLocks noGrp="1"/>
          </p:cNvSpPr>
          <p:nvPr/>
        </p:nvSpPr>
        <p:spPr>
          <a:xfrm>
            <a:off x="3819525" y="47263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卡数与机数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text"/>
          <p:cNvSpPr>
            <a:spLocks noGrp="1"/>
          </p:cNvSpPr>
          <p:nvPr/>
        </p:nvSpPr>
        <p:spPr>
          <a:xfrm>
            <a:off x="3829050" y="4991100"/>
            <a:ext cx="287655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卡数决定 world size 与可选策略；机数决定哪些 collective 跨越 NIC。8 卡单机与 2×4 卡双机即使逻辑并行相同，也有不同的 α、β、共享链路和 tail。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text"/>
          <p:cNvSpPr>
            <a:spLocks noGrp="1"/>
          </p:cNvSpPr>
          <p:nvPr/>
        </p:nvSpPr>
        <p:spPr>
          <a:xfrm>
            <a:off x="7239000" y="11906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50"/>
          </a:bodyPr>
          <a:lstStyle/>
          <a:p>
            <a:pPr algn="ctr">
              <a:defRPr sz="56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0</a:t>
            </a:r>
            <a:endParaRPr sz="56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7" name="text"/>
          <p:cNvSpPr>
            <a:spLocks noGrp="1"/>
          </p:cNvSpPr>
          <p:nvPr/>
        </p:nvSpPr>
        <p:spPr>
          <a:xfrm>
            <a:off x="8791575" y="1190625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250"/>
          </a:bodyPr>
          <a:lstStyle/>
          <a:p>
            <a:pPr algn="ctr">
              <a:defRPr sz="56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1</a:t>
            </a:r>
            <a:endParaRPr sz="56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rank-box"/>
          <p:cNvSpPr>
            <a:spLocks noGrp="1"/>
          </p:cNvSpPr>
          <p:nvPr/>
        </p:nvSpPr>
        <p:spPr>
          <a:xfrm>
            <a:off x="7181850" y="144780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29" name="text"/>
          <p:cNvSpPr>
            <a:spLocks noGrp="1"/>
          </p:cNvSpPr>
          <p:nvPr/>
        </p:nvSpPr>
        <p:spPr>
          <a:xfrm>
            <a:off x="7219950" y="15049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0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rank-box"/>
          <p:cNvSpPr>
            <a:spLocks noGrp="1"/>
          </p:cNvSpPr>
          <p:nvPr/>
        </p:nvSpPr>
        <p:spPr>
          <a:xfrm>
            <a:off x="7886700" y="144780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7924800" y="15049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1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rank-box"/>
          <p:cNvSpPr>
            <a:spLocks noGrp="1"/>
          </p:cNvSpPr>
          <p:nvPr/>
        </p:nvSpPr>
        <p:spPr>
          <a:xfrm>
            <a:off x="7181850" y="196215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33" name="text"/>
          <p:cNvSpPr>
            <a:spLocks noGrp="1"/>
          </p:cNvSpPr>
          <p:nvPr/>
        </p:nvSpPr>
        <p:spPr>
          <a:xfrm>
            <a:off x="7219950" y="20193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2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rank-box"/>
          <p:cNvSpPr>
            <a:spLocks noGrp="1"/>
          </p:cNvSpPr>
          <p:nvPr/>
        </p:nvSpPr>
        <p:spPr>
          <a:xfrm>
            <a:off x="7886700" y="196215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7924800" y="20193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R3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3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rank-box"/>
          <p:cNvSpPr>
            <a:spLocks noGrp="1"/>
          </p:cNvSpPr>
          <p:nvPr/>
        </p:nvSpPr>
        <p:spPr>
          <a:xfrm>
            <a:off x="8734425" y="144780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37" name="text"/>
          <p:cNvSpPr>
            <a:spLocks noGrp="1"/>
          </p:cNvSpPr>
          <p:nvPr/>
        </p:nvSpPr>
        <p:spPr>
          <a:xfrm>
            <a:off x="8772525" y="15049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R4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0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rank-box"/>
          <p:cNvSpPr>
            <a:spLocks noGrp="1"/>
          </p:cNvSpPr>
          <p:nvPr/>
        </p:nvSpPr>
        <p:spPr>
          <a:xfrm>
            <a:off x="9439275" y="144780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9477375" y="15049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R5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1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rank-box"/>
          <p:cNvSpPr>
            <a:spLocks noGrp="1"/>
          </p:cNvSpPr>
          <p:nvPr/>
        </p:nvSpPr>
        <p:spPr>
          <a:xfrm>
            <a:off x="8734425" y="196215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41" name="text"/>
          <p:cNvSpPr>
            <a:spLocks noGrp="1"/>
          </p:cNvSpPr>
          <p:nvPr/>
        </p:nvSpPr>
        <p:spPr>
          <a:xfrm>
            <a:off x="8772525" y="20193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R6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2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rank-box"/>
          <p:cNvSpPr>
            <a:spLocks noGrp="1"/>
          </p:cNvSpPr>
          <p:nvPr/>
        </p:nvSpPr>
        <p:spPr>
          <a:xfrm>
            <a:off x="9439275" y="1962150"/>
            <a:ext cx="628650" cy="419100"/>
          </a:xfrm>
          <a:prstGeom prst="rect">
            <a:avLst/>
          </a:prstGeom>
          <a:solidFill>
            <a:srgbClr val="FFFFFF"/>
          </a:solidFill>
          <a:ln w="6668">
            <a:solidFill>
              <a:srgbClr val="A36C74"/>
            </a:solidFill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9477375" y="20193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R7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3</a:t>
            </a:r>
            <a:endParaRPr sz="525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card"/>
          <p:cNvSpPr>
            <a:spLocks noGrp="1"/>
          </p:cNvSpPr>
          <p:nvPr/>
        </p:nvSpPr>
        <p:spPr>
          <a:xfrm>
            <a:off x="7143750" y="2571750"/>
            <a:ext cx="2981325" cy="11049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5" name="card-title-band"/>
          <p:cNvSpPr>
            <a:spLocks noGrp="1"/>
          </p:cNvSpPr>
          <p:nvPr/>
        </p:nvSpPr>
        <p:spPr>
          <a:xfrm>
            <a:off x="7143750" y="25717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6" name="text"/>
          <p:cNvSpPr>
            <a:spLocks noGrp="1"/>
          </p:cNvSpPr>
          <p:nvPr/>
        </p:nvSpPr>
        <p:spPr>
          <a:xfrm>
            <a:off x="7210425" y="25927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A：DP=2, TP=4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7" name="text"/>
          <p:cNvSpPr>
            <a:spLocks noGrp="1"/>
          </p:cNvSpPr>
          <p:nvPr/>
        </p:nvSpPr>
        <p:spPr>
          <a:xfrm>
            <a:off x="7219950" y="285750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TP group 横跨 4 卡；DP group 连接两个副本。若按节点放置 TP，同一层 collective 留在高速本地链路；DP 梯度同步跨机。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card"/>
          <p:cNvSpPr>
            <a:spLocks noGrp="1"/>
          </p:cNvSpPr>
          <p:nvPr/>
        </p:nvSpPr>
        <p:spPr>
          <a:xfrm>
            <a:off x="7143750" y="3771900"/>
            <a:ext cx="2981325" cy="11049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9" name="card-title-band"/>
          <p:cNvSpPr>
            <a:spLocks noGrp="1"/>
          </p:cNvSpPr>
          <p:nvPr/>
        </p:nvSpPr>
        <p:spPr>
          <a:xfrm>
            <a:off x="7143750" y="37719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0" name="text"/>
          <p:cNvSpPr>
            <a:spLocks noGrp="1"/>
          </p:cNvSpPr>
          <p:nvPr/>
        </p:nvSpPr>
        <p:spPr>
          <a:xfrm>
            <a:off x="7210425" y="37928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B：DP=4, TP=2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1" name="text"/>
          <p:cNvSpPr>
            <a:spLocks noGrp="1"/>
          </p:cNvSpPr>
          <p:nvPr/>
        </p:nvSpPr>
        <p:spPr>
          <a:xfrm>
            <a:off x="7219950" y="405765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 GEMM shape、TP collective 的次数/大小和 DP group 数都改变。即使总卡数相同，L1/L2/L3 均不可复用 A 的结果。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card"/>
          <p:cNvSpPr>
            <a:spLocks noGrp="1"/>
          </p:cNvSpPr>
          <p:nvPr/>
        </p:nvSpPr>
        <p:spPr>
          <a:xfrm>
            <a:off x="7143750" y="4972050"/>
            <a:ext cx="2981325" cy="10382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3" name="card-title-band"/>
          <p:cNvSpPr>
            <a:spLocks noGrp="1"/>
          </p:cNvSpPr>
          <p:nvPr/>
        </p:nvSpPr>
        <p:spPr>
          <a:xfrm>
            <a:off x="7143750" y="49720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7210425" y="49930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比较时必须记录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5" name="text"/>
          <p:cNvSpPr>
            <a:spLocks noGrp="1"/>
          </p:cNvSpPr>
          <p:nvPr/>
        </p:nvSpPr>
        <p:spPr>
          <a:xfrm>
            <a:off x="7219950" y="5257800"/>
            <a:ext cx="28289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world size、node map、global/local rank、DP/TP/PP/EP/CP 坐标、process-group members、peer、link class，以及每 rank 的 graph/shape signature。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6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57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 是“谁”；parallel coordinate 是“负责什么”；topology placement 是“在什么链路上做”。三者缺一不可。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L1：要执行什么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L3：如何形成墙钟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L2：每一项多少钱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→ L1 → L2 → L3 → Output：cost model 只是“逐部件报价”，不是整个预测系统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从模型、workload、并行与 runtime 生成每个 rank 的 canonical execution graph。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compute/collective/copy 给出 latency、资源占用、置信区间和支持域。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按依赖与资源事件回放 overlap、争用、队列、pipeline 与最慢 rank。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171450" y="1123950"/>
            <a:ext cx="1788795" cy="6858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171450" y="1123950"/>
            <a:ext cx="178879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238125" y="1144905"/>
            <a:ext cx="165544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247650" y="1409700"/>
            <a:ext cx="163639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模型/图、phase、tokens、batch、dtype、P、拓扑、runtime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text"/>
          <p:cNvSpPr>
            <a:spLocks noGrp="1"/>
          </p:cNvSpPr>
          <p:nvPr/>
        </p:nvSpPr>
        <p:spPr>
          <a:xfrm>
            <a:off x="1969770" y="1343025"/>
            <a:ext cx="209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18297"/>
          </a:bodyPr>
          <a:lstStyle/>
          <a:p>
            <a:pPr algn="ctr">
              <a:def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5" b="1" i="0">
              <a:solidFill>
                <a:srgbClr val="877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card"/>
          <p:cNvSpPr>
            <a:spLocks noGrp="1"/>
          </p:cNvSpPr>
          <p:nvPr/>
        </p:nvSpPr>
        <p:spPr>
          <a:xfrm>
            <a:off x="2188845" y="1123950"/>
            <a:ext cx="1788795" cy="685800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1" name="card-title-band"/>
          <p:cNvSpPr>
            <a:spLocks noGrp="1"/>
          </p:cNvSpPr>
          <p:nvPr/>
        </p:nvSpPr>
        <p:spPr>
          <a:xfrm>
            <a:off x="2188845" y="1123950"/>
            <a:ext cx="1788795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2" name="text"/>
          <p:cNvSpPr>
            <a:spLocks noGrp="1"/>
          </p:cNvSpPr>
          <p:nvPr/>
        </p:nvSpPr>
        <p:spPr>
          <a:xfrm>
            <a:off x="2255520" y="1144905"/>
            <a:ext cx="165544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text"/>
          <p:cNvSpPr>
            <a:spLocks noGrp="1"/>
          </p:cNvSpPr>
          <p:nvPr/>
        </p:nvSpPr>
        <p:spPr>
          <a:xfrm>
            <a:off x="2265045" y="1409700"/>
            <a:ext cx="163639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014"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per-rank op/fusion/shape/shard/collective/resource edges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text"/>
          <p:cNvSpPr>
            <a:spLocks noGrp="1"/>
          </p:cNvSpPr>
          <p:nvPr/>
        </p:nvSpPr>
        <p:spPr>
          <a:xfrm>
            <a:off x="3987165" y="1343025"/>
            <a:ext cx="209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18297"/>
          </a:bodyPr>
          <a:lstStyle/>
          <a:p>
            <a:pPr algn="ctr">
              <a:def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5" b="1" i="0">
              <a:solidFill>
                <a:srgbClr val="877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5" name="card"/>
          <p:cNvSpPr>
            <a:spLocks noGrp="1"/>
          </p:cNvSpPr>
          <p:nvPr/>
        </p:nvSpPr>
        <p:spPr>
          <a:xfrm>
            <a:off x="4206240" y="1123950"/>
            <a:ext cx="1788795" cy="6858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6" name="card-title-band"/>
          <p:cNvSpPr>
            <a:spLocks noGrp="1"/>
          </p:cNvSpPr>
          <p:nvPr/>
        </p:nvSpPr>
        <p:spPr>
          <a:xfrm>
            <a:off x="4206240" y="1123950"/>
            <a:ext cx="1788795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7" name="text"/>
          <p:cNvSpPr>
            <a:spLocks noGrp="1"/>
          </p:cNvSpPr>
          <p:nvPr/>
        </p:nvSpPr>
        <p:spPr>
          <a:xfrm>
            <a:off x="4272915" y="1144905"/>
            <a:ext cx="165544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text"/>
          <p:cNvSpPr>
            <a:spLocks noGrp="1"/>
          </p:cNvSpPr>
          <p:nvPr/>
        </p:nvSpPr>
        <p:spPr>
          <a:xfrm>
            <a:off x="4282440" y="1409700"/>
            <a:ext cx="163639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component latency/resource/cost distribution/support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9" name="text"/>
          <p:cNvSpPr>
            <a:spLocks noGrp="1"/>
          </p:cNvSpPr>
          <p:nvPr/>
        </p:nvSpPr>
        <p:spPr>
          <a:xfrm>
            <a:off x="6004560" y="1343025"/>
            <a:ext cx="209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18297"/>
          </a:bodyPr>
          <a:lstStyle/>
          <a:p>
            <a:pPr algn="ctr">
              <a:def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5" b="1" i="0">
              <a:solidFill>
                <a:srgbClr val="877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card"/>
          <p:cNvSpPr>
            <a:spLocks noGrp="1"/>
          </p:cNvSpPr>
          <p:nvPr/>
        </p:nvSpPr>
        <p:spPr>
          <a:xfrm>
            <a:off x="6223635" y="1123950"/>
            <a:ext cx="1788795" cy="685800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1" name="card-title-band"/>
          <p:cNvSpPr>
            <a:spLocks noGrp="1"/>
          </p:cNvSpPr>
          <p:nvPr/>
        </p:nvSpPr>
        <p:spPr>
          <a:xfrm>
            <a:off x="6223635" y="1123950"/>
            <a:ext cx="1788795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2" name="text"/>
          <p:cNvSpPr>
            <a:spLocks noGrp="1"/>
          </p:cNvSpPr>
          <p:nvPr/>
        </p:nvSpPr>
        <p:spPr>
          <a:xfrm>
            <a:off x="6290310" y="1144905"/>
            <a:ext cx="165544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3" name="text"/>
          <p:cNvSpPr>
            <a:spLocks noGrp="1"/>
          </p:cNvSpPr>
          <p:nvPr/>
        </p:nvSpPr>
        <p:spPr>
          <a:xfrm>
            <a:off x="6299835" y="1409700"/>
            <a:ext cx="163639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streams/links/queues/overlap/critical path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8021955" y="1343025"/>
            <a:ext cx="209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18297"/>
          </a:bodyPr>
          <a:lstStyle/>
          <a:p>
            <a:pPr algn="ctr">
              <a:def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877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5" b="1" i="0">
              <a:solidFill>
                <a:srgbClr val="877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8241030" y="1123950"/>
            <a:ext cx="1788795" cy="6858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8241030" y="1123950"/>
            <a:ext cx="178879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8307705" y="1144905"/>
            <a:ext cx="165544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8317230" y="1409700"/>
            <a:ext cx="163639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latency/throughput/OOM/bottleneck/CI/reject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76200" y="2000250"/>
            <a:ext cx="3476625" cy="17145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76200" y="20002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142875" y="20212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的输出不是 layer 列表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152400" y="2286000"/>
            <a:ext cx="3324225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至少包含：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canonical logical op 与 phase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effective/padded local shape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dtype/layout/stride/fusion context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tensor lifetime / dependency edge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collective type/group/message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candidate or selected tactic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没有模型代码时只能用声明式模型规格、发布 opgraph 或人工 trace 近似。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76200" y="3810000"/>
            <a:ext cx="3476625" cy="22002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76200" y="38100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142875" y="38309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没有模型代码时能得出什么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152400" y="4095750"/>
            <a:ext cx="3324225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可以验证：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artifact 能否被 parser/predictor/event simulator 消费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论文公开 profile/label 上的数值对齐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component 公式与校准算法在公开真测 CSV 上是否有增益/反例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不能验证：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业务模型真实图/route/调度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目标 GPU/NPU 的 absolute ground truth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vLLM/SGLang/Transformers 版本下的 SLA 与容量。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3752850" y="2000250"/>
            <a:ext cx="3028950" cy="14954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3752850" y="20002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3819525" y="20212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Cost model 的查询键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3829050" y="2286000"/>
            <a:ext cx="2876550" cy="1152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operator/fusion/tactic + dtype/layout + full local shape + hardware microarchitecture + compiler/runtime/driver fingerprint + resource context。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输出应包含 p50/p95、bias/uncertainty、support distance 与 fallback 决策。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3752850" y="3590925"/>
            <a:ext cx="3028950" cy="11811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3752850" y="35909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3819525" y="36118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绝对头 vs 排序头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3829050" y="3876675"/>
            <a:ext cx="2876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 latency 头服务 SLA、容量、成本核算；ranking 头服务 compiler/autotuner top-K。ranking score 可以找候选，但没有校准毫秒语义。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3752850" y="4867275"/>
            <a:ext cx="3028950" cy="11430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3752850" y="486727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3819525" y="488823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三类模型的关系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3829050" y="5153025"/>
            <a:ext cx="28765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解析模型给下界/结构；学习模型吸收实现细节；实测提供事实锚点。灰盒不是二选一，而是让三者通过 route 与 support 域协同。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2000250"/>
            <a:ext cx="2981325" cy="13049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20002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20212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 Σcomponent 不够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2286000"/>
            <a:ext cx="28289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launch、多个 stream、collective、P2P、DMA、HBM/NIC 共享、PP bubble 与 scheduler queue 可以并发或争用。总墙钟取决于关键路径，而不是简单求和。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card"/>
          <p:cNvSpPr>
            <a:spLocks noGrp="1"/>
          </p:cNvSpPr>
          <p:nvPr/>
        </p:nvSpPr>
        <p:spPr>
          <a:xfrm>
            <a:off x="7143750" y="3400425"/>
            <a:ext cx="2981325" cy="130492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4" name="card-title-band"/>
          <p:cNvSpPr>
            <a:spLocks noGrp="1"/>
          </p:cNvSpPr>
          <p:nvPr/>
        </p:nvSpPr>
        <p:spPr>
          <a:xfrm>
            <a:off x="7143750" y="340042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5" name="text"/>
          <p:cNvSpPr>
            <a:spLocks noGrp="1"/>
          </p:cNvSpPr>
          <p:nvPr/>
        </p:nvSpPr>
        <p:spPr>
          <a:xfrm>
            <a:off x="7210425" y="342138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误差归因顺序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6" name="text"/>
          <p:cNvSpPr>
            <a:spLocks noGrp="1"/>
          </p:cNvSpPr>
          <p:nvPr/>
        </p:nvSpPr>
        <p:spPr>
          <a:xfrm>
            <a:off x="7219950" y="3686175"/>
            <a:ext cx="28289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Input/phase 是否同一任务？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L1 graph/shape/group 是否可比？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3) L2 component 的 route/单位/标签是否正确？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4) L3 overlap/queue/critical path 是否闭合？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不应先看总时长再倒推原因。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7" name="card"/>
          <p:cNvSpPr>
            <a:spLocks noGrp="1"/>
          </p:cNvSpPr>
          <p:nvPr/>
        </p:nvSpPr>
        <p:spPr>
          <a:xfrm>
            <a:off x="7143750" y="4800600"/>
            <a:ext cx="2981325" cy="12096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8" name="card-title-band"/>
          <p:cNvSpPr>
            <a:spLocks noGrp="1"/>
          </p:cNvSpPr>
          <p:nvPr/>
        </p:nvSpPr>
        <p:spPr>
          <a:xfrm>
            <a:off x="7143750" y="48006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9" name="text"/>
          <p:cNvSpPr>
            <a:spLocks noGrp="1"/>
          </p:cNvSpPr>
          <p:nvPr/>
        </p:nvSpPr>
        <p:spPr>
          <a:xfrm>
            <a:off x="7210425" y="48215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明确结论的证据门槛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0" name="text"/>
          <p:cNvSpPr>
            <a:spLocks noGrp="1"/>
          </p:cNvSpPr>
          <p:nvPr/>
        </p:nvSpPr>
        <p:spPr>
          <a:xfrm>
            <a:off x="7219950" y="5086350"/>
            <a:ext cx="282892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业务绝对结论需要：目标模型代码或等价可执行 IR；目标 runtime 配置；至少一个目标硬件 profile/ground truth；相同 workload/phase/topology；component 与 E2E 两级 holdout。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1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62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在没有 GPU/NPU 与模型代码的阶段，我们验证的是链路、机制和实验设计，不是业务性能本身。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已运行配置的 what-if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编译器候选筛选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部署前绝对性能规划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篇论文不是同一个回归问题：先分预测对象，再比较方法与数字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输入是已有 trace；重点是图、时钟与关键路径是否忠实。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输入是模型/策略/请求规格；必须生成目标 shape，并给出绝对 cost。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输入是 IR/schedule 候选；目标是少量真测预算下找到最快候选。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36207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Daydream · ATC'20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CUPTI trace→依赖图→图变换→回放。适合评估未实现优化；复用旧 task duration。BERT-Large AMP&lt;3%、fusion&lt;7% 是特例，跨模型完整口径约 13%。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581275"/>
            <a:ext cx="3476625" cy="13620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58127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60223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dPRO · MLSys'22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867025"/>
            <a:ext cx="3324225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rank trace 校时→全局 DFG→关键路径/组合优化。多数误差&lt;5%、最大5.6%；大规模实验相对 XLA 默认策略最高3.48×。必须采目标集群 trace；实证偏 DP/PS/AllReduce。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038600"/>
            <a:ext cx="3476625" cy="1971675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0386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0595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这一类回答什么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324350"/>
            <a:ext cx="332422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回答“已经跑过的基线如果改图/调度，会快多少？”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强项：Observed-L1、真实依赖、诊断与 what-if。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短板：新 shape、新 kernel、新 GPU 的 L2 外推不是其核心能力。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73.8% 是 dPRO 对 Daydream 的后测，不是 Daydream 自报。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58" name="表格 457"/>
          <p:cNvGraphicFramePr/>
          <p:nvPr/>
        </p:nvGraphicFramePr>
        <p:xfrm>
          <a:off x="3752850" y="1123950"/>
          <a:ext cx="3028950" cy="2905128"/>
        </p:xfrm>
        <a:graphic>
          <a:graphicData uri="http://schemas.openxmlformats.org/drawingml/2006/table">
            <a:tbl>
              <a:tblPr/>
              <a:tblGrid>
                <a:gridCol w="542925"/>
                <a:gridCol w="342900"/>
                <a:gridCol w="1200150"/>
                <a:gridCol w="942975"/>
              </a:tblGrid>
              <a:tr h="484188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论文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主层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核心机制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原始效果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Habitat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L2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wave scaling+MLP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6GPU/5模型 11.8%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nn-Meter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L1/L2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fusion探测+分kernel回归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benchmark 99.0/99.1/83.4；unseen 89.2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Proteus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L1/L3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Strategy Tree+HTAE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avg3.0%; max14.68%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Vidur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L1/L3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shape推导+profile+event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作者PDF&lt;9%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NeuSight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L2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tile/wave+roofline+util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9.7/7.3%; OOD8.1%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8" name="card"/>
          <p:cNvSpPr>
            <a:spLocks noGrp="1"/>
          </p:cNvSpPr>
          <p:nvPr/>
        </p:nvSpPr>
        <p:spPr>
          <a:xfrm>
            <a:off x="3752850" y="4124325"/>
            <a:ext cx="3028950" cy="18859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9" name="card-title-band"/>
          <p:cNvSpPr>
            <a:spLocks noGrp="1"/>
          </p:cNvSpPr>
          <p:nvPr/>
        </p:nvSpPr>
        <p:spPr>
          <a:xfrm>
            <a:off x="3752850" y="41243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0" name="text"/>
          <p:cNvSpPr>
            <a:spLocks noGrp="1"/>
          </p:cNvSpPr>
          <p:nvPr/>
        </p:nvSpPr>
        <p:spPr>
          <a:xfrm>
            <a:off x="3819525" y="41452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共同前提与差异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text"/>
          <p:cNvSpPr>
            <a:spLocks noGrp="1"/>
          </p:cNvSpPr>
          <p:nvPr/>
        </p:nvSpPr>
        <p:spPr>
          <a:xfrm>
            <a:off x="3829050" y="4410075"/>
            <a:ext cx="287655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共同点：需要明确目标 model/shape/hardware/runtime。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差异：Proteus/Vidur 重点生成系统图；Habitat/nn-Meter/NeuSight 重点 component cost。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不能直接横比 3%、9%、11.8%：数据、目标、指标和是否含通信/调度均不同。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63" name="表格 462"/>
          <p:cNvGraphicFramePr/>
          <p:nvPr/>
        </p:nvGraphicFramePr>
        <p:xfrm>
          <a:off x="7143750" y="1123950"/>
          <a:ext cx="2981325" cy="2343150"/>
        </p:xfrm>
        <a:graphic>
          <a:graphicData uri="http://schemas.openxmlformats.org/drawingml/2006/table">
            <a:tbl>
              <a:tblPr/>
              <a:tblGrid>
                <a:gridCol w="542925"/>
                <a:gridCol w="866775"/>
                <a:gridCol w="828675"/>
                <a:gridCol w="742950"/>
              </a:tblGrid>
              <a:tr h="468630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论文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A36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输入表示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A36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训练目标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A36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用途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A36C74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Ansor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program features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weighted MSE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搜索 top-K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TenSet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真测 tensor programs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MSE/ranking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预训练/迁移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TPU cost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XLA graph+tile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rank/log runtime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tile/fusion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TLP/MTL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schedule primitive序列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LambdaRank/MTL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跨硬件 warm start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23" name="card"/>
          <p:cNvSpPr>
            <a:spLocks noGrp="1"/>
          </p:cNvSpPr>
          <p:nvPr/>
        </p:nvSpPr>
        <p:spPr>
          <a:xfrm>
            <a:off x="7143750" y="3562350"/>
            <a:ext cx="2981325" cy="11620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4" name="card-title-band"/>
          <p:cNvSpPr>
            <a:spLocks noGrp="1"/>
          </p:cNvSpPr>
          <p:nvPr/>
        </p:nvSpPr>
        <p:spPr>
          <a:xfrm>
            <a:off x="7143750" y="35623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5" name="text"/>
          <p:cNvSpPr>
            <a:spLocks noGrp="1"/>
          </p:cNvSpPr>
          <p:nvPr/>
        </p:nvSpPr>
        <p:spPr>
          <a:xfrm>
            <a:off x="7210425" y="35833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成功标准不同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text"/>
          <p:cNvSpPr>
            <a:spLocks noGrp="1"/>
          </p:cNvSpPr>
          <p:nvPr/>
        </p:nvSpPr>
        <p:spPr>
          <a:xfrm>
            <a:off x="7219950" y="3848100"/>
            <a:ext cx="28289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这条线关心“测少量点能否找到更优 schedule”。Ansor/TenSet/TLP 的加速倍数是搜索时间或最终程序加速，不是 latency MAPE。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7" name="card"/>
          <p:cNvSpPr>
            <a:spLocks noGrp="1"/>
          </p:cNvSpPr>
          <p:nvPr/>
        </p:nvSpPr>
        <p:spPr>
          <a:xfrm>
            <a:off x="7143750" y="4819650"/>
            <a:ext cx="2981325" cy="119062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8" name="card-title-band"/>
          <p:cNvSpPr>
            <a:spLocks noGrp="1"/>
          </p:cNvSpPr>
          <p:nvPr/>
        </p:nvSpPr>
        <p:spPr>
          <a:xfrm>
            <a:off x="7143750" y="48196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9" name="text"/>
          <p:cNvSpPr>
            <a:spLocks noGrp="1"/>
          </p:cNvSpPr>
          <p:nvPr/>
        </p:nvSpPr>
        <p:spPr>
          <a:xfrm>
            <a:off x="7210425" y="48406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对灰盒的用途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text"/>
          <p:cNvSpPr>
            <a:spLocks noGrp="1"/>
          </p:cNvSpPr>
          <p:nvPr/>
        </p:nvSpPr>
        <p:spPr>
          <a:xfrm>
            <a:off x="7219950" y="5105400"/>
            <a:ext cx="2828925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compiler/tactic 候选生成与 ranking 作为 L2 的 shortlist；winner、绝对时延与 OOD 点仍需目标机测量。ranking head 不能直接接 SLA 输出。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1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32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先问 Observed/Generated、Absolute/Ranking、Interpolation/OOD；否则“精度”这个词没有可比含义。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Daydream：局部图回放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我们拿什么 / 不拿什么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dPRO：全局 DFG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系统线 I：性能预测首先是图和事件是否正确，其次才是 task duration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从已观测基线 trace 出发，用图变换评估尚未实现的优化。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把跨机器计算与细粒度通信校时、拼成可诊断的全局关键路径。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两者适合 observed configuration 的 what-if；不承担新硬件/新 shape 的 L2。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0001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背景与问题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Profiler 只能告诉你“当前哪里慢”，却不能直接回答 AMP、kernel fusion、通信合并等优化落地后 iteration 会快多少。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219325"/>
            <a:ext cx="3476625" cy="17907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2193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2402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 / 理论结构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505075"/>
            <a:ext cx="3324225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CUPTI 与 framework layer 映射构建 CPU/GPU/communication DAG；以 select / scale / insert / remove / schedule 作为图变换原语；按依赖最早就绪时间回放。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重要纠正：它不是“所有 task 串行”，而是允许 DAG 中可并发的 CPU、GPU、通信重叠；单 CUDA stream 是当时 workload 的经验观察。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105275"/>
            <a:ext cx="3476625" cy="101917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10527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12623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代表结果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391025"/>
            <a:ext cx="3324225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BERT-Large：AMP 改善预测误差 &lt;3%，kernel fusion &lt;7%；正文跨模型 AMP/FusedAdam 约在 13% 内。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5219700"/>
            <a:ext cx="3476625" cy="7905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52197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52406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5505450"/>
            <a:ext cx="33242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直接复用旧 task duration；新 shape、新 kernel、换卡或未生成的 TP/PP 图需要外部 cost/graph。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1123950"/>
            <a:ext cx="3028950" cy="10001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背景与问题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1409700"/>
            <a:ext cx="2876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 trace 有跨机时钟偏差；collective 粗事件掩盖 chunk/hop；多种优化会改变彼此收益，不能单独相加。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2219325"/>
            <a:ext cx="3028950" cy="18097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22193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22402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 / 理论结构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2505075"/>
            <a:ext cx="28765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DFG + 细粒度 SEND/RECV；用依赖约束做时钟对齐；对 worker/link 建 FIFO 资源队列；在全局关键路径上联合搜索 fusion、tensor partition、recomputation 与 communication 策略。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它没有“串行假设”；论文称可扩展到 model/pipeline parallel，但实证主要仍是 TF/MXNet、DP/PS/AllReduce。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3752850" y="4124325"/>
            <a:ext cx="3028950" cy="10001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3752850" y="41243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3819525" y="41452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代表结果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3829050" y="4410075"/>
            <a:ext cx="2876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多数预测误差 &lt;5%，128×V100 最大 5.6%；大规模实验相对 XLA 默认策略，组合优化最高 3.48×。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3752850" y="5219700"/>
            <a:ext cx="3028950" cy="7905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3752850" y="52197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3819525" y="52406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3829050" y="5505450"/>
            <a:ext cx="28765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必须在目标集群采 trace；适合诊断/校准，不是纯离线新硬件模型。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1123950"/>
            <a:ext cx="2981325" cy="11334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演进关系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1409700"/>
            <a:ext cx="282892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Daydream：一台/少量设备上的依赖图 what-if。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dPRO：跨 rank/机器的全局 DFG 与细通信。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共同核心不是更复杂的回归器，而是事件语义和资源约束更完整。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2352675"/>
            <a:ext cx="2981325" cy="111442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235267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237363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73.8% 的正确口径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2638425"/>
            <a:ext cx="28289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“大集群误差最高 73.8%”来自 dPRO 2022 对 Daydream 的后测比较，不是 Daydream 原论文自报；应作为跨规模/通信建模不足的后续证据。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7143750" y="3562350"/>
            <a:ext cx="2981325" cy="10953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7143750" y="35623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7210425" y="35833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纳入方案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7219950" y="3848100"/>
            <a:ext cx="28289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observed trace 作为 L1/L3 验证锚点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canonical graph + clock alignment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per-resource event queue / critical path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图变换用于优化 what-if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4752975"/>
            <a:ext cx="2981325" cy="12573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475297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477393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不直接照搬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5038725"/>
            <a:ext cx="28289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不把旧 kernel duration 当跨 shape/跨卡 cost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不用 scope 名称代替 concrete op/kernel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不把目标集群 trace 当离线外推能力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不把有限 DP 实证泛化为现代 TP/PP/EP/MoE 已验证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DAG 调度语义正确 ≠ 输入 task duration 正确；系统线必须与独立的 component cost 层组合。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Proteus：策略编译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共同启示与分界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Vidur：请求级事件模拟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系统线 II：从“回放已有图”走向“生成目标策略图与动态请求事件”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训练策略尚未部署时，从 Strategy Tree 编译 DP/TP/PP/ZeRO/recompute 执行图。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推理中 prefill/decode、KV、continuous batching 和 scheduler 共同决定 SLA。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显式生成是共同进步；但两者的 L2 仍依赖目标硬件 profile。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0001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解决的问题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在模型和并行策略尚未真正部署时，预测训练 iteration、显存与策略排序；不能先要求完整目标集群 trace。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219325"/>
            <a:ext cx="3476625" cy="19526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2193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2402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 / 理论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505075"/>
            <a:ext cx="3324225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Strategy Tree 统一表达 DP/TP/PP/ZeRO/recompute；编译 partition/layout transformation、collective 与 control edge；HTAE 模拟 topology、带宽共享、重叠和 tensor lifetime。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通信近似 T≈α+Bytes/β；profile 得到重叠增幅 γ，官方实现为 T=(1+γ)×Tbase。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267200"/>
            <a:ext cx="3476625" cy="8858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2672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2881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代表结果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552950"/>
            <a:ext cx="33242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180 个结果平均误差 3.0%，最大 14.68%；2 个 OOM 误判。策略排序仅 GPT-2 的有限候选组有证据，不是普遍保证。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5248275"/>
            <a:ext cx="3476625" cy="7620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524827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526923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关键短板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5534025"/>
            <a:ext cx="3324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 shape op cost 仍需目标硬件 microbenchmark；γ 需按模型+机器 profile；动态 MoE/变长有限。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1123950"/>
            <a:ext cx="3028950" cy="10001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解决的问题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1409700"/>
            <a:ext cx="28765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 LLM、GPU 池、TP、batch 与请求 trace，搜索部署配置、容量和 scheduler，不消耗数万 GPU 小时枚举。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2219325"/>
            <a:ext cx="3028950" cy="19526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22193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22402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 / 理论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2505075"/>
            <a:ext cx="287655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声明式模型规格推导分片 shape；把 token/attention/communication 分型；目标 GPU 少量 profile 后回归插值；三层 scheduler 做离散事件模拟。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attention 用 sqrt(Σp²) 表达 ragged batch；decode 以总 KV bytes 表达 memory work。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3752850" y="4267200"/>
            <a:ext cx="3028950" cy="8858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3752850" y="42672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3819525" y="42881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代表结果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3829050" y="4552950"/>
            <a:ext cx="28765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作者/微软 PDF 写 request latency &lt;9%；MLSys proceedings 摘要写 latency/throughput &lt;5%，版本口径不同。42K GPU h→约1 CPU h 仅 70B 特定搜索案例。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3752850" y="5248275"/>
            <a:ext cx="3028950" cy="7620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3752850" y="524827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3819525" y="526923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关键短板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3829050" y="5534025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需要每种目标 GPU profile；靠近 95% capacity 时误差放大；聚焦推理，不覆盖训练。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1123950"/>
            <a:ext cx="2981325" cy="11430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的两种动态性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1409700"/>
            <a:ext cx="28289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Proteus 主要生成并行训练策略图；Vidur 进一步生成随 request 状态变化的 batch、KV 与 scheduler events。静态一个 batch/seq 不能代表 serving 分布。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2362200"/>
            <a:ext cx="2981325" cy="11049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23622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23831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为什么系统误差会放大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264795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接近容量点时，service time 的小偏差会使 queue length 与尾时延非线性增长；训练中 stage imbalance 或通信误差会改变 PP bubble/critical path。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7143750" y="3562350"/>
            <a:ext cx="2981325" cy="11239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7143750" y="35623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7210425" y="35833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纳入方案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7219950" y="3848100"/>
            <a:ext cx="28289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目标配置→per-rank graph/shape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dynamic workload state distribution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tensor lifetime / OOM simulation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scheduler/event model 可插拔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L2 cost 作为独立接口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4781550"/>
            <a:ext cx="2981325" cy="122872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47815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48025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仍需真机验证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5067300"/>
            <a:ext cx="2828925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模型/runtime 版本变化会改变 graph、kernel 与 scheduler；目标 profile 插值远离采样区间不可靠。我们需要用 Transformers/vLLM/SGLang/训练框架的真实可执行图和目标卡重新闭环。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目标执行图必须显式生成；L1 不应从旧时长外推，L2 也不能被系统模拟器的高精度数字掩盖。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Habitat：机理缩放+分支学习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NeuSight：机制约束利用率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nn-Meter：先探测离散路径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Component 线：进步不在“更大 ML”，而在不断缩小 ML 的责任范围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同模型/shape 从源 GPU 外推目标 GPU；kernel-alike 与 kernel-varying 分开。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闭源 edge backend 先发现 fusion/kernel 规则，再在每条路径内自适应采样。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tile、wave、roofline 写进结构，学习 utilization 而不是裸 latency。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9620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背景与方法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kernel-alike 用 wave 数/实测带宽/时钟与 roofline-derived γ 外推；Conv/LSTM/BMM/Linear 等可能换 kernel 的算子用专属 MLP；最后按 op 求和。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181225"/>
            <a:ext cx="3476625" cy="12573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1812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2021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理论直觉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466975"/>
            <a:ext cx="33242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先以计算/内存瓶颈比 R=P/D 判断 scaling 区间，再用 γ 在目标 GPU 的 compute 与 memory scaling 间插值；如果实现路径会改变，则不相信单一 scaling 公式。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3533775"/>
            <a:ext cx="3476625" cy="9906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353377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355473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3819525"/>
            <a:ext cx="33242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GPU×5 模型平均误差 11.8%。NeuSight 后续按其数据重训的 OOD 测试给出 inference 220.9%、training 725.8%，不是 Habitat 原文结果。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4619625"/>
            <a:ext cx="3476625" cy="13906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46196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46405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 / 启示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4905375"/>
            <a:ext cx="33242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固定同一 batch/shape；不建模通信/多流。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继承：机制 route 分流。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不继承：无 support 边界的 latency MLP 与串行求和。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1123950"/>
            <a:ext cx="3028950" cy="9620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背景与方法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1409700"/>
            <a:ext cx="2876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pair/branch 小图探测 fusion 规则；DFS 合成实际 kernel；每个 kernel 建回归器；高误差 channel 邻域 [0.4C,1.2C] 继续采样。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2181225"/>
            <a:ext cx="3028950" cy="12573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21812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22021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核心贡献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2466975"/>
            <a:ext cx="28765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它把“会不会融合/选哪条 kernel 路径”当离散问题，而不是让一个连续回归器硬拟合阶跃；自适应采样聚焦 change point 附近。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3752850" y="3533775"/>
            <a:ext cx="3028950" cy="9906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3752850" y="353377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3819525" y="355473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3829050" y="3819525"/>
            <a:ext cx="2876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26K benchmark headline，±10%：移动 CPU 99.0%、GPU 99.1%、Intel VPU 83.4%；更严格 unseen-model k-fold 平均 89.2%。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3752850" y="4619625"/>
            <a:ext cx="3028950" cy="13906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3752850" y="46196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3819525" y="46405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 / 启示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3829050" y="4905375"/>
            <a:ext cx="2876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 edge CNN inference、近似串行 kernel；换设备/backend 要重探测和训练。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继承：route gate、边界采样、完整 fingerprint。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不泛化：服务端多流/LLM/训练。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1123950"/>
            <a:ext cx="2981325" cy="9620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背景与方法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1409700"/>
            <a:ext cx="28289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 tiles、waves 与 roofline peak；MLP 学不同 wave 下的 utilization 参数，再计算 latency。目标是 joint model+GPU OOD 时保持物理结构。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2181225"/>
            <a:ext cx="2981325" cy="12573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218122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220218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机制方程（概念）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2466975"/>
            <a:ext cx="28289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latency ≈ waves × tile_work ÷ [roofline_peak × utilization(features)]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注意：论文/代码的输出参数与特征实现存在不一致；更准确地说是 roofline 上限约束，而非严格双边钳制。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7143750" y="3533775"/>
            <a:ext cx="2981325" cy="9906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7143750" y="353377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7210425" y="355473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7219950" y="3819525"/>
            <a:ext cx="2828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inference 9.7%、training 7.3%、OOD GPU 8.1%；GPT-3/H100 单例：基线 121.4%/30.8%→2.3%。单例不能代表整体。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4619625"/>
            <a:ext cx="2981325" cy="13906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461962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464058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 / 启示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4905375"/>
            <a:ext cx="28289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 tile/grid/tactic 可获得；operator family/dtype 有限；新架构仍需适配。4-GPU 结果论文内部 5.4% vs 7.7% 口径不一致。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继承：tile/wave/roofline + 受上限约束的利用率；工程扩展：segment residual、route OOD 与实测 fallback。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推荐顺序：先判 kernel/tactic → 解析 tile/wave/roofline → 我们在同机制段学 residual → OOD 拒绝并实测。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Ansor：生成与搜索闭环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进入灰盒的位置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TenSet：离线真测题库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编译器线 I：ranking cost model 的目标是少测点找到好候选，不是直接报 SLA 毫秒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sketch+annotation 生成完整 tensor program，用 cost model shortlist，再上目标机回填。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把大规模真实 runtime、预训练与跨 task/hardware warm start 系统化。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ranking 适合 R2 top-K；winner 和绝对值仍回到 measurement cache。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9906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专家模板限制搜索空间；逐个实测候选过于昂贵；还要在多个 subgraph/task 间分配 measurement budget。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209800"/>
            <a:ext cx="3476625" cy="17049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2098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2307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495550"/>
            <a:ext cx="3324225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生成：sketch 定高层结构，annotation 完成 tile/unroll/vectorize/parallel。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搜索：GBDT 预测同一 task 内归一化 throughput，训练用 throughput-weighted squared error；遗传搜索挑候选。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闭环：目标机实测回填；task scheduler 分预算。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010025"/>
            <a:ext cx="3476625" cy="9334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0100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0309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效果口径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295775"/>
            <a:ext cx="33242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相对最好替代方案 E2E 最高 Intel 3.8×、ARM 2.6×、GPU 1.7×；BERT 达 AutoTVM 同质量的 wall time 少 45.1×。不是 latency MAPE。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5038725"/>
            <a:ext cx="3476625" cy="9715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50387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50596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纠错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5324475"/>
            <a:ext cx="33242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Ansor 原 cost model 不是 RankLoss，而是 GBDT + weighted MSE；输出是 task 内相对分数。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1123950"/>
            <a:ext cx="3028950" cy="9906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1409700"/>
            <a:ext cx="2876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缺统一、可复用的 tensor program 真测数据，导致每个硬件/任务都从零收集；cost model 难以公平比较。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2209800"/>
            <a:ext cx="3028950" cy="17049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22098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22307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2495550"/>
            <a:ext cx="2876550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52M 条真实 runtime（不同一手版本有小幅数量差异）；覆盖 6 类硬件、2,308 subgraphs 与 13,848 tasks；比较 MLP/XGBoost/LSTM 与 MSE/ranking；少量目标测量学习 local residual；top-3 再做 E2E 组合实测。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3752850" y="4010025"/>
            <a:ext cx="3028950" cy="9334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3752850" y="40100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3819525" y="40309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效果口径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3829050" y="4295775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MLP+LambdaRank 总体最好，但并非每个模型/top-k 都第一；达到同搜索质量最多快约 10×。数据含真实时延，ranking 输出本身才没有毫秒单位。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3752850" y="5038725"/>
            <a:ext cx="3028950" cy="9715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3752850" y="50387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3819525" y="50596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3829050" y="5324475"/>
            <a:ext cx="2876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 TVM/静态 inference；跨硬件仍需目标标签；局部 subgraph 最优之和不保证 E2E 最优。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1123950"/>
            <a:ext cx="2981325" cy="10477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我们采纳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1409700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candidate/schedule 生成器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ranking head 做 shortlist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真实 runtime 统一 schema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target-domain local residual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measurement budget / active loop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2266950"/>
            <a:ext cx="2981325" cy="10477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2266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2287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我们必须分开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2552700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ranking score：只保相对顺序。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absolute head：输出 ms + uncertainty。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E2E simulator：把多个 component/资源事件组合。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三者可共享表征，不能共享输出语义。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7143750" y="3409950"/>
            <a:ext cx="2981325" cy="11811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7143750" y="3409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7210425" y="3430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 local 最优不等于 E2E 最优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7219950" y="3695700"/>
            <a:ext cx="28289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 tactic 会影响 fusion、memory footprint、stream concurrency 与 graph schedule；单 op 快可能增加全图 memory/serialization。需要 top-K 在 L3 或真机上联合评估。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4686300"/>
            <a:ext cx="2981325" cy="132397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46863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47072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对灰盒的具体落点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4972050"/>
            <a:ext cx="282892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生成候选 route；L2 ranking 先筛；R0 cache 命中返回事实值；未命中 winner 做 microbenchmark；测量同时更新 absolute residual、ranking 与 support/OOD 统计。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搜索头与绝对头可以共享编码器，但最终 winner、域外点和容量数字必须回到目标机实测。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TPU cost model：图表征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灰盒的迁移策略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TLP / MTL-TLP：序列表征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编译器线 II：结构表征能提升迁移，但 OOD 时解析先验可能反而更可靠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GNN 编码 XLA kernel graph、shape/layout/tile；不同目标使用不同 loss。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TVM schedule primitive 当“语言”，attention+ranking，并共享多硬件 backbone。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结构表征用于 warm start；support 不足时回退 analytic/microbenchmark。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9715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问题与方法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XLA tile/fusion 候选巨大。GraphSAGE 编码 kernel graph、shape/layout/tile 与可选 FLOPs/bytes；tile 用 pairwise ranking，fusion 用 log-runtime MSE 后求和。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190750"/>
            <a:ext cx="3476625" cy="11715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1907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2117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关键反例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476500"/>
            <a:ext cx="332422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Tile-Size APE（选路后程序级 regret-like 指标）：随机 split learned 3.7% vs analytic 6.1%；manual OOD learned 6.3% vs analytic 2.3%。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fusion ≥5µs：runtime MAPE 4.5% vs 31.1%。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3457575"/>
            <a:ext cx="3476625" cy="10668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345757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347853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怎么理解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3743325"/>
            <a:ext cx="33242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学习模型能吸收编译器实现细节，但随机 split 的邻近分布优势不等于外推能力；域外结构时，手写机制先验可能更稳。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4619625"/>
            <a:ext cx="3476625" cy="13906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46196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46405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4905375"/>
            <a:ext cx="33242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强绑定 XLA/TPU；约 25M tile、208M fusion 样本；假设 kernel 串行；论文分别有 TPU v2/v3 测量，不证明 v2→v3 zero-shot。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1123950"/>
            <a:ext cx="3028950" cy="9715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问题与方法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1409700"/>
            <a:ext cx="2876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手工提取最终 program 特征耗时；新硬件标签不足。TLP 将 primitive type/id/参数序列输入 attention+LambdaRank；MTL 共享 backbone、每硬件独立 head，缺失 label 跳过 loss。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2190750"/>
            <a:ext cx="3028950" cy="11715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21907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22117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效果口径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2476500"/>
            <a:ext cx="28765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达到 TenSet-MLP 同质量：TLP 搜索时间 CPU 9.1×、GPU 3.0×；MTL-TLP 4.7×/2.9×。所谓 7% 目标数据仍约 500K 有标签记录，采集需几十小时。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3752850" y="3457575"/>
            <a:ext cx="3028950" cy="10668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3752850" y="345757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3819525" y="347853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怎么理解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3829050" y="3743325"/>
            <a:ext cx="2876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这是新硬件调优的 warm start，而不是 zero-shot。多任务共享减少目标域数据，但输出依然是候选排序，不是绝对 latency。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3752850" y="4619625"/>
            <a:ext cx="3028950" cy="13906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3752850" y="46196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3819525" y="46405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3829050" y="4905375"/>
            <a:ext cx="28765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 TVM schedule primitive/版本；未做 CPU↔GPU MTL；需要目标域标签；无系统级 L3。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1123950"/>
            <a:ext cx="2981325" cy="9906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迁移不等于无测量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1409700"/>
            <a:ext cx="2828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新硬件可以复用结构编码与共享 backbone，但必须预留少量目标标签或 discovery benchmark；否则无法确认 route、峰值、cache 与 runtime 差异。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2209800"/>
            <a:ext cx="2981325" cy="11049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22098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22307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灰盒的三种 domain 状态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249555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In-domain：learned residual。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Near-domain：analytic baseline + calibrated residual。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OOD：analytic bound 仅作初筛，winner/绝对值 microbenchmark。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状态由 feature support 与 route novelty 决定。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7143750" y="3409950"/>
            <a:ext cx="2981325" cy="12001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7143750" y="3409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7210425" y="3430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表征与目标解耦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7219950" y="3695700"/>
            <a:ext cx="28289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 graph/schedule encoder 可以接：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ranking head：候选 top-K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absolute head：log latency / utilization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uncertainty/OOD head：support distance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但需要分别校准与评估。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4705350"/>
            <a:ext cx="2981325" cy="130492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47053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47263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验证门槛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4991100"/>
            <a:ext cx="28289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必须使用严格 shape/route/hardware OOD split；随机 program split 仍可能让结构/shape 相近的程序分处 train/test，OOD 强度弱于 manual dissimilar split。报告 ranking、absolute MAPE、underprediction 与 fallback coverage。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TPU manual-OOD 反例说明：ML 与解析模型不是线性替代关系，真正稳健的是 support-aware 的组合。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图与 shape 契约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与证据契约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成本与测量契约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跨论文综合：不是“选一篇照抄”，而是把各路线的有效机制拼成工程契约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目标策略图必须生成；trace 只用于核对与校准。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先判 route，再在支持域内做解析+残差；未知点必须有 measurement fallback。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按资源事件形成关键路径，并明确证据等级与不可承诺项。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22669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四条规则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目标 graph/shape 显式生成：Proteus、Vidur。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baseline trace 作为 observed anchor：Daydream、dPRO。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per-rank signature 含 op/fusion/tactic/dtype/layout/full local shape/software/topology。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dynamic serving/MoE 使用 token/context/expert-load 分布，不用平均 batch。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图或 phase 不可信时停止端到端结论。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3486150"/>
            <a:ext cx="3476625" cy="25241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34861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35071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的 canonical schema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3771900"/>
            <a:ext cx="3324225" cy="2181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逻辑层：phase → module/op → tensor semantics。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实现层：fusion group → backend op → tactic/kernel。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张量层：nominal/valid/padded shape、dtype/layout/stride。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并行层：rank coordinates、group members、message bytes。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资源层：stream/device/link/dependency。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版本层：model commit、framework/compiler/runtime/driver。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3752850" y="1123950"/>
            <a:ext cx="3028950" cy="22669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R0–R3 路由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3829050" y="1409700"/>
            <a:ext cx="28765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 exact cache：同 fingerprint 真测。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 interpolation：同 route、域内 shape。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 gray residual：tile/wave/roofline × learned utilization/residual。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R3 OOD measurement：新 tactic、越界、uncertainty 高。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 latency+区间服务 SLA；ranking 服务 shortlist。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3752850" y="3486150"/>
            <a:ext cx="3028950" cy="25241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3752850" y="34861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3819525" y="35071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数据闭环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3829050" y="3771900"/>
            <a:ext cx="2876550" cy="2181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先探测 fusion/tactic 路由：nn-Meter。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边界主动采样：nn-Meter。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roofline 上限约束 utilization：NeuSight。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目标域 local residual：TenSet。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多任务 warm start：MTL-TLP。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winner 真测回填：Ansor/TenSet。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cache key 绑定软件/硬件/环境。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同时报告 coverage、fallback rate、P95 underprediction 和 segment correction。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7143750" y="1123950"/>
            <a:ext cx="2981325" cy="22669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系统与输出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7219950" y="1409700"/>
            <a:ext cx="28289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per-resource event queue 表达 stream/collective/link/KV/CPU。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overlap、争用、同步、queue、pipeline 不能默认 Σkernel。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输出：mean/P95/P99、throughput、OOM、bottleneck、CI/support、reject reason。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端到端误差需按 L1/L2/L3 逐层归因。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7143750" y="3486150"/>
            <a:ext cx="2981325" cy="11811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7143750" y="34861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7210425" y="35071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证据等级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7219950" y="3771900"/>
            <a:ext cx="28289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SM：链路冒烟。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AR：作者 artifact 数值对齐。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EX：公开真测数据上的新实验。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DX：profiling 诊断/门禁。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GT：目标模型+目标硬件 ground truth。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7143750" y="4762500"/>
            <a:ext cx="2981325" cy="12477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7143750" y="47625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7210425" y="47834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不能越级承诺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7219950" y="5048250"/>
            <a:ext cx="28289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没有模型代码/runtime/目标卡时，只能验证软件链路、公式与离线实验设计；不能承诺业务绝对值。没有同 workload/phase/topology 的 profiling pair，也不能把总时长比当仿真误差。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3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“硬编码→拟合→灰盒”是工程抽象，不是论文单线年代史；真正演进发生在 L1、L2、L3 与测量闭环四处。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 / kernel 层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对方案的落地含义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 / autotuning 层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工业共同范式：解析模型负责缩小搜索域，真测负责选 tactic 与版本化事实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OpenXLA、CUTLASS、nvMatmulHeuristics 都把 FLOPs/bytes/tile/launch 写进模型。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TensorRT、Triton、hipBLASLt 在显式 shape/algorithm 区间内实测并缓存。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工业实践支持“route-aware mechanism baseline + bounded calibration + exact cache”。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3716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OpenXLA GPU fusion cost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 FLOPs、DRAM/L2/shared 访问、launch dimensions 与 coalescing；解析各 component 后再用经验 overlap/throughput 系数组合，用于 fusion 决策而非通用 E2E SLA。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590800"/>
            <a:ext cx="3476625" cy="13716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5908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6117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CUTLASS / Matmul heuristics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876550"/>
            <a:ext cx="332422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显式枚举 CTA tile、warp tile、instruction tile、stages、cluster 与 split-K；依据 SM、shared memory、register、occupancy 与 wave 排候选。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057650"/>
            <a:ext cx="3476625" cy="1952625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0576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0786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共同特点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343400"/>
            <a:ext cx="3324225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预测对象是 tactic/config，不是 model 名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计算量与内存量可解析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离散实现选择显式存在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结构模型主要做 pruning/ranking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最终 winner 常需 benchmark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软件版本与设备规格是 cache fingerprint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3752850" y="1123950"/>
            <a:ext cx="3028950" cy="13716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TensorRT tactic timing cache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3829050" y="1409700"/>
            <a:ext cx="2876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builder 为具体 layer、shape、precision、format 枚举 tactic 并 timing；结果写入 timing cache。动态 shape 用 optimization profile 的 min/opt/max 管理，不把任意 shape 当连续域。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2590800"/>
            <a:ext cx="3028950" cy="13716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25908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26117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Triton / autotuning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2876550"/>
            <a:ext cx="2876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key 参数分区（如 M/N/K、dtype、layout）缓存最佳 config；候选由 program config 空间定义，真实运行计时选择。远离训练/调优区域并没有自动准确外推保证。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4057650"/>
            <a:ext cx="3028950" cy="19526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40576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40786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为什么“实测”仍然必要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4343400"/>
            <a:ext cx="287655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峰值规格不包含：编译器 codegen、memory coalescing、bank conflict、register spill、instruction mix、launch overhead、cache state、driver/library tactic 实现。解析模型能排除明显差方案，无法替代版本相关事实。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7143750" y="1123950"/>
            <a:ext cx="2981325" cy="12573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组件字段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7219950" y="1409700"/>
            <a:ext cx="28289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component signature = op/fusion + dtype/layout + full shape + route/tactic/tile + device arch + compiler/runtime/driver + resource mode。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7143750" y="2476500"/>
            <a:ext cx="2981325" cy="12573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7143750" y="24765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7210425" y="24974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分段变量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7219950" y="2762250"/>
            <a:ext cx="28289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优先使用机制段：route/fusion/tactic、arithmetic-intensity regime、waves/tail-fill、message bucket/topology class、prefill/decode/phase；避免仅按数值 shape 等宽分箱。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3829050"/>
            <a:ext cx="2981325" cy="10191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38290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38500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 microbenchmark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4114800"/>
            <a:ext cx="2828925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exact miss + route unseen；越过 optimization profile；support distance 高；uncertainty/underprediction risk 高；runtime/driver fingerprint 改变。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4943475"/>
            <a:ext cx="2981325" cy="10668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494347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496443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工程结果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5229225"/>
            <a:ext cx="2828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 不是训练集附属品，而是生产事实库；模型只负责扩大 cache 的覆盖范围。所有预测都携带 support 与 fallback reason。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6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工业系统普遍不是“解析或 ML 或实测”三选一，而是解析 shortlist → 少量真测 → 严格 fingerprint cache。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 / L1：问题定义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/ L4：系统与闭环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L2：成本路由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统一灰盒架构：L0–L4 把输入合同、目标图、component cost、系统事件和数据闭环解耦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没有完整输入合同就不生成“明确数字”；L1 输出 canonical per-rank graph。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exact cache 优先，机制域内插值，边界 top-K，域外实测。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事件模拟生成 E2E 输出；真测回填更新 cache、残差、门禁与采样策略。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1239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 输入合同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模型/IR 与 commit；训练/推理 phase；请求/token/batch 分布；dtype/layout；DP/TP/PP/EP/CP；node/device topology；framework/compiler/runtime/driver；scheduler/memory flags。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text"/>
          <p:cNvSpPr>
            <a:spLocks noGrp="1"/>
          </p:cNvSpPr>
          <p:nvPr/>
        </p:nvSpPr>
        <p:spPr>
          <a:xfrm>
            <a:off x="1628775" y="2266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ctr">
              <a:defRPr sz="1125" b="1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125" b="1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card"/>
          <p:cNvSpPr>
            <a:spLocks noGrp="1"/>
          </p:cNvSpPr>
          <p:nvPr/>
        </p:nvSpPr>
        <p:spPr>
          <a:xfrm>
            <a:off x="76200" y="2514600"/>
            <a:ext cx="3476625" cy="15906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1" name="card-title-band"/>
          <p:cNvSpPr>
            <a:spLocks noGrp="1"/>
          </p:cNvSpPr>
          <p:nvPr/>
        </p:nvSpPr>
        <p:spPr>
          <a:xfrm>
            <a:off x="76200" y="25146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2" name="text"/>
          <p:cNvSpPr>
            <a:spLocks noGrp="1"/>
          </p:cNvSpPr>
          <p:nvPr/>
        </p:nvSpPr>
        <p:spPr>
          <a:xfrm>
            <a:off x="142875" y="25355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目标执行图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text"/>
          <p:cNvSpPr>
            <a:spLocks noGrp="1"/>
          </p:cNvSpPr>
          <p:nvPr/>
        </p:nvSpPr>
        <p:spPr>
          <a:xfrm>
            <a:off x="152400" y="2800350"/>
            <a:ext cx="3324225" cy="1247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编译/展开每个 rank：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logical op → fusion group → backend route/tactic；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effective/padded local shape；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collective group/message；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stream/resource/dependency；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tensor lifetime 与 OOM 候选。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graph confidence 与不可解析字段。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card"/>
          <p:cNvSpPr>
            <a:spLocks noGrp="1"/>
          </p:cNvSpPr>
          <p:nvPr/>
        </p:nvSpPr>
        <p:spPr>
          <a:xfrm>
            <a:off x="76200" y="4200525"/>
            <a:ext cx="3476625" cy="1809750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5" name="card-title-band"/>
          <p:cNvSpPr>
            <a:spLocks noGrp="1"/>
          </p:cNvSpPr>
          <p:nvPr/>
        </p:nvSpPr>
        <p:spPr>
          <a:xfrm>
            <a:off x="76200" y="42005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6" name="text"/>
          <p:cNvSpPr>
            <a:spLocks noGrp="1"/>
          </p:cNvSpPr>
          <p:nvPr/>
        </p:nvSpPr>
        <p:spPr>
          <a:xfrm>
            <a:off x="142875" y="42214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门禁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text"/>
          <p:cNvSpPr>
            <a:spLocks noGrp="1"/>
          </p:cNvSpPr>
          <p:nvPr/>
        </p:nvSpPr>
        <p:spPr>
          <a:xfrm>
            <a:off x="152400" y="4486275"/>
            <a:ext cx="3324225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phase marker 与 op 证据一致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world size / parallel degrees 完整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rank coordinate / group 可重建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effective 与 padded shape 同时存在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operator abstraction 可 canonicalize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0 / missing / unmodeled 三态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失败：停止 timing comparison。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card"/>
          <p:cNvSpPr>
            <a:spLocks noGrp="1"/>
          </p:cNvSpPr>
          <p:nvPr/>
        </p:nvSpPr>
        <p:spPr>
          <a:xfrm>
            <a:off x="3752850" y="1123950"/>
            <a:ext cx="3028950" cy="895350"/>
          </a:xfrm>
          <a:prstGeom prst="rect">
            <a:avLst/>
          </a:prstGeom>
          <a:solidFill>
            <a:srgbClr val="E8F0EC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9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547F70"/>
          </a:solidFill>
          <a:ln w="0">
            <a:noFill/>
            <a:prstDash val="solid"/>
          </a:ln>
        </p:spPr>
      </p:sp>
      <p:sp>
        <p:nvSpPr>
          <p:cNvPr id="420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 Exact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text"/>
          <p:cNvSpPr>
            <a:spLocks noGrp="1"/>
          </p:cNvSpPr>
          <p:nvPr/>
        </p:nvSpPr>
        <p:spPr>
          <a:xfrm>
            <a:off x="3829050" y="1409700"/>
            <a:ext cx="2876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fingerprint 实测：直接返回分布/统计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card"/>
          <p:cNvSpPr>
            <a:spLocks noGrp="1"/>
          </p:cNvSpPr>
          <p:nvPr/>
        </p:nvSpPr>
        <p:spPr>
          <a:xfrm>
            <a:off x="3752850" y="2114550"/>
            <a:ext cx="3028950" cy="8953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3" name="card-title-band"/>
          <p:cNvSpPr>
            <a:spLocks noGrp="1"/>
          </p:cNvSpPr>
          <p:nvPr/>
        </p:nvSpPr>
        <p:spPr>
          <a:xfrm>
            <a:off x="3752850" y="21145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4" name="text"/>
          <p:cNvSpPr>
            <a:spLocks noGrp="1"/>
          </p:cNvSpPr>
          <p:nvPr/>
        </p:nvSpPr>
        <p:spPr>
          <a:xfrm>
            <a:off x="3819525" y="21355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 Interp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text"/>
          <p:cNvSpPr>
            <a:spLocks noGrp="1"/>
          </p:cNvSpPr>
          <p:nvPr/>
        </p:nvSpPr>
        <p:spPr>
          <a:xfrm>
            <a:off x="3829050" y="2400300"/>
            <a:ext cx="2876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route、域内 shape：分段插值/回归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card"/>
          <p:cNvSpPr>
            <a:spLocks noGrp="1"/>
          </p:cNvSpPr>
          <p:nvPr/>
        </p:nvSpPr>
        <p:spPr>
          <a:xfrm>
            <a:off x="3752850" y="3105150"/>
            <a:ext cx="3028950" cy="8953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7" name="card-title-band"/>
          <p:cNvSpPr>
            <a:spLocks noGrp="1"/>
          </p:cNvSpPr>
          <p:nvPr/>
        </p:nvSpPr>
        <p:spPr>
          <a:xfrm>
            <a:off x="3752850" y="3105150"/>
            <a:ext cx="3028950" cy="228600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28" name="text"/>
          <p:cNvSpPr>
            <a:spLocks noGrp="1"/>
          </p:cNvSpPr>
          <p:nvPr/>
        </p:nvSpPr>
        <p:spPr>
          <a:xfrm>
            <a:off x="3819525" y="31261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 Gray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text"/>
          <p:cNvSpPr>
            <a:spLocks noGrp="1"/>
          </p:cNvSpPr>
          <p:nvPr/>
        </p:nvSpPr>
        <p:spPr>
          <a:xfrm>
            <a:off x="3829050" y="3390900"/>
            <a:ext cx="2876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tile/wave/roofline + bounded residual + ranking top-K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card"/>
          <p:cNvSpPr>
            <a:spLocks noGrp="1"/>
          </p:cNvSpPr>
          <p:nvPr/>
        </p:nvSpPr>
        <p:spPr>
          <a:xfrm>
            <a:off x="3752850" y="4095750"/>
            <a:ext cx="3028950" cy="8953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1" name="card-title-band"/>
          <p:cNvSpPr>
            <a:spLocks noGrp="1"/>
          </p:cNvSpPr>
          <p:nvPr/>
        </p:nvSpPr>
        <p:spPr>
          <a:xfrm>
            <a:off x="3752850" y="4095750"/>
            <a:ext cx="3028950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2" name="text"/>
          <p:cNvSpPr>
            <a:spLocks noGrp="1"/>
          </p:cNvSpPr>
          <p:nvPr/>
        </p:nvSpPr>
        <p:spPr>
          <a:xfrm>
            <a:off x="3819525" y="41167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R3 Measure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text"/>
          <p:cNvSpPr>
            <a:spLocks noGrp="1"/>
          </p:cNvSpPr>
          <p:nvPr/>
        </p:nvSpPr>
        <p:spPr>
          <a:xfrm>
            <a:off x="3829050" y="4381500"/>
            <a:ext cx="2876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 route/越界/高风险：microbenchmark 回填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card"/>
          <p:cNvSpPr>
            <a:spLocks noGrp="1"/>
          </p:cNvSpPr>
          <p:nvPr/>
        </p:nvSpPr>
        <p:spPr>
          <a:xfrm>
            <a:off x="3752850" y="5086350"/>
            <a:ext cx="3028950" cy="9239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5" name="card-title-band"/>
          <p:cNvSpPr>
            <a:spLocks noGrp="1"/>
          </p:cNvSpPr>
          <p:nvPr/>
        </p:nvSpPr>
        <p:spPr>
          <a:xfrm>
            <a:off x="3752850" y="50863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6" name="text"/>
          <p:cNvSpPr>
            <a:spLocks noGrp="1"/>
          </p:cNvSpPr>
          <p:nvPr/>
        </p:nvSpPr>
        <p:spPr>
          <a:xfrm>
            <a:off x="3819525" y="51073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双输出头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text"/>
          <p:cNvSpPr>
            <a:spLocks noGrp="1"/>
          </p:cNvSpPr>
          <p:nvPr/>
        </p:nvSpPr>
        <p:spPr>
          <a:xfrm>
            <a:off x="3829050" y="5372100"/>
            <a:ext cx="2876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absolute head：ms/bytes/resource + CI。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ranking head：candidate score/top-K。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两者共享 signature/encoder，不共享校准语义。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card"/>
          <p:cNvSpPr>
            <a:spLocks noGrp="1"/>
          </p:cNvSpPr>
          <p:nvPr/>
        </p:nvSpPr>
        <p:spPr>
          <a:xfrm>
            <a:off x="7143750" y="1123950"/>
            <a:ext cx="2981325" cy="12573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9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0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事件模拟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text"/>
          <p:cNvSpPr>
            <a:spLocks noGrp="1"/>
          </p:cNvSpPr>
          <p:nvPr/>
        </p:nvSpPr>
        <p:spPr>
          <a:xfrm>
            <a:off x="7219950" y="1409700"/>
            <a:ext cx="28289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per-resource queues：CPU launch、GPU/NPU stream、DMA、HBM、collective group/link、KV cache、scheduler。按依赖 earliest-ready 与资源 availability 形成 critical path。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card"/>
          <p:cNvSpPr>
            <a:spLocks noGrp="1"/>
          </p:cNvSpPr>
          <p:nvPr/>
        </p:nvSpPr>
        <p:spPr>
          <a:xfrm>
            <a:off x="7143750" y="2476500"/>
            <a:ext cx="2981325" cy="11239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3" name="card-title-band"/>
          <p:cNvSpPr>
            <a:spLocks noGrp="1"/>
          </p:cNvSpPr>
          <p:nvPr/>
        </p:nvSpPr>
        <p:spPr>
          <a:xfrm>
            <a:off x="7143750" y="24765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4" name="text"/>
          <p:cNvSpPr>
            <a:spLocks noGrp="1"/>
          </p:cNvSpPr>
          <p:nvPr/>
        </p:nvSpPr>
        <p:spPr>
          <a:xfrm>
            <a:off x="7210425" y="24974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text"/>
          <p:cNvSpPr>
            <a:spLocks noGrp="1"/>
          </p:cNvSpPr>
          <p:nvPr/>
        </p:nvSpPr>
        <p:spPr>
          <a:xfrm>
            <a:off x="7219950" y="2762250"/>
            <a:ext cx="28289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iteration/request latency；TTFT/TBT/E2E；throughput/capacity；P95/P99；peak memory/OOM；bottleneck attribution；prediction interval；coverage/fallback。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6" name="card"/>
          <p:cNvSpPr>
            <a:spLocks noGrp="1"/>
          </p:cNvSpPr>
          <p:nvPr/>
        </p:nvSpPr>
        <p:spPr>
          <a:xfrm>
            <a:off x="7143750" y="3695700"/>
            <a:ext cx="2981325" cy="10763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7" name="card-title-band"/>
          <p:cNvSpPr>
            <a:spLocks noGrp="1"/>
          </p:cNvSpPr>
          <p:nvPr/>
        </p:nvSpPr>
        <p:spPr>
          <a:xfrm>
            <a:off x="7143750" y="36957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8" name="text"/>
          <p:cNvSpPr>
            <a:spLocks noGrp="1"/>
          </p:cNvSpPr>
          <p:nvPr/>
        </p:nvSpPr>
        <p:spPr>
          <a:xfrm>
            <a:off x="7210425" y="37166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 数据闭环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text"/>
          <p:cNvSpPr>
            <a:spLocks noGrp="1"/>
          </p:cNvSpPr>
          <p:nvPr/>
        </p:nvSpPr>
        <p:spPr>
          <a:xfrm>
            <a:off x="7219950" y="3981450"/>
            <a:ext cx="28289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prediction↔measurement 对齐；segment bias 检测；route change-point 采样；target-domain residual；cache/version invalidation；模型/门禁评估。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0" name="card"/>
          <p:cNvSpPr>
            <a:spLocks noGrp="1"/>
          </p:cNvSpPr>
          <p:nvPr/>
        </p:nvSpPr>
        <p:spPr>
          <a:xfrm>
            <a:off x="7143750" y="4867275"/>
            <a:ext cx="2981325" cy="11430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1" name="card-title-band"/>
          <p:cNvSpPr>
            <a:spLocks noGrp="1"/>
          </p:cNvSpPr>
          <p:nvPr/>
        </p:nvSpPr>
        <p:spPr>
          <a:xfrm>
            <a:off x="7143750" y="486727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2" name="text"/>
          <p:cNvSpPr>
            <a:spLocks noGrp="1"/>
          </p:cNvSpPr>
          <p:nvPr/>
        </p:nvSpPr>
        <p:spPr>
          <a:xfrm>
            <a:off x="7210425" y="488823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拒绝也是输出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text"/>
          <p:cNvSpPr>
            <a:spLocks noGrp="1"/>
          </p:cNvSpPr>
          <p:nvPr/>
        </p:nvSpPr>
        <p:spPr>
          <a:xfrm>
            <a:off x="7219950" y="5153025"/>
            <a:ext cx="28289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L1 不完整、route unseen、support 过低或 tail-underprediction 风险过高时，返回拒绝原因与最小测量建议；不生成伪精确数字。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4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55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架构的核心不是某个回归器，而是每层的输入/输出合同与失败语义都可被验证。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 / 张量语义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门禁与例子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 / 并行 / 版本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的关键产物是 canonical signature：把“同一个问题”定义到可比较、可缓存、可回放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先在逻辑层对齐 forward/backward/prefill/decode 和算子语义，再下钻 kernel。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route、tactic、rank group 与软件指纹决定 component cache 是否可复用。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signature 不完整时，两条 trace 的时长差没有可解释因果。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54" name="表格 453"/>
          <p:cNvGraphicFramePr/>
          <p:nvPr/>
        </p:nvGraphicFramePr>
        <p:xfrm>
          <a:off x="76200" y="1123950"/>
          <a:ext cx="3476625" cy="2362200"/>
        </p:xfrm>
        <a:graphic>
          <a:graphicData uri="http://schemas.openxmlformats.org/drawingml/2006/table">
            <a:tbl>
              <a:tblPr/>
              <a:tblGrid>
                <a:gridCol w="514350"/>
                <a:gridCol w="1533525"/>
                <a:gridCol w="1428750"/>
              </a:tblGrid>
              <a:tr h="472440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层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字段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为什么需要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Phase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train fwd/bwd/optim; prefill/decode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成本语义不同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Logical op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GEMM/attention/norm/collective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跨框架 canonical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Tensor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valid/padded shape,dtype,layout,stride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算法/bytes/route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Context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mask,sparsity,fusion,workspace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实现路径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06" name="card"/>
          <p:cNvSpPr>
            <a:spLocks noGrp="1"/>
          </p:cNvSpPr>
          <p:nvPr/>
        </p:nvSpPr>
        <p:spPr>
          <a:xfrm>
            <a:off x="76200" y="3581400"/>
            <a:ext cx="3476625" cy="117157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7" name="card-title-band"/>
          <p:cNvSpPr>
            <a:spLocks noGrp="1"/>
          </p:cNvSpPr>
          <p:nvPr/>
        </p:nvSpPr>
        <p:spPr>
          <a:xfrm>
            <a:off x="76200" y="35814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8" name="text"/>
          <p:cNvSpPr>
            <a:spLocks noGrp="1"/>
          </p:cNvSpPr>
          <p:nvPr/>
        </p:nvSpPr>
        <p:spPr>
          <a:xfrm>
            <a:off x="142875" y="36023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394 vs 400 的启示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text"/>
          <p:cNvSpPr>
            <a:spLocks noGrp="1"/>
          </p:cNvSpPr>
          <p:nvPr/>
        </p:nvSpPr>
        <p:spPr>
          <a:xfrm>
            <a:off x="152400" y="3867150"/>
            <a:ext cx="332422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profiling 中多处出现 394 与 400：可能是 valid token/vision token 与 padded bucket extent。L1 应同时保存 nominal seq、valid count、padded extent、mask/index 与 bucket ID。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card"/>
          <p:cNvSpPr>
            <a:spLocks noGrp="1"/>
          </p:cNvSpPr>
          <p:nvPr/>
        </p:nvSpPr>
        <p:spPr>
          <a:xfrm>
            <a:off x="76200" y="4848225"/>
            <a:ext cx="3476625" cy="11620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1" name="card-title-band"/>
          <p:cNvSpPr>
            <a:spLocks noGrp="1"/>
          </p:cNvSpPr>
          <p:nvPr/>
        </p:nvSpPr>
        <p:spPr>
          <a:xfrm>
            <a:off x="76200" y="48482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2" name="text"/>
          <p:cNvSpPr>
            <a:spLocks noGrp="1"/>
          </p:cNvSpPr>
          <p:nvPr/>
        </p:nvSpPr>
        <p:spPr>
          <a:xfrm>
            <a:off x="142875" y="48691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抽象层对齐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text"/>
          <p:cNvSpPr>
            <a:spLocks noGrp="1"/>
          </p:cNvSpPr>
          <p:nvPr/>
        </p:nvSpPr>
        <p:spPr>
          <a:xfrm>
            <a:off x="152400" y="5133975"/>
            <a:ext cx="33242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autograd scope（AddBackward0/CheckpointFunction）只作路径标签；concrete aten/op/kernel 才进入 component cost。逻辑 op 与 backend tactic 必须分层 join。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63" name="表格 462"/>
          <p:cNvGraphicFramePr/>
          <p:nvPr/>
        </p:nvGraphicFramePr>
        <p:xfrm>
          <a:off x="3752850" y="1123950"/>
          <a:ext cx="3028950" cy="2362200"/>
        </p:xfrm>
        <a:graphic>
          <a:graphicData uri="http://schemas.openxmlformats.org/drawingml/2006/table">
            <a:tbl>
              <a:tblPr/>
              <a:tblGrid>
                <a:gridCol w="619125"/>
                <a:gridCol w="2409825"/>
              </a:tblGrid>
              <a:tr h="393700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域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关键字段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Route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fusion group/backend op/tactic/kernel/tile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Parallel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global/local rank, DP/TP/PP/EP coords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Collective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type, members/axis, bytes, peer/topology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Resource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stream/device/link/memory space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Version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model/framework/compiler/runtime/driver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5" name="card"/>
          <p:cNvSpPr>
            <a:spLocks noGrp="1"/>
          </p:cNvSpPr>
          <p:nvPr/>
        </p:nvSpPr>
        <p:spPr>
          <a:xfrm>
            <a:off x="3752850" y="3581400"/>
            <a:ext cx="3028950" cy="117157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6" name="card-title-band"/>
          <p:cNvSpPr>
            <a:spLocks noGrp="1"/>
          </p:cNvSpPr>
          <p:nvPr/>
        </p:nvSpPr>
        <p:spPr>
          <a:xfrm>
            <a:off x="3752850" y="35814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7" name="text"/>
          <p:cNvSpPr>
            <a:spLocks noGrp="1"/>
          </p:cNvSpPr>
          <p:nvPr/>
        </p:nvSpPr>
        <p:spPr>
          <a:xfrm>
            <a:off x="3819525" y="36023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通信不能用 raw group handle join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text"/>
          <p:cNvSpPr>
            <a:spLocks noGrp="1"/>
          </p:cNvSpPr>
          <p:nvPr/>
        </p:nvSpPr>
        <p:spPr>
          <a:xfrm>
            <a:off x="3829050" y="3867150"/>
            <a:ext cx="28765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不同环境的 group handle 是本地运行时对象。应按 collective type + group members/parallel axis + message bucket 匹配；普通 tensor Broadcast 不能因名称含 broadcast 被归入 collective。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9" name="card"/>
          <p:cNvSpPr>
            <a:spLocks noGrp="1"/>
          </p:cNvSpPr>
          <p:nvPr/>
        </p:nvSpPr>
        <p:spPr>
          <a:xfrm>
            <a:off x="3752850" y="4848225"/>
            <a:ext cx="3028950" cy="11620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0" name="card-title-band"/>
          <p:cNvSpPr>
            <a:spLocks noGrp="1"/>
          </p:cNvSpPr>
          <p:nvPr/>
        </p:nvSpPr>
        <p:spPr>
          <a:xfrm>
            <a:off x="3752850" y="48482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1" name="text"/>
          <p:cNvSpPr>
            <a:spLocks noGrp="1"/>
          </p:cNvSpPr>
          <p:nvPr/>
        </p:nvSpPr>
        <p:spPr>
          <a:xfrm>
            <a:off x="3819525" y="48691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/ missing / unmodeled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text"/>
          <p:cNvSpPr>
            <a:spLocks noGrp="1"/>
          </p:cNvSpPr>
          <p:nvPr/>
        </p:nvSpPr>
        <p:spPr>
          <a:xfrm>
            <a:off x="3829050" y="5133975"/>
            <a:ext cx="2876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duration=0 可能是占位、字段缺失或未建模，不等于真实零成本。schema 必须三态编码并保留 units/provenance，否则 calibration 会吸收 parser 错误。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3" name="card"/>
          <p:cNvSpPr>
            <a:spLocks noGrp="1"/>
          </p:cNvSpPr>
          <p:nvPr/>
        </p:nvSpPr>
        <p:spPr>
          <a:xfrm>
            <a:off x="7143750" y="1123950"/>
            <a:ext cx="2981325" cy="9906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4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5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可比性 gate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text"/>
          <p:cNvSpPr>
            <a:spLocks noGrp="1"/>
          </p:cNvSpPr>
          <p:nvPr/>
        </p:nvSpPr>
        <p:spPr>
          <a:xfrm>
            <a:off x="7219950" y="1409700"/>
            <a:ext cx="2828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request/sample；明确 phase；同 topology/parallel coords；同 model/runtime flags；canonical op/collective join；units 与零值语义通过。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7" name="card"/>
          <p:cNvSpPr>
            <a:spLocks noGrp="1"/>
          </p:cNvSpPr>
          <p:nvPr/>
        </p:nvSpPr>
        <p:spPr>
          <a:xfrm>
            <a:off x="7143750" y="2209800"/>
            <a:ext cx="2981325" cy="100012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8" name="card-title-band"/>
          <p:cNvSpPr>
            <a:spLocks noGrp="1"/>
          </p:cNvSpPr>
          <p:nvPr/>
        </p:nvSpPr>
        <p:spPr>
          <a:xfrm>
            <a:off x="7143750" y="22098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9" name="text"/>
          <p:cNvSpPr>
            <a:spLocks noGrp="1"/>
          </p:cNvSpPr>
          <p:nvPr/>
        </p:nvSpPr>
        <p:spPr>
          <a:xfrm>
            <a:off x="7210425" y="22307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 key 例子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text"/>
          <p:cNvSpPr>
            <a:spLocks noGrp="1"/>
          </p:cNvSpPr>
          <p:nvPr/>
        </p:nvSpPr>
        <p:spPr>
          <a:xfrm>
            <a:off x="7219950" y="2495550"/>
            <a:ext cx="28289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05" b="0" i="0">
                <a:solidFill>
                  <a:srgbClr val="2D2D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linear|B=1,M=4096,N=11008,K=4096|bf16|row/col|XMMA_64×128|H100-SXM|CUDA12.4|cuBLAS12.x|clock-policy-X</a:t>
            </a:r>
            <a:endParaRPr sz="705" b="0" i="0">
              <a:solidFill>
                <a:srgbClr val="2D2D2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1" name="card"/>
          <p:cNvSpPr>
            <a:spLocks noGrp="1"/>
          </p:cNvSpPr>
          <p:nvPr/>
        </p:nvSpPr>
        <p:spPr>
          <a:xfrm>
            <a:off x="7143750" y="3305175"/>
            <a:ext cx="2981325" cy="12001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2" name="card-title-band"/>
          <p:cNvSpPr>
            <a:spLocks noGrp="1"/>
          </p:cNvSpPr>
          <p:nvPr/>
        </p:nvSpPr>
        <p:spPr>
          <a:xfrm>
            <a:off x="7143750" y="330517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3" name="text"/>
          <p:cNvSpPr>
            <a:spLocks noGrp="1"/>
          </p:cNvSpPr>
          <p:nvPr/>
        </p:nvSpPr>
        <p:spPr>
          <a:xfrm>
            <a:off x="7210425" y="332613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 confidence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text"/>
          <p:cNvSpPr>
            <a:spLocks noGrp="1"/>
          </p:cNvSpPr>
          <p:nvPr/>
        </p:nvSpPr>
        <p:spPr>
          <a:xfrm>
            <a:off x="7219950" y="3590925"/>
            <a:ext cx="28289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字段来源分为：compiler-derived、runtime-marker、profiler-observed、heuristic-inferred、unknown。端到端输出应携带最低 confidence；inferred/unknown 触发验证或拒绝。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5" name="card"/>
          <p:cNvSpPr>
            <a:spLocks noGrp="1"/>
          </p:cNvSpPr>
          <p:nvPr/>
        </p:nvSpPr>
        <p:spPr>
          <a:xfrm>
            <a:off x="7143750" y="4600575"/>
            <a:ext cx="2981325" cy="14097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6" name="card-title-band"/>
          <p:cNvSpPr>
            <a:spLocks noGrp="1"/>
          </p:cNvSpPr>
          <p:nvPr/>
        </p:nvSpPr>
        <p:spPr>
          <a:xfrm>
            <a:off x="7143750" y="460057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7" name="text"/>
          <p:cNvSpPr>
            <a:spLocks noGrp="1"/>
          </p:cNvSpPr>
          <p:nvPr/>
        </p:nvSpPr>
        <p:spPr>
          <a:xfrm>
            <a:off x="7210425" y="462153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 profiling pair 为什么未通过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text"/>
          <p:cNvSpPr>
            <a:spLocks noGrp="1"/>
          </p:cNvSpPr>
          <p:nvPr/>
        </p:nvSpPr>
        <p:spPr>
          <a:xfrm>
            <a:off x="7219950" y="4886325"/>
            <a:ext cx="28289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workload_id/schedule_id 两侧均 unrecorded；标注 decode 却出现 nll_loss_backward、FSDP pre_backward 与 attention grad；8 rank vs 4 rank；parallel degrees 未记录。它暴露 L1/可观测性缺口，而非 timing 精度。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9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40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signature 是测量、学习、缓存与仿真之间的公共主键；没有它，任何总时长对比都可能是在比较不同问题。</a:t>
            </a:r>
            <a:endParaRPr sz="690" b="1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 gate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风险、缓存与测量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机制残差与分段校准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成本层：先判离散 route，再决定 exact、插值、灰盒残差或 microbenchmark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算法/fusion/tactic 是类别变量；跨类别做连续插值会制造假规律。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解析工作量与物理结构，学习 log-residual/utilization；只在有偏段校准。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每次输出都附 support、uncertainty、coverage 与 fallback reason。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3811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route 特征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 family、dtype/layout/alignment、shape bucket、workspace、fusion context、compiler/runtime、kernel name/IR、tile/grid/block、architecture capability。生产中拿不到 post-kernel metadata 时需 route classifier 或 top-K benchmark。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600325"/>
            <a:ext cx="3476625" cy="13811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6003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6212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离散触发器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886075"/>
            <a:ext cx="3324225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algorithm family 变化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Tensor Core↔SIMT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fused↔unfused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attention implementation 变化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collective algorithm/protocol 变化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memory layout/cast 变化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compiler guard/graph break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076700"/>
            <a:ext cx="3476625" cy="1933575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0767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0976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 route 的默认动作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362450"/>
            <a:ext cx="3324225" cy="1590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 H100 source 没有 XMMA/CUTLASS 路由，而 target 大多数为 source-unseen route；零样本 gray 变差与此高度一致，但尚无 route ablation，不能写成确定因果。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工程策略：默认进入 top-K microbenchmark；阈值待 G3 真机验证后固化。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3752850" y="1123950"/>
            <a:ext cx="3028950" cy="13811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机制基线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3829050" y="1409700"/>
            <a:ext cx="287655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GEMM/attention/vec 分 family 解析 FLOPs、bytes、arithmetic intensity、tiles、waves、tail fill；roofline 给 peak/bound；模型学习 log(y/t_base) 或 utilization，避免裸 latency 无界外推。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2600325"/>
            <a:ext cx="3028950" cy="13811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26003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26212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预注册分段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2886075"/>
            <a:ext cx="287655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route/family；AI/roof ratio &lt;0.5、0.5–2、&gt;2；waves 1、2–4、5–16、&gt;16；message bucket/topology class；phase。分段阈值只来自 source 或无标签 target features，不能看 eval label 调整。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4076700"/>
            <a:ext cx="3028950" cy="193357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40767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40976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选择性校准规则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4362450"/>
            <a:ext cx="2876550" cy="1590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segment correction δ=median(log y−log p0)，以 MAD 估计不确定性；只有 n≥8 且偏差超过 5% 与统计阈值才修正，并做 shrinkage/backoff。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705"/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本轮探索中 selective 没有胜过 always-segmented，说明“复杂 gate 自动更好”尚未成立。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7143750" y="1123950"/>
            <a:ext cx="2981325" cy="12192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输出合同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7219950" y="1409700"/>
            <a:ext cx="28289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predicted latency/resource；P50/P95；signed bias；support distance；route novelty；underprediction risk；cache hit level；fallback action；model/data version。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7143750" y="2438400"/>
            <a:ext cx="2981325" cy="11239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7143750" y="24384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7210425" y="24593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缓存层级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7219950" y="2724150"/>
            <a:ext cx="28289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Exact：完整 fingerprint。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Family/segment：统计与 residual。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registry：训练数据、特征、公式、单位、seed、commit。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Measurement provenance：热身、重复次数、温度/频率。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3657600"/>
            <a:ext cx="2981325" cy="10953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36576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36785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采样策略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3943350"/>
            <a:ext cx="28289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边界点/change point；高业务频率；高不确定性；高 underprediction cost；top-K 候选；新 route。coverage sampler 若利用完整未来 candidate pool，属于 transductive，需单独披露。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4848225"/>
            <a:ext cx="2981325" cy="11620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484822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486918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5133975"/>
            <a:ext cx="28289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macro-MAPE、MdAPE/P95-APE、RMSLE、within10/20、signed bias、P95 underprediction、rank correlation；按 Device×OP 等权，并用 shape-cluster bootstrap CI。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46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的生产价值不只是把 MAPE 降低，而是知道哪些点可预测、哪些点必须测，以及低估风险多大。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事件与资源模型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信任合同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 / 推理动态性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系统级事件模拟：把 component 报价转成关键路径，并把不确定性传播到输出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事件只有在逻辑语义、依赖与资源归属正确时才可进入模拟器。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训练关注同步、pipeline、activation/optimizer；推理关注队列、KV、batching。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输出需要预算闭合、敏感性、coverage 和拒绝，不只是一条均值曲线。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6573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事件类型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CPU/framework launch；GPU/NPU compute kernel；DMA/H2D/D2H；collective 与 P2P；memory allocation/free；KV page/block；scheduler enqueue/dequeue；barrier/sync；pipeline send/recv。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876550"/>
            <a:ext cx="3476625" cy="14287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8765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8975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资源与约束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3162300"/>
            <a:ext cx="33242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dependency edge 决定 earliest-ready；stream/device/link/memory queue 决定 availability；共享 HBM/NIC 需要 bandwidth sharing；overlap 只在资源/依赖允许时发生。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4400550"/>
            <a:ext cx="3476625" cy="1609725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44005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44215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输出关键路径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686300"/>
            <a:ext cx="3324225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event 保存 start/end、blocked-by、resource、component estimate/version。最终不仅给 makespan，还输出 critical path、idle/bubble、comm wait/transit/sync、resource utilization 与误差来源。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3752850" y="1123950"/>
            <a:ext cx="3028950" cy="16573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3829050" y="1409700"/>
            <a:ext cx="28765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DP：梯度同步与最慢 rank。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TP：层内高频 collective。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PP：microbatch schedule、bubble、stage imbalance。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EP/MoE：token dispatch/combine、AllToAll、expert imbalance。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显存：activation、gradient、optimizer state、recompute。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2876550"/>
            <a:ext cx="3028950" cy="14287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28765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28975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3162300"/>
            <a:ext cx="2876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prefill/decode work 不同；每 request context/KV 不同；continuous batching 动态改变 active batch；scheduler、chunked prefill、KV eviction/preemption 与 admission 共同决定 TTFT/TBT。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4400550"/>
            <a:ext cx="3028950" cy="16097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44005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44215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容量点的误差传播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4686300"/>
            <a:ext cx="2876550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arrival rate 接近 service capacity，service time 小幅低估会显著低估 queueing latency 与 P95/P99；因此需要 component uncertainty propagation、stress points 和 underprediction risk，而非只报告平均 MAPE。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7143750" y="1123950"/>
            <a:ext cx="2981325" cy="11430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输入信任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7219950" y="1409700"/>
            <a:ext cx="28289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graph confidence；L2 support/route/cache level；workload/topology completeness；unit/provenance。任一关键输入未知时，端到端输出降级或拒绝。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7143750" y="2362200"/>
            <a:ext cx="2981325" cy="11430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7143750" y="23622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7210425" y="23831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预算闭合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7219950" y="2647950"/>
            <a:ext cx="28289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wall time 应与 compute/communication/idle/overlap 的语义一致；不能一边 Step Compute=0、一边存在大量 device duration；不能把缺失字段当真实 0。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3600450"/>
            <a:ext cx="2981325" cy="11430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36004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36214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敏感性与归因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3886200"/>
            <a:ext cx="28289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输出对 seq/batch/P/topology/scheduler 的局部敏感性；区分 graph error、component error、overlap/queue error；展示最可能改变决策的输入。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4838700"/>
            <a:ext cx="2981325" cy="117157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48387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48596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发布门槛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5124450"/>
            <a:ext cx="282892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至少一组目标模型+runtime+硬件 E2E holdout；component holdout；多 rank/topology；真实 request/token distribution；低估率与 P95；fallback 覆盖与成本。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6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不是把 L2 求和；它同时是系统模拟器、误差放大器和证据门禁的最后一道检查。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SM：链路冒烟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DX / GT：门禁与缺口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 / EX：数值证据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本地证据账本：四类实验回答四个不同问题，不能互相替代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验证发布 artifact/predictor/simulator 能在本机被正确消费，不验证目标硬件真值。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作者标签对齐与公开真测 CSV 实验提供可复算数字，但任务范围有限。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profiling 暴露输入/图/语义缺口；真正业务 ground truth 尚未完成。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57" name="表格 456"/>
          <p:cNvGraphicFramePr/>
          <p:nvPr/>
        </p:nvGraphicFramePr>
        <p:xfrm>
          <a:off x="76200" y="1123950"/>
          <a:ext cx="3476625" cy="1952625"/>
        </p:xfrm>
        <a:graphic>
          <a:graphicData uri="http://schemas.openxmlformats.org/drawingml/2006/table">
            <a:tbl>
              <a:tblPr/>
              <a:tblGrid>
                <a:gridCol w="704850"/>
                <a:gridCol w="1571625"/>
                <a:gridCol w="1200150"/>
              </a:tblGrid>
              <a:tr h="488156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实验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本机跑了什么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能证明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Vidur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A100发布profile+16请求event sim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动态链路可运行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nn-Meter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官方IR+16 predictors求和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fusion/kernel预测链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NeuSight train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CPU 1 epoch BMM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训练代码链路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6" name="card"/>
          <p:cNvSpPr>
            <a:spLocks noGrp="1"/>
          </p:cNvSpPr>
          <p:nvPr/>
        </p:nvSpPr>
        <p:spPr>
          <a:xfrm>
            <a:off x="76200" y="3171825"/>
            <a:ext cx="3476625" cy="13049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7" name="card-title-band"/>
          <p:cNvSpPr>
            <a:spLocks noGrp="1"/>
          </p:cNvSpPr>
          <p:nvPr/>
        </p:nvSpPr>
        <p:spPr>
          <a:xfrm>
            <a:off x="76200" y="31718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8" name="text"/>
          <p:cNvSpPr>
            <a:spLocks noGrp="1"/>
          </p:cNvSpPr>
          <p:nvPr/>
        </p:nvSpPr>
        <p:spPr>
          <a:xfrm>
            <a:off x="142875" y="31927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共同限制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text"/>
          <p:cNvSpPr>
            <a:spLocks noGrp="1"/>
          </p:cNvSpPr>
          <p:nvPr/>
        </p:nvSpPr>
        <p:spPr>
          <a:xfrm>
            <a:off x="152400" y="3457575"/>
            <a:ext cx="33242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本机无目标 NVIDIA/NPU；Vidur/nn-Meter/NeuSight 使用发布 profile/predictor/opgraph/label。它们不是论文整体复现，也没有重新采集目标硬件 ground truth。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card"/>
          <p:cNvSpPr>
            <a:spLocks noGrp="1"/>
          </p:cNvSpPr>
          <p:nvPr/>
        </p:nvSpPr>
        <p:spPr>
          <a:xfrm>
            <a:off x="76200" y="4572000"/>
            <a:ext cx="3476625" cy="14382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1" name="card-title-band"/>
          <p:cNvSpPr>
            <a:spLocks noGrp="1"/>
          </p:cNvSpPr>
          <p:nvPr/>
        </p:nvSpPr>
        <p:spPr>
          <a:xfrm>
            <a:off x="76200" y="45720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2" name="text"/>
          <p:cNvSpPr>
            <a:spLocks noGrp="1"/>
          </p:cNvSpPr>
          <p:nvPr/>
        </p:nvSpPr>
        <p:spPr>
          <a:xfrm>
            <a:off x="142875" y="45929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复现工程缺口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text"/>
          <p:cNvSpPr>
            <a:spLocks noGrp="1"/>
          </p:cNvSpPr>
          <p:nvPr/>
        </p:nvSpPr>
        <p:spPr>
          <a:xfrm>
            <a:off x="152400" y="4857750"/>
            <a:ext cx="33242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Vidur Python 版本偏离官方且缺完整 lock；nn-Meter predictor 在用户缓存并有旧 sklearn pickle 告警；NeuSight 首次 time-v 原始日志未落盘；Docker base 未 pin digest。现有数值可核对，但未来 rebuild 不保证 bitwise。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card"/>
          <p:cNvSpPr>
            <a:spLocks noGrp="1"/>
          </p:cNvSpPr>
          <p:nvPr/>
        </p:nvSpPr>
        <p:spPr>
          <a:xfrm>
            <a:off x="3752850" y="1123950"/>
            <a:ext cx="3028950" cy="12763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5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6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AR：NeuSight 单例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text"/>
          <p:cNvSpPr>
            <a:spLocks noGrp="1"/>
          </p:cNvSpPr>
          <p:nvPr/>
        </p:nvSpPr>
        <p:spPr>
          <a:xfrm>
            <a:off x="3829050" y="1409700"/>
            <a:ext cx="2876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GPT3-2.7B/H100、seq2048、batch2、inference；发布 opgraph+权重+label。local 预测 671.045786 ms，label 666.458325 ms，APE 0.688334%；与作者预测差 0.0000126 ms。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card"/>
          <p:cNvSpPr>
            <a:spLocks noGrp="1"/>
          </p:cNvSpPr>
          <p:nvPr/>
        </p:nvSpPr>
        <p:spPr>
          <a:xfrm>
            <a:off x="3752850" y="2495550"/>
            <a:ext cx="3028950" cy="16764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9" name="card-title-band"/>
          <p:cNvSpPr>
            <a:spLocks noGrp="1"/>
          </p:cNvSpPr>
          <p:nvPr/>
        </p:nvSpPr>
        <p:spPr>
          <a:xfrm>
            <a:off x="3752850" y="24955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0" name="text"/>
          <p:cNvSpPr>
            <a:spLocks noGrp="1"/>
          </p:cNvSpPr>
          <p:nvPr/>
        </p:nvSpPr>
        <p:spPr>
          <a:xfrm>
            <a:off x="3819525" y="25165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EX：公开真测 CSV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text"/>
          <p:cNvSpPr>
            <a:spLocks noGrp="1"/>
          </p:cNvSpPr>
          <p:nvPr/>
        </p:nvSpPr>
        <p:spPr>
          <a:xfrm>
            <a:off x="3829050" y="2781300"/>
            <a:ext cx="28765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NeuSight FP32 Linear/GEMM；source 32,224、5 GPU；target A100-80/H100/L4 各1,040；exact shape overlap=0；post-kernel metadata。比较 Roofline、direct absolute、gray residual 与 8–128 条目标校准，10 seeds，共 1,800 runs。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card"/>
          <p:cNvSpPr>
            <a:spLocks noGrp="1"/>
          </p:cNvSpPr>
          <p:nvPr/>
        </p:nvSpPr>
        <p:spPr>
          <a:xfrm>
            <a:off x="3752850" y="4267200"/>
            <a:ext cx="3028950" cy="174307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3" name="card-title-band"/>
          <p:cNvSpPr>
            <a:spLocks noGrp="1"/>
          </p:cNvSpPr>
          <p:nvPr/>
        </p:nvSpPr>
        <p:spPr>
          <a:xfrm>
            <a:off x="3752850" y="42672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4" name="text"/>
          <p:cNvSpPr>
            <a:spLocks noGrp="1"/>
          </p:cNvSpPr>
          <p:nvPr/>
        </p:nvSpPr>
        <p:spPr>
          <a:xfrm>
            <a:off x="3819525" y="42881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不能扩大的结论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text"/>
          <p:cNvSpPr>
            <a:spLocks noGrp="1"/>
          </p:cNvSpPr>
          <p:nvPr/>
        </p:nvSpPr>
        <p:spPr>
          <a:xfrm>
            <a:off x="3829050" y="4552950"/>
            <a:ext cx="2876550" cy="1400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 FP32 GEMM，不含 BF16/FP16、attention/fusion/conv/collective/服务调度；CSV 计时为 25 次排序后最快 5 次均值，近 best-case；post-kernel 使用 kernel/grid/block/tile/wave，不代表 production tactic selector。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card"/>
          <p:cNvSpPr>
            <a:spLocks noGrp="1"/>
          </p:cNvSpPr>
          <p:nvPr/>
        </p:nvSpPr>
        <p:spPr>
          <a:xfrm>
            <a:off x="7143750" y="1123950"/>
            <a:ext cx="2981325" cy="13525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7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28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DX：profiling compare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text"/>
          <p:cNvSpPr>
            <a:spLocks noGrp="1"/>
          </p:cNvSpPr>
          <p:nvPr/>
        </p:nvSpPr>
        <p:spPr>
          <a:xfrm>
            <a:off x="7219950" y="1409700"/>
            <a:ext cx="2828925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选定真机与仿真报告暴露 phase、world size、parallel degree、shape、通信 join、schema zero/missing 的问题；time-comparability gate 不通过，因此只用于诊断。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card"/>
          <p:cNvSpPr>
            <a:spLocks noGrp="1"/>
          </p:cNvSpPr>
          <p:nvPr/>
        </p:nvSpPr>
        <p:spPr>
          <a:xfrm>
            <a:off x="7143750" y="2571750"/>
            <a:ext cx="2981325" cy="11620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1" name="card-title-band"/>
          <p:cNvSpPr>
            <a:spLocks noGrp="1"/>
          </p:cNvSpPr>
          <p:nvPr/>
        </p:nvSpPr>
        <p:spPr>
          <a:xfrm>
            <a:off x="7143750" y="25717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2" name="text"/>
          <p:cNvSpPr>
            <a:spLocks noGrp="1"/>
          </p:cNvSpPr>
          <p:nvPr/>
        </p:nvSpPr>
        <p:spPr>
          <a:xfrm>
            <a:off x="7210425" y="25927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当前未完成的 GT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text"/>
          <p:cNvSpPr>
            <a:spLocks noGrp="1"/>
          </p:cNvSpPr>
          <p:nvPr/>
        </p:nvSpPr>
        <p:spPr>
          <a:xfrm>
            <a:off x="7219950" y="2857500"/>
            <a:ext cx="28289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业务模型代码/可执行 IR；Transformers/vLLM/SGLang 或训练 runtime 固定版本；目标 GPU/NPU；同 workload/phase/topology 的 component 与 E2E labels；多 rank/tail/容量点。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card"/>
          <p:cNvSpPr>
            <a:spLocks noGrp="1"/>
          </p:cNvSpPr>
          <p:nvPr/>
        </p:nvSpPr>
        <p:spPr>
          <a:xfrm>
            <a:off x="7143750" y="3829050"/>
            <a:ext cx="2981325" cy="10382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5" name="card-title-band"/>
          <p:cNvSpPr>
            <a:spLocks noGrp="1"/>
          </p:cNvSpPr>
          <p:nvPr/>
        </p:nvSpPr>
        <p:spPr>
          <a:xfrm>
            <a:off x="7143750" y="38290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6" name="text"/>
          <p:cNvSpPr>
            <a:spLocks noGrp="1"/>
          </p:cNvSpPr>
          <p:nvPr/>
        </p:nvSpPr>
        <p:spPr>
          <a:xfrm>
            <a:off x="7210425" y="38500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已支持的决策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text"/>
          <p:cNvSpPr>
            <a:spLocks noGrp="1"/>
          </p:cNvSpPr>
          <p:nvPr/>
        </p:nvSpPr>
        <p:spPr>
          <a:xfrm>
            <a:off x="7219950" y="4114800"/>
            <a:ext cx="28289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继续灰盒路线、建设 L1 输入合同与 component 数据闭环；用公开数据筛选实验假设；把新 route 与不可比 pair 设为工程拒绝条件。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card"/>
          <p:cNvSpPr>
            <a:spLocks noGrp="1"/>
          </p:cNvSpPr>
          <p:nvPr/>
        </p:nvSpPr>
        <p:spPr>
          <a:xfrm>
            <a:off x="7143750" y="4962525"/>
            <a:ext cx="2981325" cy="10477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9" name="card-title-band"/>
          <p:cNvSpPr>
            <a:spLocks noGrp="1"/>
          </p:cNvSpPr>
          <p:nvPr/>
        </p:nvSpPr>
        <p:spPr>
          <a:xfrm>
            <a:off x="7143750" y="496252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0" name="text"/>
          <p:cNvSpPr>
            <a:spLocks noGrp="1"/>
          </p:cNvSpPr>
          <p:nvPr/>
        </p:nvSpPr>
        <p:spPr>
          <a:xfrm>
            <a:off x="7210425" y="498348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尚不支持的决策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text"/>
          <p:cNvSpPr>
            <a:spLocks noGrp="1"/>
          </p:cNvSpPr>
          <p:nvPr/>
        </p:nvSpPr>
        <p:spPr>
          <a:xfrm>
            <a:off x="7219950" y="5248275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目标业务 SLA/容量/卡数采购；特定模型跨 GPU/NPU 的 absolute runtime；G3 OOD gate 的实际收益；现代 TP/PP/EP/MoE 全覆盖。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证据等级决定措辞：链路能跑 ≠ 数值准确；单例对齐 ≠ 整体复现；公开 CSV 增益 ≠ 业务部署收益。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Vidur event-sim smoke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如何解读这些数字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nn-Meter predictor smoke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本地链路实验：Vidur 验证动态事件流，nn-Meter 验证融合感知 component 求和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使用作者发布 A100 profiles，比较 TP1/TP2 的 16-request 小负载。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 MobileNetV3-Small IR 经融合规则与 16 个 kernel/fusion predictor 求和。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两者均无目标硬件真值；数字只说明发布链路在本机能运行。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24777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工作负载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LLaMA2-7B / A100 published profile；16 requests、2 QPS；256 prefill + 32 decode；batch cap 64、chunk 128；RF smoke 2-fold/50 trees/depth8；TP1 vs TP2。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64" name="表格 463"/>
          <p:cNvGraphicFramePr/>
          <p:nvPr/>
        </p:nvGraphicFramePr>
        <p:xfrm>
          <a:off x="76200" y="2466975"/>
          <a:ext cx="3476625" cy="2333628"/>
        </p:xfrm>
        <a:graphic>
          <a:graphicData uri="http://schemas.openxmlformats.org/drawingml/2006/table">
            <a:tbl>
              <a:tblPr/>
              <a:tblGrid>
                <a:gridCol w="1019175"/>
                <a:gridCol w="1228725"/>
                <a:gridCol w="1228725"/>
              </a:tblGrid>
              <a:tr h="388938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TP1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TP2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78AA5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TTFT mean / P95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38.41 / 53.82 ms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37.76 / 53.99 ms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E2E mean / P95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346.44 / 367.52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355.13 / 375.65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Schedule mean / P95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4.84 / 15.29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4.01 / 15.44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Batch events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319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316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Approx throughput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96.00 tok/s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95.81 tok/s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0" name="card"/>
          <p:cNvSpPr>
            <a:spLocks noGrp="1"/>
          </p:cNvSpPr>
          <p:nvPr/>
        </p:nvSpPr>
        <p:spPr>
          <a:xfrm>
            <a:off x="76200" y="4895850"/>
            <a:ext cx="3476625" cy="11144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1" name="card-title-band"/>
          <p:cNvSpPr>
            <a:spLocks noGrp="1"/>
          </p:cNvSpPr>
          <p:nvPr/>
        </p:nvSpPr>
        <p:spPr>
          <a:xfrm>
            <a:off x="76200" y="48958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2" name="text"/>
          <p:cNvSpPr>
            <a:spLocks noGrp="1"/>
          </p:cNvSpPr>
          <p:nvPr/>
        </p:nvSpPr>
        <p:spPr>
          <a:xfrm>
            <a:off x="142875" y="49168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text"/>
          <p:cNvSpPr>
            <a:spLocks noGrp="1"/>
          </p:cNvSpPr>
          <p:nvPr/>
        </p:nvSpPr>
        <p:spPr>
          <a:xfrm>
            <a:off x="152400" y="5181600"/>
            <a:ext cx="33242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该模拟配置中 TP2 mean E2E 比 TP1 高约 2.51%；模拟器包含的 all-reduce/launch 事件可能抵消部分分片收益。不能泛化为 TP2 总是更慢，也不能验证论文 &lt;9%。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card"/>
          <p:cNvSpPr>
            <a:spLocks noGrp="1"/>
          </p:cNvSpPr>
          <p:nvPr/>
        </p:nvSpPr>
        <p:spPr>
          <a:xfrm>
            <a:off x="3752850" y="1123950"/>
            <a:ext cx="3028950" cy="124777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5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16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输入与环境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text"/>
          <p:cNvSpPr>
            <a:spLocks noGrp="1"/>
          </p:cNvSpPr>
          <p:nvPr/>
        </p:nvSpPr>
        <p:spPr>
          <a:xfrm>
            <a:off x="3829050" y="1409700"/>
            <a:ext cx="28765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MobileNetV3-Small 官方 IR；cortexA76cpu_tflite21 v1.0 predictor；16 个 pkl kernel/fusion models；Python3.11、numpy1.26.4、scikit-learn1.2.2。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metric"/>
          <p:cNvSpPr>
            <a:spLocks noGrp="1"/>
          </p:cNvSpPr>
          <p:nvPr/>
        </p:nvSpPr>
        <p:spPr>
          <a:xfrm>
            <a:off x="3981450" y="2524125"/>
            <a:ext cx="2571750" cy="10001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4019550" y="2571750"/>
            <a:ext cx="2495550" cy="500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786E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786E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12.558943 ms</a:t>
            </a:r>
            <a:endParaRPr sz="1275" b="1" i="0">
              <a:solidFill>
                <a:srgbClr val="786E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4019550" y="3084195"/>
            <a:ext cx="249555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 predictor 的模型级时延输出</a:t>
            </a:r>
            <a:endParaRPr sz="58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3676650"/>
            <a:ext cx="3028950" cy="11239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36766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36976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3962400"/>
            <a:ext cx="2876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IR → fusion/kernel detection → per-kernel feature → predictor → latency sum。首次 predictor 约 376 MB 下载；解压缓存更大，且旧 sklearn pickle 在新环境有兼容告警。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4895850"/>
            <a:ext cx="3028950" cy="111442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48958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49168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5181600"/>
            <a:ext cx="28765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本机没有 Cortex-A76，无法判断 12.56 ms 是否准确；它只验证 nn-Meter 的 predictor 与 fusion-aware component sum 能在本机跑通。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7143750" y="1123950"/>
            <a:ext cx="2981325" cy="11239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能证明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7219950" y="1409700"/>
            <a:ext cx="28289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发布 artifact 可消费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L1→L2→L3 软件接口可运行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固定输入下结果可记录/复算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为后续替换 component model 提供 harness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7143750" y="2343150"/>
            <a:ext cx="2981325" cy="11239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7143750" y="23431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7210425" y="23641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不能证明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7219950" y="2628900"/>
            <a:ext cx="28289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A100/Cortex 真机 accuracy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新模型/新 shape 泛化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业务 runtime 的 fusion/tactic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多流/collective/服务容量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论文总体误差口径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3562350"/>
            <a:ext cx="2981325" cy="11430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35623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35833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为什么仍有价值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3848100"/>
            <a:ext cx="28289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它们把两个不同层面的最小可执行链路固定下来：Vidur 用发布 component profile 驱动 L3；nn-Meter 用发布 fusion/kernel predictor 实现 L2。后续可以替换输入与 labels，而不从零搭框架。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4800600"/>
            <a:ext cx="2981325" cy="120967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48006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48215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下一步升级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5086350"/>
            <a:ext cx="282892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Vidur：换成业务请求 trace、runtime scheduler 与目标 GPU profile。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nn-Meter：换成服务端 GEMM/attention/collective component，加入并发与 L3。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两者都需 GT holdout。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6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Smoke test 的正确结论是“链路具备可替换性”，不是“模型精度已复现”。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AR：GPT3/H100 单例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反例如何改变方案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EX：strict shape-OOD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NeuSight：发布 artifact 输出对齐至 1.26×10⁻⁵ ms，但 zero-shot 仍有 H100 反例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 opgraph、权重和 label 在 WSL CPU 上重放，确认实现链路与作者输出一致。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 source GPU 训练，A100-80/H100/L4 各 1,040 个从未重叠 shape 的目标点。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机制残差不是自动胜出；route novelty 与 support-aware fallback 是必要研究方向。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metric"/>
          <p:cNvSpPr>
            <a:spLocks noGrp="1"/>
          </p:cNvSpPr>
          <p:nvPr/>
        </p:nvSpPr>
        <p:spPr>
          <a:xfrm>
            <a:off x="133350" y="1123950"/>
            <a:ext cx="104775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06" name="text"/>
          <p:cNvSpPr>
            <a:spLocks noGrp="1"/>
          </p:cNvSpPr>
          <p:nvPr/>
        </p:nvSpPr>
        <p:spPr>
          <a:xfrm>
            <a:off x="171450" y="1171575"/>
            <a:ext cx="971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478AA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478AA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666.458</a:t>
            </a:r>
            <a:endParaRPr sz="1275" b="1" i="0">
              <a:solidFill>
                <a:srgbClr val="478AA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7" name="text"/>
          <p:cNvSpPr>
            <a:spLocks noGrp="1"/>
          </p:cNvSpPr>
          <p:nvPr/>
        </p:nvSpPr>
        <p:spPr>
          <a:xfrm>
            <a:off x="171450" y="1507998"/>
            <a:ext cx="97155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 ms</a:t>
            </a:r>
            <a:endParaRPr sz="58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metric"/>
          <p:cNvSpPr>
            <a:spLocks noGrp="1"/>
          </p:cNvSpPr>
          <p:nvPr/>
        </p:nvSpPr>
        <p:spPr>
          <a:xfrm>
            <a:off x="1285875" y="1123950"/>
            <a:ext cx="104775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09" name="text"/>
          <p:cNvSpPr>
            <a:spLocks noGrp="1"/>
          </p:cNvSpPr>
          <p:nvPr/>
        </p:nvSpPr>
        <p:spPr>
          <a:xfrm>
            <a:off x="1323975" y="1171575"/>
            <a:ext cx="971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478AA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478AA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671.046</a:t>
            </a:r>
            <a:endParaRPr sz="1275" b="1" i="0">
              <a:solidFill>
                <a:srgbClr val="478AA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0" name="text"/>
          <p:cNvSpPr>
            <a:spLocks noGrp="1"/>
          </p:cNvSpPr>
          <p:nvPr/>
        </p:nvSpPr>
        <p:spPr>
          <a:xfrm>
            <a:off x="1323975" y="1507998"/>
            <a:ext cx="97155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prediction ms</a:t>
            </a:r>
            <a:endParaRPr sz="58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1" name="metric"/>
          <p:cNvSpPr>
            <a:spLocks noGrp="1"/>
          </p:cNvSpPr>
          <p:nvPr/>
        </p:nvSpPr>
        <p:spPr>
          <a:xfrm>
            <a:off x="2438400" y="1123950"/>
            <a:ext cx="104775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2" name="text"/>
          <p:cNvSpPr>
            <a:spLocks noGrp="1"/>
          </p:cNvSpPr>
          <p:nvPr/>
        </p:nvSpPr>
        <p:spPr>
          <a:xfrm>
            <a:off x="2476500" y="1171575"/>
            <a:ext cx="971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478AA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478AA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0.688%</a:t>
            </a:r>
            <a:endParaRPr sz="1275" b="1" i="0">
              <a:solidFill>
                <a:srgbClr val="478AA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3" name="text"/>
          <p:cNvSpPr>
            <a:spLocks noGrp="1"/>
          </p:cNvSpPr>
          <p:nvPr/>
        </p:nvSpPr>
        <p:spPr>
          <a:xfrm>
            <a:off x="2476500" y="1507998"/>
            <a:ext cx="97155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APE</a:t>
            </a:r>
            <a:endParaRPr sz="58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card"/>
          <p:cNvSpPr>
            <a:spLocks noGrp="1"/>
          </p:cNvSpPr>
          <p:nvPr/>
        </p:nvSpPr>
        <p:spPr>
          <a:xfrm>
            <a:off x="76200" y="1905000"/>
            <a:ext cx="3476625" cy="12192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5" name="card-title-band"/>
          <p:cNvSpPr>
            <a:spLocks noGrp="1"/>
          </p:cNvSpPr>
          <p:nvPr/>
        </p:nvSpPr>
        <p:spPr>
          <a:xfrm>
            <a:off x="76200" y="19050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6" name="text"/>
          <p:cNvSpPr>
            <a:spLocks noGrp="1"/>
          </p:cNvSpPr>
          <p:nvPr/>
        </p:nvSpPr>
        <p:spPr>
          <a:xfrm>
            <a:off x="142875" y="19259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数值对齐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text"/>
          <p:cNvSpPr>
            <a:spLocks noGrp="1"/>
          </p:cNvSpPr>
          <p:nvPr/>
        </p:nvSpPr>
        <p:spPr>
          <a:xfrm>
            <a:off x="152400" y="2190750"/>
            <a:ext cx="3324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作者发布 prediction 671.045774 ms；本地 671.045786 ms；差 0.0000126 ms。相同 opgraph 的纯 Roofline 458.099166 ms，APE 31.263644%。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card"/>
          <p:cNvSpPr>
            <a:spLocks noGrp="1"/>
          </p:cNvSpPr>
          <p:nvPr/>
        </p:nvSpPr>
        <p:spPr>
          <a:xfrm>
            <a:off x="76200" y="3219450"/>
            <a:ext cx="3476625" cy="12763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9" name="card-title-band"/>
          <p:cNvSpPr>
            <a:spLocks noGrp="1"/>
          </p:cNvSpPr>
          <p:nvPr/>
        </p:nvSpPr>
        <p:spPr>
          <a:xfrm>
            <a:off x="76200" y="32194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20" name="text"/>
          <p:cNvSpPr>
            <a:spLocks noGrp="1"/>
          </p:cNvSpPr>
          <p:nvPr/>
        </p:nvSpPr>
        <p:spPr>
          <a:xfrm>
            <a:off x="142875" y="32404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运行环境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text"/>
          <p:cNvSpPr>
            <a:spLocks noGrp="1"/>
          </p:cNvSpPr>
          <p:nvPr/>
        </p:nvSpPr>
        <p:spPr>
          <a:xfrm>
            <a:off x="152400" y="3505200"/>
            <a:ext cx="33242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WSL2 Ubuntu22.04.5；Python3.10.12；torch2.1.0+cpu；NeuSight commit 6945927… clean。CPU shim 仅替换未使用 CUDA Event、set_device no-op 与 Path.home cache。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card"/>
          <p:cNvSpPr>
            <a:spLocks noGrp="1"/>
          </p:cNvSpPr>
          <p:nvPr/>
        </p:nvSpPr>
        <p:spPr>
          <a:xfrm>
            <a:off x="76200" y="4591050"/>
            <a:ext cx="3476625" cy="1419225"/>
          </a:xfrm>
          <a:prstGeom prst="rect">
            <a:avLst/>
          </a:prstGeom>
          <a:solidFill>
            <a:srgbClr val="F1F3F4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3" name="card-title-band"/>
          <p:cNvSpPr>
            <a:spLocks noGrp="1"/>
          </p:cNvSpPr>
          <p:nvPr/>
        </p:nvSpPr>
        <p:spPr>
          <a:xfrm>
            <a:off x="76200" y="45910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24" name="text"/>
          <p:cNvSpPr>
            <a:spLocks noGrp="1"/>
          </p:cNvSpPr>
          <p:nvPr/>
        </p:nvSpPr>
        <p:spPr>
          <a:xfrm>
            <a:off x="142875" y="46120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text"/>
          <p:cNvSpPr>
            <a:spLocks noGrp="1"/>
          </p:cNvSpPr>
          <p:nvPr/>
        </p:nvSpPr>
        <p:spPr>
          <a:xfrm>
            <a:off x="152400" y="4876800"/>
            <a:ext cx="33242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未重新 trace GPT-3、未重新采 H100；直接复用发布 opgraph/权重/label。首次 wall 23.52s、RSS 645,584 KiB；BMM 1 epoch loss0.1739、val mean relative error23.2%，只验证训练链。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87" name="表格 486"/>
          <p:cNvGraphicFramePr/>
          <p:nvPr/>
        </p:nvGraphicFramePr>
        <p:xfrm>
          <a:off x="3752850" y="1123950"/>
          <a:ext cx="3028950" cy="1905000"/>
        </p:xfrm>
        <a:graphic>
          <a:graphicData uri="http://schemas.openxmlformats.org/drawingml/2006/table">
            <a:tbl>
              <a:tblPr/>
              <a:tblGrid>
                <a:gridCol w="561975"/>
                <a:gridCol w="571500"/>
                <a:gridCol w="571500"/>
                <a:gridCol w="571500"/>
                <a:gridCol w="752475"/>
              </a:tblGrid>
              <a:tr h="476250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Target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Roofline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Direct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Gray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Gray vs Direct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A100-80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16.14%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11.18%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9.49%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改善 15.1%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H100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33.07%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15.45%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19.14%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恶化 23.9%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L4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71.99%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37.00%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23.69%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改善 36.0%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27" name="card"/>
          <p:cNvSpPr>
            <a:spLocks noGrp="1"/>
          </p:cNvSpPr>
          <p:nvPr/>
        </p:nvSpPr>
        <p:spPr>
          <a:xfrm>
            <a:off x="3752850" y="3124200"/>
            <a:ext cx="3028950" cy="136207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8" name="card-title-band"/>
          <p:cNvSpPr>
            <a:spLocks noGrp="1"/>
          </p:cNvSpPr>
          <p:nvPr/>
        </p:nvSpPr>
        <p:spPr>
          <a:xfrm>
            <a:off x="3752850" y="31242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9" name="text"/>
          <p:cNvSpPr>
            <a:spLocks noGrp="1"/>
          </p:cNvSpPr>
          <p:nvPr/>
        </p:nvSpPr>
        <p:spPr>
          <a:xfrm>
            <a:off x="3819525" y="31451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实验口径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text"/>
          <p:cNvSpPr>
            <a:spLocks noGrp="1"/>
          </p:cNvSpPr>
          <p:nvPr/>
        </p:nvSpPr>
        <p:spPr>
          <a:xfrm>
            <a:off x="3829050" y="3409950"/>
            <a:ext cx="287655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FP32 Linear/GEMM；train 32,224、5 GPU；target 每卡1,040；exact shape overlap=0；同一 pre/post-kernel feature 口径；fixed HistGradientBoosting；zero-shot 不使用目标 label。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1" name="card"/>
          <p:cNvSpPr>
            <a:spLocks noGrp="1"/>
          </p:cNvSpPr>
          <p:nvPr/>
        </p:nvSpPr>
        <p:spPr>
          <a:xfrm>
            <a:off x="3752850" y="4581525"/>
            <a:ext cx="3028950" cy="14287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2" name="card-title-band"/>
          <p:cNvSpPr>
            <a:spLocks noGrp="1"/>
          </p:cNvSpPr>
          <p:nvPr/>
        </p:nvSpPr>
        <p:spPr>
          <a:xfrm>
            <a:off x="3752850" y="458152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3" name="text"/>
          <p:cNvSpPr>
            <a:spLocks noGrp="1"/>
          </p:cNvSpPr>
          <p:nvPr/>
        </p:nvSpPr>
        <p:spPr>
          <a:xfrm>
            <a:off x="3819525" y="460248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如何解读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text"/>
          <p:cNvSpPr>
            <a:spLocks noGrp="1"/>
          </p:cNvSpPr>
          <p:nvPr/>
        </p:nvSpPr>
        <p:spPr>
          <a:xfrm>
            <a:off x="3829050" y="4867275"/>
            <a:ext cx="28765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A100/L4 支持机制残差对 OOD 的价值；H100 说明它并非单调更好。H100 target 多数是 source-unseen XMMA/CUTLASS 路由，与失败高度一致，但没有 route ablation，仍不能下因果结论。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5" name="card"/>
          <p:cNvSpPr>
            <a:spLocks noGrp="1"/>
          </p:cNvSpPr>
          <p:nvPr/>
        </p:nvSpPr>
        <p:spPr>
          <a:xfrm>
            <a:off x="7143750" y="1123950"/>
            <a:ext cx="2981325" cy="11049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6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7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不是“Roofline 胜负赛”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text"/>
          <p:cNvSpPr>
            <a:spLocks noGrp="1"/>
          </p:cNvSpPr>
          <p:nvPr/>
        </p:nvSpPr>
        <p:spPr>
          <a:xfrm>
            <a:off x="7219950" y="140970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 Roofline 在单例和 L4 上明显偏差；gray 通过学习实现效率改善。但如果 route 不同，错误的结构假设也会把预测拉向错误方向。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9" name="card"/>
          <p:cNvSpPr>
            <a:spLocks noGrp="1"/>
          </p:cNvSpPr>
          <p:nvPr/>
        </p:nvSpPr>
        <p:spPr>
          <a:xfrm>
            <a:off x="7143750" y="2324100"/>
            <a:ext cx="2981325" cy="11239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0" name="card-title-band"/>
          <p:cNvSpPr>
            <a:spLocks noGrp="1"/>
          </p:cNvSpPr>
          <p:nvPr/>
        </p:nvSpPr>
        <p:spPr>
          <a:xfrm>
            <a:off x="7143750" y="23241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1" name="text"/>
          <p:cNvSpPr>
            <a:spLocks noGrp="1"/>
          </p:cNvSpPr>
          <p:nvPr/>
        </p:nvSpPr>
        <p:spPr>
          <a:xfrm>
            <a:off x="7210425" y="23450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生产策略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text"/>
          <p:cNvSpPr>
            <a:spLocks noGrp="1"/>
          </p:cNvSpPr>
          <p:nvPr/>
        </p:nvSpPr>
        <p:spPr>
          <a:xfrm>
            <a:off x="7219950" y="2609850"/>
            <a:ext cx="28289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exact hit 直接用测量；same-route/near-domain 才用 gray residual；unseen tactic 默认进入 top-K benchmark；任何 absolute 输出带 support/OOD 标记。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3" name="card"/>
          <p:cNvSpPr>
            <a:spLocks noGrp="1"/>
          </p:cNvSpPr>
          <p:nvPr/>
        </p:nvSpPr>
        <p:spPr>
          <a:xfrm>
            <a:off x="7143750" y="3543300"/>
            <a:ext cx="2981325" cy="11239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4" name="card-title-band"/>
          <p:cNvSpPr>
            <a:spLocks noGrp="1"/>
          </p:cNvSpPr>
          <p:nvPr/>
        </p:nvSpPr>
        <p:spPr>
          <a:xfrm>
            <a:off x="7143750" y="35433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5" name="text"/>
          <p:cNvSpPr>
            <a:spLocks noGrp="1"/>
          </p:cNvSpPr>
          <p:nvPr/>
        </p:nvSpPr>
        <p:spPr>
          <a:xfrm>
            <a:off x="7210425" y="35642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正式实验需要补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6" name="text"/>
          <p:cNvSpPr>
            <a:spLocks noGrp="1"/>
          </p:cNvSpPr>
          <p:nvPr/>
        </p:nvSpPr>
        <p:spPr>
          <a:xfrm>
            <a:off x="7219950" y="3829050"/>
            <a:ext cx="28289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pre-kernel vs post-kernel 分开；route ablation；BF16/FP16/attention/fusion/collective；source-only HPO；shape-cluster CI；新 GPU/新 dtype；目标真机 frequency/temperature variance。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7" name="card"/>
          <p:cNvSpPr>
            <a:spLocks noGrp="1"/>
          </p:cNvSpPr>
          <p:nvPr/>
        </p:nvSpPr>
        <p:spPr>
          <a:xfrm>
            <a:off x="7143750" y="4762500"/>
            <a:ext cx="2981325" cy="124777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8" name="card-title-band"/>
          <p:cNvSpPr>
            <a:spLocks noGrp="1"/>
          </p:cNvSpPr>
          <p:nvPr/>
        </p:nvSpPr>
        <p:spPr>
          <a:xfrm>
            <a:off x="7143750" y="47625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9" name="text"/>
          <p:cNvSpPr>
            <a:spLocks noGrp="1"/>
          </p:cNvSpPr>
          <p:nvPr/>
        </p:nvSpPr>
        <p:spPr>
          <a:xfrm>
            <a:off x="7210425" y="47834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阶段判断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0" name="text"/>
          <p:cNvSpPr>
            <a:spLocks noGrp="1"/>
          </p:cNvSpPr>
          <p:nvPr/>
        </p:nvSpPr>
        <p:spPr>
          <a:xfrm>
            <a:off x="7219950" y="5048250"/>
            <a:ext cx="28289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NeuSight 提供 L2 的机制骨架和强单例证据；本地 zero-shot 反例促使我们把 route gate、support 与 fallback 提升为架构一等公民，而不是继续扩大 MLP。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1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786E94"/>
          </a:solidFill>
          <a:ln w="0">
            <a:noFill/>
            <a:prstDash val="solid"/>
          </a:ln>
        </p:spPr>
      </p:sp>
      <p:sp>
        <p:nvSpPr>
          <p:cNvPr id="452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灰盒的价值不是保证零样本胜出，而是在可解释机制域内提高泛化，并在域外主动拒绝。</a:t>
            </a:r>
            <a:endParaRPr sz="690" b="1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反例、风险与下一步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gray residual + coverage：32 / 128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少量目标实测：机制分段校准显著优于全局标量，但 selective gate 尚未证明价值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校准行与评估行严格隔离；coverage sampler 使用无标签候选池特征；10 seeds。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always-segmented 在三张目标卡上均优于 global；更多点继续下降。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低预算尾部和 selective 回退存在反例，下一轮需预注册确认性实验。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2573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 split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 train 32,224；target A100-80/H100/L4 各1,040；shape overlap=0。budget 8/16/32/64/128；每卡每 budget×sampling×calibration 10 seeds；校准样本从 eval 删除。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476500"/>
            <a:ext cx="3476625" cy="12763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4765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4974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三种校准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762250"/>
            <a:ext cx="33242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Global：整卡一个 log-scale。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Segmented：按 route/AI/waves 等段始终修正。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Selective：偏差显著且 n≥8 才修正，并 shrink/backoff；目标是少样本不硬拟合。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3848100"/>
            <a:ext cx="3476625" cy="100012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38481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38690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两种采样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133850"/>
            <a:ext cx="3324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Random：均匀随机。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Coverage：按已知候选池的无标签 segment 轮转覆盖；属于 transductive active sampling，未来 workload 未知时可能偏乐观。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4943475"/>
            <a:ext cx="3476625" cy="10668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494347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496443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5229225"/>
            <a:ext cx="33242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macro-MAPE（Device×OP 等权）、P95-APE、seed 分布；后续需 shape-cluster bootstrap CI、underprediction risk 与 error-vs-measurement AUC。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81" name="表格 480"/>
          <p:cNvGraphicFramePr/>
          <p:nvPr/>
        </p:nvGraphicFramePr>
        <p:xfrm>
          <a:off x="3752850" y="1123950"/>
          <a:ext cx="3028950" cy="1905000"/>
        </p:xfrm>
        <a:graphic>
          <a:graphicData uri="http://schemas.openxmlformats.org/drawingml/2006/table">
            <a:tbl>
              <a:tblPr/>
              <a:tblGrid>
                <a:gridCol w="533400"/>
                <a:gridCol w="752475"/>
                <a:gridCol w="685800"/>
                <a:gridCol w="685800"/>
                <a:gridCol w="371475"/>
              </a:tblGrid>
              <a:tr h="476250"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Target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Global MAPE/P95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Segmented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Selective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 b="1">
                          <a:solidFill>
                            <a:srgbClr val="FFFFFF"/>
                          </a:solidFill>
                        </a:rPr>
                        <a:t>Seg改善</a:t>
                      </a:r>
                      <a:endParaRPr sz="58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877EA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A100-80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4.84 / 13.24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3.96 / 11.35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4.80 / 13.19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18.35%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H100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13.04 / 28.53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9.91 / 24.29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13.32 / 28.56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23.97%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L4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19.66 / 51.01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15.93 / 35.78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19.51 / 51.50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85">
                          <a:solidFill>
                            <a:srgbClr val="2D2D2D"/>
                          </a:solidFill>
                        </a:rPr>
                        <a:t>18.98%</a:t>
                      </a:r>
                      <a:endParaRPr sz="585">
                        <a:solidFill>
                          <a:srgbClr val="2D2D2D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22" name="card"/>
          <p:cNvSpPr>
            <a:spLocks noGrp="1"/>
          </p:cNvSpPr>
          <p:nvPr/>
        </p:nvSpPr>
        <p:spPr>
          <a:xfrm>
            <a:off x="3752850" y="3124200"/>
            <a:ext cx="3028950" cy="10096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3" name="card-title-band"/>
          <p:cNvSpPr>
            <a:spLocks noGrp="1"/>
          </p:cNvSpPr>
          <p:nvPr/>
        </p:nvSpPr>
        <p:spPr>
          <a:xfrm>
            <a:off x="3752850" y="31242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4" name="text"/>
          <p:cNvSpPr>
            <a:spLocks noGrp="1"/>
          </p:cNvSpPr>
          <p:nvPr/>
        </p:nvSpPr>
        <p:spPr>
          <a:xfrm>
            <a:off x="3819525" y="31451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Budget 32 结论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text"/>
          <p:cNvSpPr>
            <a:spLocks noGrp="1"/>
          </p:cNvSpPr>
          <p:nvPr/>
        </p:nvSpPr>
        <p:spPr>
          <a:xfrm>
            <a:off x="3829050" y="3409950"/>
            <a:ext cx="2876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只用约 3.1% target rows，always-segmented 在三卡上同时降低 MAPE；H100/L4 的 P95 改善也明显。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card"/>
          <p:cNvSpPr>
            <a:spLocks noGrp="1"/>
          </p:cNvSpPr>
          <p:nvPr/>
        </p:nvSpPr>
        <p:spPr>
          <a:xfrm>
            <a:off x="3752850" y="4229100"/>
            <a:ext cx="3028950" cy="8858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7" name="card-title-band"/>
          <p:cNvSpPr>
            <a:spLocks noGrp="1"/>
          </p:cNvSpPr>
          <p:nvPr/>
        </p:nvSpPr>
        <p:spPr>
          <a:xfrm>
            <a:off x="3752850" y="42291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8" name="text"/>
          <p:cNvSpPr>
            <a:spLocks noGrp="1"/>
          </p:cNvSpPr>
          <p:nvPr/>
        </p:nvSpPr>
        <p:spPr>
          <a:xfrm>
            <a:off x="3819525" y="42500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Budget 128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text"/>
          <p:cNvSpPr>
            <a:spLocks noGrp="1"/>
          </p:cNvSpPr>
          <p:nvPr/>
        </p:nvSpPr>
        <p:spPr>
          <a:xfrm>
            <a:off x="3829050" y="4514850"/>
            <a:ext cx="28765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Segmented MAPE：A100 3.58%、H100 8.59%、L4 12.72%。Selective 为 4.43/10.39/14.20%，仍更差。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card"/>
          <p:cNvSpPr>
            <a:spLocks noGrp="1"/>
          </p:cNvSpPr>
          <p:nvPr/>
        </p:nvSpPr>
        <p:spPr>
          <a:xfrm>
            <a:off x="3752850" y="5210175"/>
            <a:ext cx="3028950" cy="8001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1" name="card-title-band"/>
          <p:cNvSpPr>
            <a:spLocks noGrp="1"/>
          </p:cNvSpPr>
          <p:nvPr/>
        </p:nvSpPr>
        <p:spPr>
          <a:xfrm>
            <a:off x="3752850" y="521017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2" name="text"/>
          <p:cNvSpPr>
            <a:spLocks noGrp="1"/>
          </p:cNvSpPr>
          <p:nvPr/>
        </p:nvSpPr>
        <p:spPr>
          <a:xfrm>
            <a:off x="3819525" y="523113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Sampling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text"/>
          <p:cNvSpPr>
            <a:spLocks noGrp="1"/>
          </p:cNvSpPr>
          <p:nvPr/>
        </p:nvSpPr>
        <p:spPr>
          <a:xfrm>
            <a:off x="3829050" y="5495925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budget32：L4 coverage 15.93 优于 random 17.64；H100 coverage 9.91 略差于 random 9.33。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card"/>
          <p:cNvSpPr>
            <a:spLocks noGrp="1"/>
          </p:cNvSpPr>
          <p:nvPr/>
        </p:nvSpPr>
        <p:spPr>
          <a:xfrm>
            <a:off x="7143750" y="1123950"/>
            <a:ext cx="2981325" cy="10668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5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6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低预算尾部反例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text"/>
          <p:cNvSpPr>
            <a:spLocks noGrp="1"/>
          </p:cNvSpPr>
          <p:nvPr/>
        </p:nvSpPr>
        <p:spPr>
          <a:xfrm>
            <a:off x="7219950" y="1409700"/>
            <a:ext cx="2828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budget16：H100 P95 global 30.13→segmented 30.41；L4 48.07→48.92。均值改善不保证尾部不恶化。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8" name="card"/>
          <p:cNvSpPr>
            <a:spLocks noGrp="1"/>
          </p:cNvSpPr>
          <p:nvPr/>
        </p:nvSpPr>
        <p:spPr>
          <a:xfrm>
            <a:off x="7143750" y="2286000"/>
            <a:ext cx="2981325" cy="10477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9" name="card-title-band"/>
          <p:cNvSpPr>
            <a:spLocks noGrp="1"/>
          </p:cNvSpPr>
          <p:nvPr/>
        </p:nvSpPr>
        <p:spPr>
          <a:xfrm>
            <a:off x="7143750" y="22860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0" name="text"/>
          <p:cNvSpPr>
            <a:spLocks noGrp="1"/>
          </p:cNvSpPr>
          <p:nvPr/>
        </p:nvSpPr>
        <p:spPr>
          <a:xfrm>
            <a:off x="7210425" y="23069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Selective 为什么未胜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text"/>
          <p:cNvSpPr>
            <a:spLocks noGrp="1"/>
          </p:cNvSpPr>
          <p:nvPr/>
        </p:nvSpPr>
        <p:spPr>
          <a:xfrm>
            <a:off x="7219950" y="2571750"/>
            <a:ext cx="28289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阈值与 shrinkage 可能过保守；segment 稳定性不足；目标偏差可能广泛而非少数段；pilot 后加入 gate，缺确认性 CI。应视为待证伪设计，不是成果。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card"/>
          <p:cNvSpPr>
            <a:spLocks noGrp="1"/>
          </p:cNvSpPr>
          <p:nvPr/>
        </p:nvSpPr>
        <p:spPr>
          <a:xfrm>
            <a:off x="7143750" y="3429000"/>
            <a:ext cx="2981325" cy="10953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3" name="card-title-band"/>
          <p:cNvSpPr>
            <a:spLocks noGrp="1"/>
          </p:cNvSpPr>
          <p:nvPr/>
        </p:nvSpPr>
        <p:spPr>
          <a:xfrm>
            <a:off x="7143750" y="34290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4" name="text"/>
          <p:cNvSpPr>
            <a:spLocks noGrp="1"/>
          </p:cNvSpPr>
          <p:nvPr/>
        </p:nvSpPr>
        <p:spPr>
          <a:xfrm>
            <a:off x="7210425" y="34499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下一轮预注册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text"/>
          <p:cNvSpPr>
            <a:spLocks noGrp="1"/>
          </p:cNvSpPr>
          <p:nvPr/>
        </p:nvSpPr>
        <p:spPr>
          <a:xfrm>
            <a:off x="7219950" y="3714750"/>
            <a:ext cx="28289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 bins/backoff/阈值；coverage vs random；global vs always vs selective；16/64/256 绝对点；10+ seeds；shape-cluster CI；P95 underprediction 不恶化门槛。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6" name="card"/>
          <p:cNvSpPr>
            <a:spLocks noGrp="1"/>
          </p:cNvSpPr>
          <p:nvPr/>
        </p:nvSpPr>
        <p:spPr>
          <a:xfrm>
            <a:off x="7143750" y="4619625"/>
            <a:ext cx="2981325" cy="13906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7" name="card-title-band"/>
          <p:cNvSpPr>
            <a:spLocks noGrp="1"/>
          </p:cNvSpPr>
          <p:nvPr/>
        </p:nvSpPr>
        <p:spPr>
          <a:xfrm>
            <a:off x="7143750" y="4619625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8" name="text"/>
          <p:cNvSpPr>
            <a:spLocks noGrp="1"/>
          </p:cNvSpPr>
          <p:nvPr/>
        </p:nvSpPr>
        <p:spPr>
          <a:xfrm>
            <a:off x="7210425" y="4640580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当前判断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text"/>
          <p:cNvSpPr>
            <a:spLocks noGrp="1"/>
          </p:cNvSpPr>
          <p:nvPr/>
        </p:nvSpPr>
        <p:spPr>
          <a:xfrm>
            <a:off x="7219950" y="4905375"/>
            <a:ext cx="28289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“基于机制分段的少量目标校准”值得继续；“选择性 gate 比 always segmented 更好”未被支持。若确认性实验仍无收益，应删除复杂 selective 逻辑，保留简单分段+fallback。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0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最有价值的阶段结果不是单一最佳 MAPE，而是：校准有效、零样本有反例、复杂 gate 可被证伪。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门禁为什么失败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对灰盒的直接帮助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报告中的伪差异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真机 vs 仿真 profiling：当前最有价值的结论是“不可比较的原因”，不是 timing 精度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workload、phase、topology、rank 与 parser 语义均未对齐；时间比率不具备因果解释。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 排序、raw group handle、tensor broadcast 误分类、missing=0 会制造假热点。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把报告转化为 L0/L1 pre-calibration gate 和 canonical schema 的验收清单。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18110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Workload / phase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workload_id 与 schedule_id 两侧均 unrecorded，却被判通过；标注 phase=decode，但两侧都有 nll_loss_backward、FSDP pre_backward、matmul_backward、attention_grad。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400300"/>
            <a:ext cx="3476625" cy="11811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4003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4212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Topology / rank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686050"/>
            <a:ext cx="3324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真机 8 rank、仿真 4 rank；DP/TP/EP/PP/CP/DCP 全未知；rank pair 置信度低。若本意是 8→4 外推，应设计 scaling experiment，不是 fidelity pair。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3676650"/>
            <a:ext cx="3476625" cy="10858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36766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36976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/ units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3962400"/>
            <a:ext cx="33242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 Step Compute=0 却有大量 device duration；通信子字段为0但 Step Communication 非0；world=4 出现 peer 0-0 LOCAL。更像 missing/unmodeled，不是测量零。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4857750"/>
            <a:ext cx="3476625" cy="11525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48577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48787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5143500"/>
            <a:ext cx="33242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ratio 1.2017、overlap 与 duration 差不能用于校准；当前 pair 只说明输入合同、parser 与 L1 可观测性需要修补。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1123950"/>
            <a:ext cx="3028950" cy="11811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热点排序层级错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1409700"/>
            <a:ext cx="2876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Top-5 被 AddBackward0、CheckpointFunction、CloneBackward0 等 scope 占据，Device Self=0；它们应作路径标签，而非 cost component，遮住具体 aten/kernel 差异。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2400300"/>
            <a:ext cx="3028950" cy="11811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24003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24212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 join 错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2686050"/>
            <a:ext cx="2876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两侧都有 allgather/allreduce/reducescatter，却因本地 raw group handle 不同全部 unmatched。应按 collective type + group members/parallel axis + message bucket 匹配。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3752850" y="3676650"/>
            <a:ext cx="3028950" cy="108585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3752850" y="36766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3819525" y="36976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通信误分类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3829050" y="3962400"/>
            <a:ext cx="2876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aclnn*BroadcastToAiCore_BroadcastTo 是 AI_VECTOR_CORE 的普通张量广播，没有 HCCL/HCOM/COMMUNICATION 证据，不应进入 L3 collective。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3752850" y="4857750"/>
            <a:ext cx="3028950" cy="11525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3752850" y="48577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3819525" y="48787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抽象层不一致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3829050" y="5143500"/>
            <a:ext cx="28765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真机是 aten::mm/ForeachCopy/HCCL kernel，仿真是 matmul_backward/合成摘要；exact name+ABI 会把相同语义、不同展开层级误判为漏路径。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1123950"/>
            <a:ext cx="2981325" cy="11049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 L0 合同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140970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request/sample ID、phase marker、model/runtime commit、launch flags、profiler window、parallel degrees/topology 必须完整；unknown 不等于 match。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2324100"/>
            <a:ext cx="2981325" cy="110490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23241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23450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 L1 schema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260985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logical op↔backend tactic 两层；valid/padded token；canonical collective/group；scope 只作 call path；0/missing/unmodeled 三态；field units/provenance。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7143750" y="3524250"/>
            <a:ext cx="2981325" cy="11049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7143750" y="35242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7210425" y="35452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Pre-calibration gate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7219950" y="3810000"/>
            <a:ext cx="2828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只有同 request、明确 phase、同 topology/coords、同 commit/flags、canonical join 与 schema sanity 全通过，paired component/Stage 数据才进入 L2 residual calibration。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4724400"/>
            <a:ext cx="2981325" cy="128587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472440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474535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真正有价值的信号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5010150"/>
            <a:ext cx="2828925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394 vs 400 在 attention/index_put/pad 等路径重复出现，像 valid token 与 padded bucket 的稳定边界。它提示我们补充输入字段并设计 paired ablation，但 workload 未记录前不能判定谁错。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profiling compare 的首要产出应是可比性 verdict；只有 verdict=pass，timing ratio 才能成为精度证据。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7067918" y="1234760"/>
            <a:ext cx="3133256" cy="5190282"/>
          </a:xfrm>
          <a:prstGeom prst="rect">
            <a:avLst/>
          </a:prstGeom>
          <a:gradFill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1606" y="557427"/>
            <a:ext cx="9956800" cy="0"/>
          </a:xfrm>
          <a:prstGeom prst="line">
            <a:avLst/>
          </a:prstGeom>
          <a:ln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453390"/>
            <a:ext cx="1981200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23900" y="419100"/>
            <a:ext cx="217170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P0：先固定问题</a:t>
            </a:r>
            <a:endParaRPr sz="840" b="1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77150" y="450533"/>
            <a:ext cx="1924050" cy="232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7581900" y="411480"/>
            <a:ext cx="2114550" cy="27622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/ No-Go 决策</a:t>
            </a:r>
            <a:endParaRPr sz="840" b="1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33875" y="453390"/>
            <a:ext cx="1876425" cy="202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238625" y="419100"/>
            <a:ext cx="2066925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buNone/>
              <a:def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0" b="1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P1/P2：component 与系统</a:t>
            </a:r>
            <a:endParaRPr sz="840" b="1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page-title"/>
          <p:cNvSpPr>
            <a:spLocks noGrp="1"/>
          </p:cNvSpPr>
          <p:nvPr/>
        </p:nvSpPr>
        <p:spPr>
          <a:xfrm>
            <a:off x="152400" y="66675"/>
            <a:ext cx="9696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下一阶段：用目标业务模型与 GPU/NPU 真机，把 L1、L2、L3 分层假设逐个做成可证伪实验</a:t>
            </a:r>
            <a:endParaRPr sz="1200" b="1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1" name="page-no"/>
          <p:cNvSpPr>
            <a:spLocks noGrp="1"/>
          </p:cNvSpPr>
          <p:nvPr/>
        </p:nvSpPr>
        <p:spPr>
          <a:xfrm>
            <a:off x="9858375" y="114300"/>
            <a:ext cx="266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81"/>
          </a:bodyPr>
          <a:lstStyle/>
          <a:p>
            <a:pPr algn="r">
              <a:def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" b="0" i="0">
                <a:solidFill>
                  <a:srgbClr val="59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465" b="0" i="0">
              <a:solidFill>
                <a:srgbClr val="59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"/>
          <p:cNvSpPr>
            <a:spLocks noGrp="1"/>
          </p:cNvSpPr>
          <p:nvPr/>
        </p:nvSpPr>
        <p:spPr>
          <a:xfrm>
            <a:off x="152400" y="714375"/>
            <a:ext cx="3324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478A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先选真实模型/runtime/workload，建立同任务、同 phase、同 topology 的 ground truth。</a:t>
            </a:r>
            <a:endParaRPr sz="585" b="0" i="0">
              <a:solidFill>
                <a:srgbClr val="478A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"/>
          <p:cNvSpPr>
            <a:spLocks noGrp="1"/>
          </p:cNvSpPr>
          <p:nvPr/>
        </p:nvSpPr>
        <p:spPr>
          <a:xfrm>
            <a:off x="3829050" y="714375"/>
            <a:ext cx="287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786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component OOD 与系统并行/调度两层实验；校准行和最终 E2E holdout 隔离。</a:t>
            </a:r>
            <a:endParaRPr sz="585" b="0" i="0">
              <a:solidFill>
                <a:srgbClr val="786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text"/>
          <p:cNvSpPr>
            <a:spLocks noGrp="1"/>
          </p:cNvSpPr>
          <p:nvPr/>
        </p:nvSpPr>
        <p:spPr>
          <a:xfrm>
            <a:off x="7143750" y="714375"/>
            <a:ext cx="2981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85" b="0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每个复杂机制都设删除条件，避免把探索性模块永久工程化。</a:t>
            </a:r>
            <a:endParaRPr sz="585" b="0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card"/>
          <p:cNvSpPr>
            <a:spLocks noGrp="1"/>
          </p:cNvSpPr>
          <p:nvPr/>
        </p:nvSpPr>
        <p:spPr>
          <a:xfrm>
            <a:off x="76200" y="1123950"/>
            <a:ext cx="3476625" cy="1238250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06" name="card-title-band"/>
          <p:cNvSpPr>
            <a:spLocks noGrp="1"/>
          </p:cNvSpPr>
          <p:nvPr/>
        </p:nvSpPr>
        <p:spPr>
          <a:xfrm>
            <a:off x="76200" y="11239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07" name="text"/>
          <p:cNvSpPr>
            <a:spLocks noGrp="1"/>
          </p:cNvSpPr>
          <p:nvPr/>
        </p:nvSpPr>
        <p:spPr>
          <a:xfrm>
            <a:off x="142875" y="11449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 runtime 选择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text"/>
          <p:cNvSpPr>
            <a:spLocks noGrp="1"/>
          </p:cNvSpPr>
          <p:nvPr/>
        </p:nvSpPr>
        <p:spPr>
          <a:xfrm>
            <a:off x="152400" y="1409700"/>
            <a:ext cx="33242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训练：选一个 Transformer dense + 一个 MoE/后训练 workload（forward/backward/optimizer 明确）。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推理：同一模型固定 Transformers eager/compile，再固定 vLLM 或 SGLang 版本与 scheduler。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card"/>
          <p:cNvSpPr>
            <a:spLocks noGrp="1"/>
          </p:cNvSpPr>
          <p:nvPr/>
        </p:nvSpPr>
        <p:spPr>
          <a:xfrm>
            <a:off x="76200" y="2457450"/>
            <a:ext cx="3476625" cy="121920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0" name="card-title-band"/>
          <p:cNvSpPr>
            <a:spLocks noGrp="1"/>
          </p:cNvSpPr>
          <p:nvPr/>
        </p:nvSpPr>
        <p:spPr>
          <a:xfrm>
            <a:off x="76200" y="245745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1" name="text"/>
          <p:cNvSpPr>
            <a:spLocks noGrp="1"/>
          </p:cNvSpPr>
          <p:nvPr/>
        </p:nvSpPr>
        <p:spPr>
          <a:xfrm>
            <a:off x="142875" y="247840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工作负载矩阵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"/>
          <p:cNvSpPr>
            <a:spLocks noGrp="1"/>
          </p:cNvSpPr>
          <p:nvPr/>
        </p:nvSpPr>
        <p:spPr>
          <a:xfrm>
            <a:off x="152400" y="2743200"/>
            <a:ext cx="3324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seq/context：短/中/长 + 真实分布；batch：1/小/饱和；dtype：FP32/BF16/FP16；phase：prefill/decode 或 fwd/bwd/optim；P：DP/TP/PP/EP 至少覆盖两个 degree。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card"/>
          <p:cNvSpPr>
            <a:spLocks noGrp="1"/>
          </p:cNvSpPr>
          <p:nvPr/>
        </p:nvSpPr>
        <p:spPr>
          <a:xfrm>
            <a:off x="76200" y="3771900"/>
            <a:ext cx="3476625" cy="1057275"/>
          </a:xfrm>
          <a:prstGeom prst="rect">
            <a:avLst/>
          </a:prstGeom>
          <a:solidFill>
            <a:srgbClr val="E8F2F5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4" name="card-title-band"/>
          <p:cNvSpPr>
            <a:spLocks noGrp="1"/>
          </p:cNvSpPr>
          <p:nvPr/>
        </p:nvSpPr>
        <p:spPr>
          <a:xfrm>
            <a:off x="76200" y="3771900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5" name="text"/>
          <p:cNvSpPr>
            <a:spLocks noGrp="1"/>
          </p:cNvSpPr>
          <p:nvPr/>
        </p:nvSpPr>
        <p:spPr>
          <a:xfrm>
            <a:off x="142875" y="3792855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环境记录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text"/>
          <p:cNvSpPr>
            <a:spLocks noGrp="1"/>
          </p:cNvSpPr>
          <p:nvPr/>
        </p:nvSpPr>
        <p:spPr>
          <a:xfrm>
            <a:off x="152400" y="4057650"/>
            <a:ext cx="33242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model/framework/compiler/runtime/driver commit；device SKU/clock/power；node/link topology；rank coordinates/groups；warmup/repeats；temperature；memory/KV/scheduler flags。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card"/>
          <p:cNvSpPr>
            <a:spLocks noGrp="1"/>
          </p:cNvSpPr>
          <p:nvPr/>
        </p:nvSpPr>
        <p:spPr>
          <a:xfrm>
            <a:off x="76200" y="4924425"/>
            <a:ext cx="3476625" cy="10858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18" name="card-title-band"/>
          <p:cNvSpPr>
            <a:spLocks noGrp="1"/>
          </p:cNvSpPr>
          <p:nvPr/>
        </p:nvSpPr>
        <p:spPr>
          <a:xfrm>
            <a:off x="76200" y="4924425"/>
            <a:ext cx="3476625" cy="228600"/>
          </a:xfrm>
          <a:prstGeom prst="rect">
            <a:avLst/>
          </a:prstGeom>
          <a:solidFill>
            <a:srgbClr val="478AA5"/>
          </a:solidFill>
          <a:ln w="0">
            <a:noFill/>
            <a:prstDash val="solid"/>
          </a:ln>
        </p:spPr>
      </p:sp>
      <p:sp>
        <p:nvSpPr>
          <p:cNvPr id="419" name="text"/>
          <p:cNvSpPr>
            <a:spLocks noGrp="1"/>
          </p:cNvSpPr>
          <p:nvPr/>
        </p:nvSpPr>
        <p:spPr>
          <a:xfrm>
            <a:off x="142875" y="4945380"/>
            <a:ext cx="3343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交付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text"/>
          <p:cNvSpPr>
            <a:spLocks noGrp="1"/>
          </p:cNvSpPr>
          <p:nvPr/>
        </p:nvSpPr>
        <p:spPr>
          <a:xfrm>
            <a:off x="152400" y="5210175"/>
            <a:ext cx="33242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canonical signature + graph diff；component benchmark harness；profiling marker；input-contract validator；ground-truth data schema；明确 missing/unknown。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1" name="card"/>
          <p:cNvSpPr>
            <a:spLocks noGrp="1"/>
          </p:cNvSpPr>
          <p:nvPr/>
        </p:nvSpPr>
        <p:spPr>
          <a:xfrm>
            <a:off x="3752850" y="1123950"/>
            <a:ext cx="3028950" cy="1323975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2" name="card-title-band"/>
          <p:cNvSpPr>
            <a:spLocks noGrp="1"/>
          </p:cNvSpPr>
          <p:nvPr/>
        </p:nvSpPr>
        <p:spPr>
          <a:xfrm>
            <a:off x="3752850" y="11239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3" name="text"/>
          <p:cNvSpPr>
            <a:spLocks noGrp="1"/>
          </p:cNvSpPr>
          <p:nvPr/>
        </p:nvSpPr>
        <p:spPr>
          <a:xfrm>
            <a:off x="3819525" y="11449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P1：L2 component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text"/>
          <p:cNvSpPr>
            <a:spLocks noGrp="1"/>
          </p:cNvSpPr>
          <p:nvPr/>
        </p:nvSpPr>
        <p:spPr>
          <a:xfrm>
            <a:off x="3829050" y="1409700"/>
            <a:ext cx="28765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 Roofline；A1 direct absolute；G1 gray residual；G2 always segmented calibration；G3 OOD gate+microbenchmark。严格 split：seen-HW shape-OOD、new-HW、joint-OOD、route-OOD；pre/post-kernel 分开。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card"/>
          <p:cNvSpPr>
            <a:spLocks noGrp="1"/>
          </p:cNvSpPr>
          <p:nvPr/>
        </p:nvSpPr>
        <p:spPr>
          <a:xfrm>
            <a:off x="3752850" y="2543175"/>
            <a:ext cx="3028950" cy="126682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26" name="card-title-band"/>
          <p:cNvSpPr>
            <a:spLocks noGrp="1"/>
          </p:cNvSpPr>
          <p:nvPr/>
        </p:nvSpPr>
        <p:spPr>
          <a:xfrm>
            <a:off x="3752850" y="2543175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27" name="text"/>
          <p:cNvSpPr>
            <a:spLocks noGrp="1"/>
          </p:cNvSpPr>
          <p:nvPr/>
        </p:nvSpPr>
        <p:spPr>
          <a:xfrm>
            <a:off x="3819525" y="256413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 可证伪假设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"/>
          <p:cNvSpPr>
            <a:spLocks noGrp="1"/>
          </p:cNvSpPr>
          <p:nvPr/>
        </p:nvSpPr>
        <p:spPr>
          <a:xfrm>
            <a:off x="3829050" y="2828925"/>
            <a:ext cx="28765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 joint-OOD G1 比 A1 macro-MAPE 降≥20%。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H2 ≤5% target measurements 时 G2 比 G1/global 降≥10%，P95 不恶化&gt;5%。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H3 selective 若不胜 always/global 则删除。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H4 post-kernel 提升&lt;5%则不引入耦合。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card"/>
          <p:cNvSpPr>
            <a:spLocks noGrp="1"/>
          </p:cNvSpPr>
          <p:nvPr/>
        </p:nvSpPr>
        <p:spPr>
          <a:xfrm>
            <a:off x="3752850" y="3905250"/>
            <a:ext cx="3028950" cy="990600"/>
          </a:xfrm>
          <a:prstGeom prst="rect">
            <a:avLst/>
          </a:prstGeom>
          <a:solidFill>
            <a:srgbClr val="E9E8E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0" name="card-title-band"/>
          <p:cNvSpPr>
            <a:spLocks noGrp="1"/>
          </p:cNvSpPr>
          <p:nvPr/>
        </p:nvSpPr>
        <p:spPr>
          <a:xfrm>
            <a:off x="3752850" y="390525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1" name="text"/>
          <p:cNvSpPr>
            <a:spLocks noGrp="1"/>
          </p:cNvSpPr>
          <p:nvPr/>
        </p:nvSpPr>
        <p:spPr>
          <a:xfrm>
            <a:off x="3819525" y="392620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P2：L3 E2E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text"/>
          <p:cNvSpPr>
            <a:spLocks noGrp="1"/>
          </p:cNvSpPr>
          <p:nvPr/>
        </p:nvSpPr>
        <p:spPr>
          <a:xfrm>
            <a:off x="3829050" y="4191000"/>
            <a:ext cx="2876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L2 labels 后验证 DP/TP/PP/EP、单机/跨机、不同 seq/batch、训练 stage 与 serving capacity；逐层关闭 overlap/queue/争用做 ablation。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card"/>
          <p:cNvSpPr>
            <a:spLocks noGrp="1"/>
          </p:cNvSpPr>
          <p:nvPr/>
        </p:nvSpPr>
        <p:spPr>
          <a:xfrm>
            <a:off x="3752850" y="4991100"/>
            <a:ext cx="3028950" cy="1019175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4" name="card-title-band"/>
          <p:cNvSpPr>
            <a:spLocks noGrp="1"/>
          </p:cNvSpPr>
          <p:nvPr/>
        </p:nvSpPr>
        <p:spPr>
          <a:xfrm>
            <a:off x="3752850" y="4991100"/>
            <a:ext cx="3028950" cy="228600"/>
          </a:xfrm>
          <a:prstGeom prst="rect">
            <a:avLst/>
          </a:prstGeom>
          <a:solidFill>
            <a:srgbClr val="877EA2"/>
          </a:solidFill>
          <a:ln w="0">
            <a:noFill/>
            <a:prstDash val="solid"/>
          </a:ln>
        </p:spPr>
      </p:sp>
      <p:sp>
        <p:nvSpPr>
          <p:cNvPr id="435" name="text"/>
          <p:cNvSpPr>
            <a:spLocks noGrp="1"/>
          </p:cNvSpPr>
          <p:nvPr/>
        </p:nvSpPr>
        <p:spPr>
          <a:xfrm>
            <a:off x="3819525" y="5012055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隔离与评估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text"/>
          <p:cNvSpPr>
            <a:spLocks noGrp="1"/>
          </p:cNvSpPr>
          <p:nvPr/>
        </p:nvSpPr>
        <p:spPr>
          <a:xfrm>
            <a:off x="3829050" y="5276850"/>
            <a:ext cx="28765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component calibration 与 E2E holdout 不重叠；每次决策报告 MAPE/P95/underprediction/CI、ranking、OOM、bottleneck、fallback coverage 与额外测量成本。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7" name="card"/>
          <p:cNvSpPr>
            <a:spLocks noGrp="1"/>
          </p:cNvSpPr>
          <p:nvPr/>
        </p:nvSpPr>
        <p:spPr>
          <a:xfrm>
            <a:off x="7143750" y="1123950"/>
            <a:ext cx="2981325" cy="10858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38" name="card-title-band"/>
          <p:cNvSpPr>
            <a:spLocks noGrp="1"/>
          </p:cNvSpPr>
          <p:nvPr/>
        </p:nvSpPr>
        <p:spPr>
          <a:xfrm>
            <a:off x="7143750" y="11239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39" name="text"/>
          <p:cNvSpPr>
            <a:spLocks noGrp="1"/>
          </p:cNvSpPr>
          <p:nvPr/>
        </p:nvSpPr>
        <p:spPr>
          <a:xfrm>
            <a:off x="7210425" y="11449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Go：继续工程化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0" name="text"/>
          <p:cNvSpPr>
            <a:spLocks noGrp="1"/>
          </p:cNvSpPr>
          <p:nvPr/>
        </p:nvSpPr>
        <p:spPr>
          <a:xfrm>
            <a:off x="7219950" y="1409700"/>
            <a:ext cx="28289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graph/shape/group 在目标 runtime 稳定可生成；G2/G3 在预注册 OOD split 和尾部指标上有稳定收益；L3 E2E 误差归因闭合；fallback 成本可接受。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card"/>
          <p:cNvSpPr>
            <a:spLocks noGrp="1"/>
          </p:cNvSpPr>
          <p:nvPr/>
        </p:nvSpPr>
        <p:spPr>
          <a:xfrm>
            <a:off x="7143750" y="2305050"/>
            <a:ext cx="2981325" cy="1085850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2" name="card-title-band"/>
          <p:cNvSpPr>
            <a:spLocks noGrp="1"/>
          </p:cNvSpPr>
          <p:nvPr/>
        </p:nvSpPr>
        <p:spPr>
          <a:xfrm>
            <a:off x="7143750" y="23050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3" name="text"/>
          <p:cNvSpPr>
            <a:spLocks noGrp="1"/>
          </p:cNvSpPr>
          <p:nvPr/>
        </p:nvSpPr>
        <p:spPr>
          <a:xfrm>
            <a:off x="7210425" y="23260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Narrow：缩小范围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text"/>
          <p:cNvSpPr>
            <a:spLocks noGrp="1"/>
          </p:cNvSpPr>
          <p:nvPr/>
        </p:nvSpPr>
        <p:spPr>
          <a:xfrm>
            <a:off x="7219950" y="2590800"/>
            <a:ext cx="28289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若跨 family/route 不稳，则按 hardware×runtime×operator family 建局部模型；优先 serving 配置搜索或训练策略排序，不承诺跨硬件 absolute SLA。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card"/>
          <p:cNvSpPr>
            <a:spLocks noGrp="1"/>
          </p:cNvSpPr>
          <p:nvPr/>
        </p:nvSpPr>
        <p:spPr>
          <a:xfrm>
            <a:off x="7143750" y="3486150"/>
            <a:ext cx="2981325" cy="1085850"/>
          </a:xfrm>
          <a:prstGeom prst="rect">
            <a:avLst/>
          </a:prstGeom>
          <a:solidFill>
            <a:srgbClr val="FFFFFF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46" name="card-title-band"/>
          <p:cNvSpPr>
            <a:spLocks noGrp="1"/>
          </p:cNvSpPr>
          <p:nvPr/>
        </p:nvSpPr>
        <p:spPr>
          <a:xfrm>
            <a:off x="7143750" y="34861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47" name="text"/>
          <p:cNvSpPr>
            <a:spLocks noGrp="1"/>
          </p:cNvSpPr>
          <p:nvPr/>
        </p:nvSpPr>
        <p:spPr>
          <a:xfrm>
            <a:off x="7210425" y="35071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No-Go：删除复杂模块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text"/>
          <p:cNvSpPr>
            <a:spLocks noGrp="1"/>
          </p:cNvSpPr>
          <p:nvPr/>
        </p:nvSpPr>
        <p:spPr>
          <a:xfrm>
            <a:off x="7219950" y="3771900"/>
            <a:ext cx="28289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selective gate 无增益；post-kernel metadata 代价大而收益&lt;5%；route classifier 拒绝率/误判不可接受；microbenchmark 成本高于直接 profiling；L1 graph 版本漂移无法控制。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9" name="card"/>
          <p:cNvSpPr>
            <a:spLocks noGrp="1"/>
          </p:cNvSpPr>
          <p:nvPr/>
        </p:nvSpPr>
        <p:spPr>
          <a:xfrm>
            <a:off x="7143750" y="4667250"/>
            <a:ext cx="2981325" cy="1343025"/>
          </a:xfrm>
          <a:prstGeom prst="rect">
            <a:avLst/>
          </a:prstGeom>
          <a:solidFill>
            <a:srgbClr val="FAE5DB"/>
          </a:solidFill>
          <a:ln w="6668">
            <a:solidFill>
              <a:srgbClr val="EBEBEB"/>
            </a:solidFill>
            <a:prstDash val="solid"/>
          </a:ln>
        </p:spPr>
      </p:sp>
      <p:sp>
        <p:nvSpPr>
          <p:cNvPr id="450" name="card-title-band"/>
          <p:cNvSpPr>
            <a:spLocks noGrp="1"/>
          </p:cNvSpPr>
          <p:nvPr/>
        </p:nvSpPr>
        <p:spPr>
          <a:xfrm>
            <a:off x="7143750" y="4667250"/>
            <a:ext cx="2981325" cy="228600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1" name="text"/>
          <p:cNvSpPr>
            <a:spLocks noGrp="1"/>
          </p:cNvSpPr>
          <p:nvPr/>
        </p:nvSpPr>
        <p:spPr>
          <a:xfrm>
            <a:off x="7210425" y="4688205"/>
            <a:ext cx="28479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近期优先级</a:t>
            </a:r>
            <a:endParaRPr sz="70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"/>
          <p:cNvSpPr>
            <a:spLocks noGrp="1"/>
          </p:cNvSpPr>
          <p:nvPr/>
        </p:nvSpPr>
        <p:spPr>
          <a:xfrm>
            <a:off x="7219950" y="4953000"/>
            <a:ext cx="28289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" b="0" i="0">
                <a:solidFill>
                  <a:srgbClr val="2D2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输入合同与 profiling 门禁 → P1 FP16/BF16 GEMM/attention/collective 目标真测 → G3 route-OOD fallback → P2 一个训练并行 case + 一个 serving trace → 再评估是否扩到 MoE/多机大规模。</a:t>
            </a:r>
            <a:endParaRPr sz="705" b="0" i="0">
              <a:solidFill>
                <a:srgbClr val="2D2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rule"/>
          <p:cNvSpPr>
            <a:spLocks noGrp="1"/>
          </p:cNvSpPr>
          <p:nvPr/>
        </p:nvSpPr>
        <p:spPr>
          <a:xfrm>
            <a:off x="152400" y="6181725"/>
            <a:ext cx="9953625" cy="9525"/>
          </a:xfrm>
          <a:prstGeom prst="rect">
            <a:avLst/>
          </a:prstGeom>
          <a:solidFill>
            <a:srgbClr val="A36C74"/>
          </a:solidFill>
          <a:ln w="0">
            <a:noFill/>
            <a:prstDash val="solid"/>
          </a:ln>
        </p:spPr>
      </p:sp>
      <p:sp>
        <p:nvSpPr>
          <p:cNvPr id="454" name="text"/>
          <p:cNvSpPr>
            <a:spLocks noGrp="1"/>
          </p:cNvSpPr>
          <p:nvPr/>
        </p:nvSpPr>
        <p:spPr>
          <a:xfrm>
            <a:off x="228600" y="6219825"/>
            <a:ext cx="98012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203"/>
          </a:bodyPr>
          <a:lstStyle/>
          <a:p>
            <a:pPr algn="ctr">
              <a:def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A36C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下一阶段不追求“再多跑几个模型”，而是用少量真实模型把每一层假设、拒绝条件和决策门槛闭合。</a:t>
            </a:r>
            <a:endParaRPr sz="690" b="1" i="0">
              <a:solidFill>
                <a:srgbClr val="A36C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37305</Words>
  <Application>WPS 演示</Application>
  <PresentationFormat>Converted Presentation</PresentationFormat>
  <Paragraphs>1989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2026-08-13T02:51:21Z</dcterms:created>
  <dcterms:modified xsi:type="dcterms:W3CDTF">2026-08-13T02:51:21Z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E263495A49A04A0CB01ECA493D3D87DF_13</vt:lpwstr>
  </property>
  <property fmtid="{D5CDD505-2E9C-101B-9397-08002B2CF9AE}" pid="3" name="KSOProductBuildVer">
    <vt:lpwstr>2052-12.1.0.24034</vt:lpwstr>
  </property>
</Properties>
</file>